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308" r:id="rId4"/>
    <p:sldId id="347" r:id="rId5"/>
    <p:sldId id="316" r:id="rId6"/>
    <p:sldId id="318" r:id="rId7"/>
    <p:sldId id="345" r:id="rId8"/>
    <p:sldId id="349" r:id="rId9"/>
    <p:sldId id="351" r:id="rId10"/>
    <p:sldId id="350" r:id="rId11"/>
    <p:sldId id="352" r:id="rId12"/>
    <p:sldId id="353" r:id="rId13"/>
    <p:sldId id="354" r:id="rId14"/>
  </p:sldIdLst>
  <p:sldSz cx="9144000" cy="5143500" type="screen16x9"/>
  <p:notesSz cx="6858000" cy="9144000"/>
  <p:embeddedFontLst>
    <p:embeddedFont>
      <p:font typeface="Old Standard TT" panose="020B0604020202020204" charset="0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011F7D1-4174-65E0-AE0C-62E2DEF6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60F6476B-1613-28C1-1F50-2BF47FA73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EE29D1AE-F6FC-3E99-D68B-742C32FE5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79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A35F89D-D70E-0202-9B51-A548CE94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F340E65D-F60D-46F7-D792-1D613B2C4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4BA137FF-5F5E-9E3F-7064-25AE8B44F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910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89B85F8-49D9-906F-87D6-2617E539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5BA1F0D9-0CF3-BC3F-1136-0C4CED374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573C5764-98FF-EAB7-E44E-E2C97A46A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147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FF111C4-3D2D-0A49-C53E-278B1D3E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864FDDCD-41D2-5439-8D75-688EDB1AE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9D6B2CE6-1523-7515-4D39-ACE643395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45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EB7EED13-CA4F-CC0C-AF13-E882C41F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A2B437A1-5253-B219-309C-EB245C51C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9D18FAA5-29B2-6FF5-D001-EB62EA107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92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0DE5CF7-4AE6-DBC0-4A9E-5E207880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88F9A29B-F56C-3451-D6E4-59901F3F8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22D42F81-9FCE-482D-FDCA-F42F06056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52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2582D10-5C02-41DD-793F-813D2024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E89EB5F0-47B9-BE2C-4ADD-DCAE18747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CE4FFE9D-1A21-FD51-774D-4848A980D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257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364B820-7AB9-FEE4-5D82-CE04BA0C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57ADD164-D2B6-3360-49BB-43FA5B728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A038F34E-255F-C02D-8458-704F6AD46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779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AF65F5F-A3CD-5C98-CF56-7D509F4C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F6D425AE-5977-DF7B-A059-9654964A4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29A3A73D-108B-480C-6BDA-DAD185074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545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FE35FF5-970A-C3A1-BD51-9B882886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0258345E-327E-70F9-5DEB-B9C45754B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03C82DD8-C9F6-92D9-785A-E5DC5FDB8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13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814B7289-35CE-BE1D-BDD1-3BBB4356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1DDF405D-A03B-EE58-383D-3BF7264B7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62B14F1E-514B-4BC9-3C5D-48CC07D68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57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918607"/>
            <a:ext cx="8118600" cy="1469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Prometheus and Grafana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26225" y="408214"/>
            <a:ext cx="3837000" cy="38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IN" sz="1400" dirty="0"/>
              <a:t>Prometheus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IN" sz="1400" dirty="0"/>
              <a:t>Grafana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645C040E-7A56-08CB-FBFE-326C58DC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B0F15600-5341-3130-6F03-203D8156D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00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Prometheus - Open-Source Monitoring for Cloud Native Environments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A5D6F713-4FFF-34D7-5DD7-CC3F74871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559379"/>
            <a:ext cx="8293457" cy="3265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b="1" dirty="0">
                <a:latin typeface="+mj-lt"/>
              </a:rPr>
              <a:t>What is Prometheus?</a:t>
            </a:r>
          </a:p>
          <a:p>
            <a:pPr marL="139700" indent="0">
              <a:buNone/>
            </a:pPr>
            <a:r>
              <a:rPr lang="en-US" sz="1200" dirty="0">
                <a:latin typeface="+mj-lt"/>
              </a:rPr>
              <a:t>Prometheus is a tool that watches over the systems and collects important information, like CPU usage, memory usage, or number of errors, so we can know what is happening and fix problems quickly</a:t>
            </a: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pPr marL="139700" indent="0">
              <a:buNone/>
            </a:pPr>
            <a:r>
              <a:rPr lang="en-US" sz="1200" dirty="0">
                <a:latin typeface="+mj-lt"/>
              </a:rPr>
              <a:t>Prometheus collects, stores, and lets you query data about your systems in real-time.</a:t>
            </a:r>
          </a:p>
          <a:p>
            <a:pPr marL="139700" indent="0">
              <a:buNone/>
            </a:pPr>
            <a:endParaRPr lang="en-US" sz="1200" b="1" dirty="0">
              <a:latin typeface="+mj-lt"/>
            </a:endParaRPr>
          </a:p>
          <a:p>
            <a:pPr marL="139700" indent="0">
              <a:buNone/>
            </a:pPr>
            <a:r>
              <a:rPr lang="en-US" sz="1200" b="1" dirty="0">
                <a:latin typeface="+mj-lt"/>
              </a:rPr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Open-source systems monitoring and alerting toolkit originally built at SoundCloud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Joined the Cloud Native Computing Foundation (CNCF) in 2016 as the second hosted project after Kubernetes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Designed specifically for dynamic container environments</a:t>
            </a:r>
          </a:p>
          <a:p>
            <a:pPr marL="457200" lvl="3" indent="-317500">
              <a:spcBef>
                <a:spcPts val="0"/>
              </a:spcBef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Collects and stores metrics as time series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Features a powerful query language for data analysis and alerting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Highly adopted in cloud-native ecosystems, especially with Kubernetes</a:t>
            </a:r>
          </a:p>
        </p:txBody>
      </p:sp>
    </p:spTree>
    <p:extLst>
      <p:ext uri="{BB962C8B-B14F-4D97-AF65-F5344CB8AC3E}">
        <p14:creationId xmlns:p14="http://schemas.microsoft.com/office/powerpoint/2010/main" val="386997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FB097AB6-34B2-A322-E9E7-6364687B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CA780A6-395C-BA8B-E4E1-3A38422F0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High Level Workflow in Prometheus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A300798E-C208-6206-B4A3-385062DF7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3081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>
                <a:latin typeface="+mj-lt"/>
              </a:rPr>
              <a:t>[ Application or Systems ]            [ Exporter ]           [ Prometheus ]           [ Alert or Dashboard ]</a:t>
            </a: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Applications or System: The running applications (e.g., a web server, a java application etc.) or servers / kubernetes nodes on which the application runs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Exporter: A tiny helper that gives Prometheus the app’s / system’s data in the format it understands.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Prometheus: It regularly pulls the data and stores it.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Alerting: Prometheus can send alerts if something goes wrong.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Visualization: Use Grafana or Prometheus’s built-in graphs to see the data.</a:t>
            </a:r>
          </a:p>
          <a:p>
            <a:pPr marL="139700" indent="0">
              <a:buNone/>
            </a:pPr>
            <a:endParaRPr lang="en-IN" sz="1200" dirty="0">
              <a:latin typeface="Arial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684C6F-80BD-BFA9-51C7-B06756A5E6D4}"/>
              </a:ext>
            </a:extLst>
          </p:cNvPr>
          <p:cNvCxnSpPr>
            <a:cxnSpLocks/>
          </p:cNvCxnSpPr>
          <p:nvPr/>
        </p:nvCxnSpPr>
        <p:spPr>
          <a:xfrm>
            <a:off x="2383973" y="1371600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EE6E66-8918-C5A2-175B-A7605E2DD073}"/>
              </a:ext>
            </a:extLst>
          </p:cNvPr>
          <p:cNvCxnSpPr>
            <a:cxnSpLocks/>
          </p:cNvCxnSpPr>
          <p:nvPr/>
        </p:nvCxnSpPr>
        <p:spPr>
          <a:xfrm>
            <a:off x="3630390" y="1377043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11525-4DAC-4FFA-B20F-2FE871108CBC}"/>
              </a:ext>
            </a:extLst>
          </p:cNvPr>
          <p:cNvCxnSpPr>
            <a:cxnSpLocks/>
          </p:cNvCxnSpPr>
          <p:nvPr/>
        </p:nvCxnSpPr>
        <p:spPr>
          <a:xfrm>
            <a:off x="5056414" y="1390650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81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21A66F28-A0DA-7CFF-52B4-58DCD9EE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24ACA4AA-8F90-D053-12BB-D2A835F7EA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Installation Steps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8FE9FD67-0450-51E9-6D74-942895C28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722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600" dirty="0">
                <a:latin typeface="Arial"/>
                <a:cs typeface="Arial"/>
              </a:rPr>
              <a:t>Navigate to </a:t>
            </a:r>
            <a:r>
              <a:rPr lang="en-US" sz="1600" dirty="0" err="1">
                <a:latin typeface="Arial"/>
                <a:cs typeface="Arial"/>
              </a:rPr>
              <a:t>promethues</a:t>
            </a:r>
            <a:r>
              <a:rPr lang="en-US" sz="1600" dirty="0">
                <a:latin typeface="Arial"/>
                <a:cs typeface="Arial"/>
              </a:rPr>
              <a:t>\Installation-Guide.txt in the shared git repo</a:t>
            </a:r>
            <a:endParaRPr lang="en-IN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9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0EC22DD9-EC08-9183-FB88-5E11C5EA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26FBCF7F-1194-448D-8A63-EFE056DAC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8407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Kubernetes Monitoring with Prometheus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D2833FCD-1226-B639-14AD-A5B653290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36863"/>
            <a:ext cx="8520600" cy="396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Prometheus can automatically discover and monitor Kubernetes components using “</a:t>
            </a:r>
            <a:r>
              <a:rPr lang="en-US" sz="1100" b="1" dirty="0" err="1">
                <a:latin typeface="Arial"/>
                <a:cs typeface="Arial"/>
              </a:rPr>
              <a:t>kubernetes_sd_configs</a:t>
            </a:r>
            <a:r>
              <a:rPr lang="en-US" sz="1100" b="1" dirty="0">
                <a:latin typeface="Arial"/>
                <a:cs typeface="Arial"/>
              </a:rPr>
              <a:t>” configuration: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1.) API Server: </a:t>
            </a:r>
            <a:r>
              <a:rPr lang="en-US" sz="1050" dirty="0">
                <a:latin typeface="Arial"/>
                <a:cs typeface="Arial"/>
              </a:rPr>
              <a:t>Control plane metrics </a:t>
            </a:r>
          </a:p>
          <a:p>
            <a:pPr marL="139700" indent="0">
              <a:buNone/>
            </a:pPr>
            <a:r>
              <a:rPr lang="en-US" sz="1000" dirty="0" err="1">
                <a:latin typeface="Arial"/>
                <a:cs typeface="Arial"/>
              </a:rPr>
              <a:t>e.g</a:t>
            </a:r>
            <a:r>
              <a:rPr lang="en-US" sz="1000" dirty="0">
                <a:latin typeface="Arial"/>
                <a:cs typeface="Arial"/>
              </a:rPr>
              <a:t>: API server request: </a:t>
            </a:r>
            <a:r>
              <a:rPr lang="en-US" sz="1000" dirty="0" err="1">
                <a:latin typeface="Arial"/>
                <a:cs typeface="Arial"/>
              </a:rPr>
              <a:t>ratesum</a:t>
            </a:r>
            <a:r>
              <a:rPr lang="en-US" sz="1000" dirty="0">
                <a:latin typeface="Arial"/>
                <a:cs typeface="Arial"/>
              </a:rPr>
              <a:t>(rate(</a:t>
            </a:r>
            <a:r>
              <a:rPr lang="en-US" sz="1000" dirty="0" err="1">
                <a:latin typeface="Arial"/>
                <a:cs typeface="Arial"/>
              </a:rPr>
              <a:t>apiserver_request_total</a:t>
            </a:r>
            <a:r>
              <a:rPr lang="en-US" sz="1000" dirty="0">
                <a:latin typeface="Arial"/>
                <a:cs typeface="Arial"/>
              </a:rPr>
              <a:t>[5m])) by (code, resource)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2.) Nodes: </a:t>
            </a:r>
            <a:r>
              <a:rPr lang="en-US" sz="1050" dirty="0">
                <a:latin typeface="Arial"/>
                <a:cs typeface="Arial"/>
              </a:rPr>
              <a:t>Hardware and OS metrics via node-exporter</a:t>
            </a:r>
          </a:p>
          <a:p>
            <a:pPr marL="139700" indent="0">
              <a:buNone/>
            </a:pPr>
            <a:r>
              <a:rPr lang="en-US" sz="1050" dirty="0">
                <a:latin typeface="Arial"/>
                <a:cs typeface="Arial"/>
              </a:rPr>
              <a:t>e.g.: CPU usage by node: 100 - (avg by (instance) (rate(</a:t>
            </a:r>
            <a:r>
              <a:rPr lang="en-US" sz="1050" dirty="0" err="1">
                <a:latin typeface="Arial"/>
                <a:cs typeface="Arial"/>
              </a:rPr>
              <a:t>node_cpu_seconds_total</a:t>
            </a:r>
            <a:r>
              <a:rPr lang="en-US" sz="1050" dirty="0">
                <a:latin typeface="Arial"/>
                <a:cs typeface="Arial"/>
              </a:rPr>
              <a:t>{mode="idle"}[5m])) * 100)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3.) Pods: </a:t>
            </a:r>
            <a:r>
              <a:rPr lang="en-US" sz="1050" dirty="0">
                <a:latin typeface="Arial"/>
                <a:cs typeface="Arial"/>
              </a:rPr>
              <a:t>Application metrics via annotations (reference to use client library: https://prometheus.github.io/client_python/)</a:t>
            </a:r>
          </a:p>
          <a:p>
            <a:r>
              <a:rPr lang="en-US" sz="1050" dirty="0">
                <a:latin typeface="Arial"/>
                <a:cs typeface="Arial"/>
              </a:rPr>
              <a:t>prometheus.io/scrape: "true"</a:t>
            </a:r>
          </a:p>
          <a:p>
            <a:r>
              <a:rPr lang="en-US" sz="1050" dirty="0">
                <a:latin typeface="Arial"/>
                <a:cs typeface="Arial"/>
              </a:rPr>
              <a:t>prometheus.io/path: "/metrics"</a:t>
            </a:r>
          </a:p>
          <a:p>
            <a:r>
              <a:rPr lang="en-US" sz="1050" dirty="0">
                <a:latin typeface="Arial"/>
                <a:cs typeface="Arial"/>
              </a:rPr>
              <a:t>prometheus.io/port: "8080"</a:t>
            </a:r>
          </a:p>
          <a:p>
            <a:pPr marL="139700" indent="0">
              <a:buNone/>
            </a:pPr>
            <a:r>
              <a:rPr lang="en-US" sz="1050" dirty="0" err="1">
                <a:latin typeface="Arial"/>
                <a:cs typeface="Arial"/>
              </a:rPr>
              <a:t>e.g</a:t>
            </a:r>
            <a:r>
              <a:rPr lang="en-US" sz="1050" dirty="0">
                <a:latin typeface="Arial"/>
                <a:cs typeface="Arial"/>
              </a:rPr>
              <a:t>: HTTP request rate for annotated pods: sum(rate(</a:t>
            </a:r>
            <a:r>
              <a:rPr lang="en-US" sz="1050" dirty="0" err="1">
                <a:latin typeface="Arial"/>
                <a:cs typeface="Arial"/>
              </a:rPr>
              <a:t>http_requests_total</a:t>
            </a:r>
            <a:r>
              <a:rPr lang="en-US" sz="1050" dirty="0">
                <a:latin typeface="Arial"/>
                <a:cs typeface="Arial"/>
              </a:rPr>
              <a:t>{</a:t>
            </a:r>
            <a:r>
              <a:rPr lang="en-US" sz="1050" dirty="0" err="1">
                <a:latin typeface="Arial"/>
                <a:cs typeface="Arial"/>
              </a:rPr>
              <a:t>kubernetes_pod_name</a:t>
            </a:r>
            <a:r>
              <a:rPr lang="en-US" sz="1050" dirty="0">
                <a:latin typeface="Arial"/>
                <a:cs typeface="Arial"/>
              </a:rPr>
              <a:t>=~"my-app-.+"}[5m])) by (pod, path)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4.) </a:t>
            </a:r>
            <a:r>
              <a:rPr lang="en-US" sz="1050" b="1" dirty="0" err="1">
                <a:latin typeface="Arial"/>
                <a:cs typeface="Arial"/>
              </a:rPr>
              <a:t>cAdvisor</a:t>
            </a:r>
            <a:r>
              <a:rPr lang="en-US" sz="1050" b="1" dirty="0">
                <a:latin typeface="Arial"/>
                <a:cs typeface="Arial"/>
              </a:rPr>
              <a:t>: </a:t>
            </a:r>
            <a:r>
              <a:rPr lang="en-US" sz="1050" dirty="0">
                <a:latin typeface="Arial"/>
                <a:cs typeface="Arial"/>
              </a:rPr>
              <a:t>Container metrics built into kubelet</a:t>
            </a:r>
          </a:p>
          <a:p>
            <a:pPr marL="139700" indent="0">
              <a:buNone/>
            </a:pPr>
            <a:r>
              <a:rPr lang="en-US" sz="1050" dirty="0">
                <a:latin typeface="Arial"/>
                <a:cs typeface="Arial"/>
              </a:rPr>
              <a:t>e.g.: Container CPU usage: sum(rate(</a:t>
            </a:r>
            <a:r>
              <a:rPr lang="en-US" sz="1050" dirty="0" err="1">
                <a:latin typeface="Arial"/>
                <a:cs typeface="Arial"/>
              </a:rPr>
              <a:t>container_cpu_usage_seconds_total</a:t>
            </a:r>
            <a:r>
              <a:rPr lang="en-US" sz="1050" dirty="0">
                <a:latin typeface="Arial"/>
                <a:cs typeface="Arial"/>
              </a:rPr>
              <a:t>{container!="POD", container!=""}[5m])) by (pod, container)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5.) Object state: </a:t>
            </a:r>
            <a:r>
              <a:rPr lang="en-US" sz="1050" dirty="0">
                <a:latin typeface="Arial"/>
                <a:cs typeface="Arial"/>
              </a:rPr>
              <a:t>Metrices using </a:t>
            </a:r>
            <a:r>
              <a:rPr lang="en-US" sz="1050" dirty="0" err="1">
                <a:latin typeface="Arial"/>
                <a:cs typeface="Arial"/>
              </a:rPr>
              <a:t>kube</a:t>
            </a:r>
            <a:r>
              <a:rPr lang="en-US" sz="1050" dirty="0">
                <a:latin typeface="Arial"/>
                <a:cs typeface="Arial"/>
              </a:rPr>
              <a:t>-state-metrics exporter</a:t>
            </a:r>
          </a:p>
          <a:p>
            <a:pPr marL="139700" indent="0">
              <a:buNone/>
            </a:pPr>
            <a:r>
              <a:rPr lang="en-US" sz="1050" dirty="0" err="1">
                <a:latin typeface="Arial"/>
                <a:cs typeface="Arial"/>
              </a:rPr>
              <a:t>e.g</a:t>
            </a:r>
            <a:r>
              <a:rPr lang="en-US" sz="1050" dirty="0">
                <a:latin typeface="Arial"/>
                <a:cs typeface="Arial"/>
              </a:rPr>
              <a:t>: Count of pods by status phase: sum(</a:t>
            </a:r>
            <a:r>
              <a:rPr lang="en-US" sz="1050" dirty="0" err="1">
                <a:latin typeface="Arial"/>
                <a:cs typeface="Arial"/>
              </a:rPr>
              <a:t>kube_pod_status_phase</a:t>
            </a:r>
            <a:r>
              <a:rPr lang="en-US" sz="1050" dirty="0">
                <a:latin typeface="Arial"/>
                <a:cs typeface="Arial"/>
              </a:rPr>
              <a:t>) by (phase)</a:t>
            </a:r>
            <a:endParaRPr lang="en-IN" sz="1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442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3A8FB5CE-8CD5-D320-73E3-407E7659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17E16E1F-A69A-CF60-D9E5-7C4021A6D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Sample </a:t>
            </a:r>
            <a:r>
              <a:rPr lang="en-IN" dirty="0" err="1"/>
              <a:t>PromQL</a:t>
            </a:r>
            <a:r>
              <a:rPr lang="en-IN" dirty="0"/>
              <a:t> Queries for Kubernetes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8A15BFA0-58EA-B997-96F5-EB047DE1E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3653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Node CPU Usage Percentage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100 - (avg by(instance) (rate(</a:t>
            </a:r>
            <a:r>
              <a:rPr lang="en-US" sz="1100" dirty="0" err="1">
                <a:latin typeface="Arial"/>
                <a:cs typeface="Arial"/>
              </a:rPr>
              <a:t>node_cpu_seconds_total</a:t>
            </a:r>
            <a:r>
              <a:rPr lang="en-US" sz="1100" dirty="0">
                <a:latin typeface="Arial"/>
                <a:cs typeface="Arial"/>
              </a:rPr>
              <a:t>{mode="idle"}[5m])) * 100)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Pod CPU Usage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(pod)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Top 5 Pods by CPU Usage</a:t>
            </a:r>
          </a:p>
          <a:p>
            <a:pPr marL="139700" indent="0">
              <a:buNone/>
            </a:pPr>
            <a:r>
              <a:rPr lang="en-US" sz="1100" dirty="0" err="1">
                <a:latin typeface="Arial"/>
                <a:cs typeface="Arial"/>
              </a:rPr>
              <a:t>topk</a:t>
            </a:r>
            <a:r>
              <a:rPr lang="en-US" sz="1100" dirty="0">
                <a:latin typeface="Arial"/>
                <a:cs typeface="Arial"/>
              </a:rPr>
              <a:t>(5, 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(pod))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CPU Usage by Namespace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(namespace)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CPU Throttling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container_cpu_cfs_throttled_seconds_total</a:t>
            </a:r>
            <a:r>
              <a:rPr lang="en-US" sz="1100" dirty="0">
                <a:latin typeface="Arial"/>
                <a:cs typeface="Arial"/>
              </a:rPr>
              <a:t>[5m])) by (pod)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Node Memory Usage Percentage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(1 - (</a:t>
            </a:r>
            <a:r>
              <a:rPr lang="en-US" sz="1100" dirty="0" err="1">
                <a:latin typeface="Arial"/>
                <a:cs typeface="Arial"/>
              </a:rPr>
              <a:t>node_memory_MemAvailable_bytes</a:t>
            </a:r>
            <a:r>
              <a:rPr lang="en-US" sz="1100" dirty="0">
                <a:latin typeface="Arial"/>
                <a:cs typeface="Arial"/>
              </a:rPr>
              <a:t> / </a:t>
            </a:r>
            <a:r>
              <a:rPr lang="en-US" sz="1100" dirty="0" err="1">
                <a:latin typeface="Arial"/>
                <a:cs typeface="Arial"/>
              </a:rPr>
              <a:t>node_memory_MemTotal_bytes</a:t>
            </a:r>
            <a:r>
              <a:rPr lang="en-US" sz="1100" dirty="0">
                <a:latin typeface="Arial"/>
                <a:cs typeface="Arial"/>
              </a:rPr>
              <a:t>)) * 100</a:t>
            </a:r>
          </a:p>
        </p:txBody>
      </p:sp>
    </p:spTree>
    <p:extLst>
      <p:ext uri="{BB962C8B-B14F-4D97-AF65-F5344CB8AC3E}">
        <p14:creationId xmlns:p14="http://schemas.microsoft.com/office/powerpoint/2010/main" val="3380888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0A59BF4E-F348-54E6-FD61-05CEA82C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D929A3C4-F63F-5E6C-305A-DC89ECAD6C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Grafana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3AB88141-51D8-203C-EFD7-B3B6F2C2D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39018"/>
            <a:ext cx="8293457" cy="377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Grafana </a:t>
            </a:r>
            <a:r>
              <a:rPr lang="en-US" sz="1100" dirty="0">
                <a:latin typeface="Arial"/>
                <a:cs typeface="Arial"/>
              </a:rPr>
              <a:t>is an open-source observability platform used for visualizing metrics, logs, and traces. They also have an enterprise version.</a:t>
            </a:r>
          </a:p>
          <a:p>
            <a:pPr marL="139700" indent="0">
              <a:buNone/>
            </a:pPr>
            <a:endParaRPr lang="en-US" sz="11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It enables users to: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Query, visualize, and understand metrics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Create custom dashboards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Analyze data from multiple sources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With a lot of features like: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Multi-platform support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Pluggable data source architecture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Rich visualization options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User authentication and authorization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Template variables for dynamic dashboards</a:t>
            </a:r>
          </a:p>
          <a:p>
            <a:pPr marL="139700" indent="0">
              <a:buNone/>
            </a:pPr>
            <a:endParaRPr lang="en-US" sz="12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It can be integrated with Prometheus, AWS CloudWatch, Azure Monitor and many other data sources.</a:t>
            </a:r>
          </a:p>
          <a:p>
            <a:pPr marL="139700" indent="0">
              <a:buNone/>
            </a:pPr>
            <a:endParaRPr lang="en-US" sz="11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Installation Guide</a:t>
            </a:r>
            <a:r>
              <a:rPr lang="en-US" sz="1100" dirty="0">
                <a:latin typeface="Arial"/>
                <a:cs typeface="Arial"/>
              </a:rPr>
              <a:t>: Grafana\Installation-Guide.txt</a:t>
            </a:r>
          </a:p>
        </p:txBody>
      </p:sp>
    </p:spTree>
    <p:extLst>
      <p:ext uri="{BB962C8B-B14F-4D97-AF65-F5344CB8AC3E}">
        <p14:creationId xmlns:p14="http://schemas.microsoft.com/office/powerpoint/2010/main" val="386687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C06F0467-2E82-653A-4DB2-48D32BAF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6742F82-FBBD-98AE-835F-61C873115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Integrate Grafana with Prometheus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D8919B37-0380-B911-77B8-EA9C8BE6F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39018"/>
            <a:ext cx="4635856" cy="377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Add Data Source: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Now since Grafana is up and running, next step is to integrate it with a data source.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To add a new Data Sources, Go to: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connections -&gt; Data Sources -&gt; Add data source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So, lets integrate Prometheus with Grafana: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URL: http://prometheus:9090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Access: Server (default)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Scrape interval: 15s</a:t>
            </a:r>
          </a:p>
        </p:txBody>
      </p:sp>
    </p:spTree>
    <p:extLst>
      <p:ext uri="{BB962C8B-B14F-4D97-AF65-F5344CB8AC3E}">
        <p14:creationId xmlns:p14="http://schemas.microsoft.com/office/powerpoint/2010/main" val="3189375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76556EE6-8FB9-BA4F-9036-2F29C8A9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3986AF9A-5724-F4E2-7ABC-95F7F3271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Import the Grafana Dashboard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BA1F7AA2-47E7-5B97-30C6-51E3CAAFB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0418"/>
            <a:ext cx="8293457" cy="40697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A lot of dashboards are already pre-existing and shared by the contributors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Steps to Import: Search for an available dashboards for the Open Source Grafana version: https://grafana.com/grafana/dashboards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Select any dashboard from here.</a:t>
            </a: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e.g.: 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Add a node exporter dashboard - https://grafana.com/grafana/dashboards/1860-node-exporter-full/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Open &amp; Click on Copy ID to Clipboard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Goto -&gt; Dashboards -&gt; New -&gt; Import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Go to the section where following is mentioned: Find and import dashboards for common applications at grafana.com/dashboards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Add the Dashboard ID in it &amp; Click on Load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Select the Prometheus Data Source and provide a name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Click on Import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Add a Kubernetes Dashboard - https://grafana.com/grafana/dashboards/8588-1-kubernetes-deployment-statefulset-daemonset-metrics/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Open it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Click on Copy ID to Clipboard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and then perform the same steps as mentioned above</a:t>
            </a:r>
          </a:p>
          <a:p>
            <a:pPr marL="596900" lvl="1" indent="0">
              <a:spcBef>
                <a:spcPts val="0"/>
              </a:spcBef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Other Good Dashboards: </a:t>
            </a:r>
            <a:r>
              <a:rPr lang="pt-BR" sz="1000" dirty="0">
                <a:latin typeface="Arial"/>
                <a:cs typeface="Arial"/>
              </a:rPr>
              <a:t>Kubernetes Cluster Monitoring (via Prometheus) – </a:t>
            </a:r>
            <a:r>
              <a:rPr lang="en-IN" sz="1000" dirty="0">
                <a:latin typeface="Arial"/>
                <a:cs typeface="Arial"/>
              </a:rPr>
              <a:t>14205</a:t>
            </a:r>
          </a:p>
          <a:p>
            <a:r>
              <a:rPr lang="en-US" sz="1000" dirty="0">
                <a:latin typeface="Arial"/>
                <a:cs typeface="Arial"/>
              </a:rPr>
              <a:t>https://grafana.com/grafana/dashboards/13332-kube-state-metrics-v2/</a:t>
            </a:r>
          </a:p>
        </p:txBody>
      </p:sp>
    </p:spTree>
    <p:extLst>
      <p:ext uri="{BB962C8B-B14F-4D97-AF65-F5344CB8AC3E}">
        <p14:creationId xmlns:p14="http://schemas.microsoft.com/office/powerpoint/2010/main" val="296656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5649F63B-4D00-96E1-FE69-C2572699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0F9FC41-7CDA-A35C-895D-22CFC41FD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Create New Dashboards from scratch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CBB77AEB-2CA5-88C1-D431-DE8CC80E0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41800"/>
            <a:ext cx="8293457" cy="4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Steps to create a dashboard in Grafana: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Go to Dashboards -&gt; New dashboard &amp; Save it by giving a name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Add visualization &amp; Select Prometheus Data Source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Enter </a:t>
            </a:r>
            <a:r>
              <a:rPr lang="en-US" sz="900" dirty="0" err="1">
                <a:latin typeface="Arial"/>
                <a:cs typeface="Arial"/>
              </a:rPr>
              <a:t>Promql</a:t>
            </a:r>
            <a:r>
              <a:rPr lang="en-US" sz="900" dirty="0">
                <a:latin typeface="Arial"/>
                <a:cs typeface="Arial"/>
              </a:rPr>
              <a:t> queries w.r.t your requirement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like: 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Node CPU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sum(rate(</a:t>
            </a:r>
            <a:r>
              <a:rPr lang="en-US" sz="900" dirty="0" err="1">
                <a:latin typeface="Arial"/>
                <a:cs typeface="Arial"/>
              </a:rPr>
              <a:t>node_cpu_seconds_total</a:t>
            </a:r>
            <a:r>
              <a:rPr lang="en-US" sz="900" dirty="0">
                <a:latin typeface="Arial"/>
                <a:cs typeface="Arial"/>
              </a:rPr>
              <a:t>{mode!="idle"}[5m])) by (instance) * 100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Node Memory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(</a:t>
            </a:r>
            <a:r>
              <a:rPr lang="en-US" sz="900" dirty="0" err="1">
                <a:latin typeface="Arial"/>
                <a:cs typeface="Arial"/>
              </a:rPr>
              <a:t>node_memory_MemTotal_bytes</a:t>
            </a:r>
            <a:r>
              <a:rPr lang="en-US" sz="900" dirty="0">
                <a:latin typeface="Arial"/>
                <a:cs typeface="Arial"/>
              </a:rPr>
              <a:t> - </a:t>
            </a:r>
            <a:r>
              <a:rPr lang="en-US" sz="900" dirty="0" err="1">
                <a:latin typeface="Arial"/>
                <a:cs typeface="Arial"/>
              </a:rPr>
              <a:t>node_memory_MemAvailable_bytes</a:t>
            </a:r>
            <a:r>
              <a:rPr lang="en-US" sz="900" dirty="0">
                <a:latin typeface="Arial"/>
                <a:cs typeface="Arial"/>
              </a:rPr>
              <a:t>) / </a:t>
            </a:r>
            <a:r>
              <a:rPr lang="en-US" sz="900" dirty="0" err="1">
                <a:latin typeface="Arial"/>
                <a:cs typeface="Arial"/>
              </a:rPr>
              <a:t>node_memory_MemTotal_bytes</a:t>
            </a:r>
            <a:r>
              <a:rPr lang="en-US" sz="900" dirty="0">
                <a:latin typeface="Arial"/>
                <a:cs typeface="Arial"/>
              </a:rPr>
              <a:t> * 100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Pod CPU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sum(rate(</a:t>
            </a:r>
            <a:r>
              <a:rPr lang="en-US" sz="900" dirty="0" err="1">
                <a:latin typeface="Arial"/>
                <a:cs typeface="Arial"/>
              </a:rPr>
              <a:t>container_cpu_usage_seconds_total</a:t>
            </a:r>
            <a:r>
              <a:rPr lang="en-US" sz="900" dirty="0">
                <a:latin typeface="Arial"/>
                <a:cs typeface="Arial"/>
              </a:rPr>
              <a:t>{container!=""}[5m])) by (pod)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Pod Memory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</a:t>
            </a:r>
            <a:r>
              <a:rPr lang="en-US" sz="900" dirty="0" err="1">
                <a:latin typeface="Arial"/>
                <a:cs typeface="Arial"/>
              </a:rPr>
              <a:t>container_memory_working_set_bytes</a:t>
            </a:r>
            <a:r>
              <a:rPr lang="en-US" sz="900" dirty="0">
                <a:latin typeface="Arial"/>
                <a:cs typeface="Arial"/>
              </a:rPr>
              <a:t>{container!=""}) by (pod)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When creating panels in Grafana: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Click "Add panel"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Select "Add a new panel"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Choose Prometheus as the data source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Copy-paste the relevant </a:t>
            </a:r>
            <a:r>
              <a:rPr lang="en-US" sz="900" dirty="0" err="1">
                <a:latin typeface="Arial"/>
                <a:cs typeface="Arial"/>
              </a:rPr>
              <a:t>PromQL</a:t>
            </a:r>
            <a:r>
              <a:rPr lang="en-US" sz="900" dirty="0">
                <a:latin typeface="Arial"/>
                <a:cs typeface="Arial"/>
              </a:rPr>
              <a:t> query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Adjust visualization settings as needed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Save the panel</a:t>
            </a:r>
          </a:p>
        </p:txBody>
      </p:sp>
    </p:spTree>
    <p:extLst>
      <p:ext uri="{BB962C8B-B14F-4D97-AF65-F5344CB8AC3E}">
        <p14:creationId xmlns:p14="http://schemas.microsoft.com/office/powerpoint/2010/main" val="3379866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F5999C5-0D07-C5B9-2091-DE631623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3173C5D4-C8E6-39A3-B912-0924A627D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Configure alerts in Grafana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D8B89246-C896-F309-19C7-BBB2E08C8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41800"/>
            <a:ext cx="8293457" cy="4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Installation Guide: Grafana\Installation-Guide.txt – Step 4</a:t>
            </a:r>
          </a:p>
          <a:p>
            <a:pPr marL="139700" indent="0">
              <a:buNone/>
            </a:pPr>
            <a:endParaRPr lang="en-IN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IN" sz="1000" dirty="0">
                <a:latin typeface="Arial"/>
                <a:cs typeface="Arial"/>
              </a:rPr>
              <a:t>## Setting Up Email Alerts </a:t>
            </a:r>
            <a:br>
              <a:rPr lang="en-IN" sz="1000" dirty="0">
                <a:latin typeface="Arial"/>
                <a:cs typeface="Arial"/>
              </a:rPr>
            </a:br>
            <a:endParaRPr lang="en-IN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IN" sz="1000" dirty="0">
                <a:latin typeface="Arial"/>
                <a:cs typeface="Arial"/>
              </a:rPr>
              <a:t>### Create Email Contact Point</a:t>
            </a:r>
          </a:p>
          <a:p>
            <a:pPr marL="139700" indent="0">
              <a:buNone/>
            </a:pPr>
            <a:endParaRPr lang="en-IN" sz="1000" dirty="0">
              <a:latin typeface="Arial"/>
              <a:cs typeface="Arial"/>
            </a:endParaRPr>
          </a:p>
          <a:p>
            <a:r>
              <a:rPr lang="en-IN" sz="1000" dirty="0">
                <a:latin typeface="Arial"/>
                <a:cs typeface="Arial"/>
              </a:rPr>
              <a:t>Login to Grafana </a:t>
            </a:r>
          </a:p>
          <a:p>
            <a:r>
              <a:rPr lang="en-IN" sz="1000" dirty="0">
                <a:latin typeface="Arial"/>
                <a:cs typeface="Arial"/>
              </a:rPr>
              <a:t>Go to “Alerting*” -&gt; “Contact points” (left sidebar)</a:t>
            </a:r>
          </a:p>
          <a:p>
            <a:r>
              <a:rPr lang="en-IN" sz="1000" dirty="0">
                <a:latin typeface="Arial"/>
                <a:cs typeface="Arial"/>
              </a:rPr>
              <a:t>Click + New contact point</a:t>
            </a:r>
          </a:p>
          <a:p>
            <a:r>
              <a:rPr lang="en-IN" sz="1000" dirty="0">
                <a:latin typeface="Arial"/>
                <a:cs typeface="Arial"/>
              </a:rPr>
              <a:t>Configure: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N" sz="1000" dirty="0">
                <a:latin typeface="Arial"/>
                <a:cs typeface="Arial"/>
              </a:rPr>
              <a:t>Name: Email Alerts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N" sz="1000" dirty="0">
                <a:latin typeface="Arial"/>
                <a:cs typeface="Arial"/>
              </a:rPr>
              <a:t>Integration: Email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N" sz="1000" dirty="0">
                <a:latin typeface="Arial"/>
                <a:cs typeface="Arial"/>
              </a:rPr>
              <a:t>Addresses: admin@example.com; oncall@example.com</a:t>
            </a:r>
          </a:p>
          <a:p>
            <a:r>
              <a:rPr lang="en-IN" sz="1000" dirty="0">
                <a:latin typeface="Arial"/>
                <a:cs typeface="Arial"/>
              </a:rPr>
              <a:t>Click “Test” to verify email works</a:t>
            </a:r>
          </a:p>
          <a:p>
            <a:r>
              <a:rPr lang="en-IN" sz="1000" dirty="0">
                <a:latin typeface="Arial"/>
                <a:cs typeface="Arial"/>
              </a:rPr>
              <a:t>Click Save contact point</a:t>
            </a:r>
          </a:p>
          <a:p>
            <a:pPr marL="139700" indent="0">
              <a:buNone/>
            </a:pPr>
            <a:endParaRPr lang="en-IN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### Configure Notification Policy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Go to "Alerting" -&gt; "Notification policies"</a:t>
            </a:r>
          </a:p>
          <a:p>
            <a:r>
              <a:rPr lang="en-US" sz="1000" dirty="0">
                <a:latin typeface="Arial"/>
                <a:cs typeface="Arial"/>
              </a:rPr>
              <a:t>Edit "Default policy"</a:t>
            </a:r>
          </a:p>
          <a:p>
            <a:r>
              <a:rPr lang="en-US" sz="1000" dirty="0">
                <a:latin typeface="Arial"/>
                <a:cs typeface="Arial"/>
              </a:rPr>
              <a:t>Set "Default contact point" to "Email Alerts"</a:t>
            </a:r>
          </a:p>
          <a:p>
            <a:r>
              <a:rPr lang="en-US" sz="1000" dirty="0">
                <a:latin typeface="Arial"/>
                <a:cs typeface="Arial"/>
              </a:rPr>
              <a:t>Click "Update default policy"</a:t>
            </a:r>
            <a:endParaRPr lang="en-IN"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472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21168D02-D925-BF2C-9B5A-115C65F2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7AEC2CAD-F5CF-7325-AFC9-983B4DB8E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Cont..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78F847E7-60AA-871D-5777-04AF623E8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41800"/>
            <a:ext cx="8293457" cy="4130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### Create CPU Alert Rule for Kubernetes Pods</a:t>
            </a:r>
          </a:p>
          <a:p>
            <a:r>
              <a:rPr lang="en-US" sz="900" dirty="0">
                <a:latin typeface="Arial"/>
                <a:cs typeface="Arial"/>
              </a:rPr>
              <a:t>Go to "Alerting" -&gt; "Alert rules"</a:t>
            </a:r>
          </a:p>
          <a:p>
            <a:r>
              <a:rPr lang="en-US" sz="900" dirty="0">
                <a:latin typeface="Arial"/>
                <a:cs typeface="Arial"/>
              </a:rPr>
              <a:t>Click + New alert rule</a:t>
            </a:r>
          </a:p>
          <a:p>
            <a:r>
              <a:rPr lang="en-US" sz="900" dirty="0">
                <a:latin typeface="Arial"/>
                <a:cs typeface="Arial"/>
              </a:rPr>
              <a:t>Configure:</a:t>
            </a:r>
          </a:p>
          <a:p>
            <a:r>
              <a:rPr lang="en-US" sz="900" dirty="0">
                <a:latin typeface="Arial"/>
                <a:cs typeface="Arial"/>
              </a:rPr>
              <a:t>Section 1: Rule name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Rule name: Kubernetes Pod High CPU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Folder: Kubernetes Alerts (create new)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Group: Resource Monitoring (1m interval)</a:t>
            </a:r>
          </a:p>
          <a:p>
            <a:r>
              <a:rPr lang="en-US" sz="900" dirty="0">
                <a:latin typeface="Arial"/>
                <a:cs typeface="Arial"/>
              </a:rPr>
              <a:t>Section 2: Query and Condition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Query A (Prometheus data source):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sum(rate(</a:t>
            </a:r>
            <a:r>
              <a:rPr lang="en-US" sz="900" dirty="0" err="1">
                <a:latin typeface="Arial"/>
                <a:cs typeface="Arial"/>
              </a:rPr>
              <a:t>container_cpu_usage_seconds_total</a:t>
            </a:r>
            <a:r>
              <a:rPr lang="en-US" sz="900" dirty="0">
                <a:latin typeface="Arial"/>
                <a:cs typeface="Arial"/>
              </a:rPr>
              <a:t>{container!="POD", namespace!=""}[5m])) by (pod, namespace) * 100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Expression B (Threshold):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Type: Threshold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Input: A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IS ABOVE: 80</a:t>
            </a:r>
          </a:p>
          <a:p>
            <a:r>
              <a:rPr lang="en-US" sz="900" dirty="0">
                <a:latin typeface="Arial"/>
                <a:cs typeface="Arial"/>
              </a:rPr>
              <a:t>Section 3: Evaluation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Pending period: 5m (Alert will fire only if CPU stays above 80% for 5 minutes)</a:t>
            </a:r>
          </a:p>
          <a:p>
            <a:r>
              <a:rPr lang="en-US" sz="900" dirty="0">
                <a:latin typeface="Arial"/>
                <a:cs typeface="Arial"/>
              </a:rPr>
              <a:t>Section 4: Labels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severity: warning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 err="1">
                <a:latin typeface="Arial"/>
                <a:cs typeface="Arial"/>
              </a:rPr>
              <a:t>alertname</a:t>
            </a:r>
            <a:r>
              <a:rPr lang="en-US" sz="900" dirty="0">
                <a:latin typeface="Arial"/>
                <a:cs typeface="Arial"/>
              </a:rPr>
              <a:t>: </a:t>
            </a:r>
            <a:r>
              <a:rPr lang="en-US" sz="900" dirty="0" err="1">
                <a:latin typeface="Arial"/>
                <a:cs typeface="Arial"/>
              </a:rPr>
              <a:t>HighPodCPU</a:t>
            </a:r>
            <a:endParaRPr lang="en-US" sz="900" dirty="0">
              <a:latin typeface="Arial"/>
              <a:cs typeface="Arial"/>
            </a:endParaRPr>
          </a:p>
          <a:p>
            <a:r>
              <a:rPr lang="en-US" sz="900" dirty="0">
                <a:latin typeface="Arial"/>
                <a:cs typeface="Arial"/>
              </a:rPr>
              <a:t>Section 5: Annotations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summary: High CPU on pod {{ $</a:t>
            </a:r>
            <a:r>
              <a:rPr lang="en-US" sz="900" dirty="0" err="1">
                <a:latin typeface="Arial"/>
                <a:cs typeface="Arial"/>
              </a:rPr>
              <a:t>labels.pod</a:t>
            </a:r>
            <a:r>
              <a:rPr lang="en-US" sz="900" dirty="0">
                <a:latin typeface="Arial"/>
                <a:cs typeface="Arial"/>
              </a:rPr>
              <a:t> }}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Arial"/>
                <a:cs typeface="Arial"/>
              </a:rPr>
              <a:t>description: Pod {{ $</a:t>
            </a:r>
            <a:r>
              <a:rPr lang="en-US" sz="900" dirty="0" err="1">
                <a:latin typeface="Arial"/>
                <a:cs typeface="Arial"/>
              </a:rPr>
              <a:t>labels.pod</a:t>
            </a:r>
            <a:r>
              <a:rPr lang="en-US" sz="900" dirty="0">
                <a:latin typeface="Arial"/>
                <a:cs typeface="Arial"/>
              </a:rPr>
              <a:t> }} in namespace {{ $</a:t>
            </a:r>
            <a:r>
              <a:rPr lang="en-US" sz="900" dirty="0" err="1">
                <a:latin typeface="Arial"/>
                <a:cs typeface="Arial"/>
              </a:rPr>
              <a:t>labels.namespace</a:t>
            </a:r>
            <a:r>
              <a:rPr lang="en-US" sz="900" dirty="0">
                <a:latin typeface="Arial"/>
                <a:cs typeface="Arial"/>
              </a:rPr>
              <a:t> }} CPU usage is </a:t>
            </a:r>
            <a:r>
              <a:rPr lang="en-US" sz="900">
                <a:latin typeface="Arial"/>
                <a:cs typeface="Arial"/>
              </a:rPr>
              <a:t>above threshold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Arial"/>
                <a:cs typeface="Arial"/>
              </a:rPr>
              <a:t>Click </a:t>
            </a:r>
            <a:r>
              <a:rPr lang="en-US" sz="900" dirty="0">
                <a:latin typeface="Arial"/>
                <a:cs typeface="Arial"/>
              </a:rPr>
              <a:t>"Save rule and exit"</a:t>
            </a:r>
            <a:endParaRPr lang="en-US"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5243992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</TotalTime>
  <Words>1556</Words>
  <Application>Microsoft Office PowerPoint</Application>
  <PresentationFormat>On-screen Show (16:9)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Courier New</vt:lpstr>
      <vt:lpstr>Old Standard TT</vt:lpstr>
      <vt:lpstr>Arial</vt:lpstr>
      <vt:lpstr>Paperback</vt:lpstr>
      <vt:lpstr>Prometheus and Grafana</vt:lpstr>
      <vt:lpstr>Agenda</vt:lpstr>
      <vt:lpstr>Prometheus - Open-Source Monitoring for Cloud Native Environments</vt:lpstr>
      <vt:lpstr>High Level Workflow in Prometheus</vt:lpstr>
      <vt:lpstr>Installation Steps</vt:lpstr>
      <vt:lpstr>Kubernetes Monitoring with Prometheus</vt:lpstr>
      <vt:lpstr>Sample PromQL Queries for Kubernetes</vt:lpstr>
      <vt:lpstr>Grafana</vt:lpstr>
      <vt:lpstr>Integrate Grafana with Prometheus</vt:lpstr>
      <vt:lpstr>Import the Grafana Dashboard</vt:lpstr>
      <vt:lpstr>Create New Dashboards from scratch</vt:lpstr>
      <vt:lpstr>Configure alerts in Grafana</vt:lpstr>
      <vt:lpstr>Cont..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81</cp:revision>
  <dcterms:modified xsi:type="dcterms:W3CDTF">2026-01-21T17:03:38Z</dcterms:modified>
</cp:coreProperties>
</file>