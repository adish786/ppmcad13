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1"/>
  </p:notesMasterIdLst>
  <p:sldIdLst>
    <p:sldId id="256" r:id="rId2"/>
    <p:sldId id="257" r:id="rId3"/>
    <p:sldId id="355" r:id="rId4"/>
    <p:sldId id="347" r:id="rId5"/>
    <p:sldId id="356" r:id="rId6"/>
    <p:sldId id="318" r:id="rId7"/>
    <p:sldId id="345" r:id="rId8"/>
    <p:sldId id="349" r:id="rId9"/>
    <p:sldId id="316" r:id="rId10"/>
  </p:sldIdLst>
  <p:sldSz cx="9144000" cy="5143500" type="screen16x9"/>
  <p:notesSz cx="6858000" cy="9144000"/>
  <p:embeddedFontLst>
    <p:embeddedFont>
      <p:font typeface="DM Sans" pitchFamily="2" charset="0"/>
      <p:regular r:id="rId12"/>
      <p:bold r:id="rId13"/>
      <p:italic r:id="rId14"/>
      <p:boldItalic r:id="rId15"/>
    </p:embeddedFont>
    <p:embeddedFont>
      <p:font typeface="Nobile" panose="020B0604020202020204" charset="0"/>
      <p:regular r:id="rId16"/>
      <p:bold r:id="rId17"/>
      <p:italic r:id="rId18"/>
      <p:boldItalic r:id="rId19"/>
    </p:embeddedFont>
    <p:embeddedFont>
      <p:font typeface="Old Standard TT" panose="020B0604020202020204" charset="0"/>
      <p:regular r:id="rId20"/>
      <p:bold r:id="rId21"/>
      <p: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52" autoAdjust="0"/>
    <p:restoredTop sz="94660"/>
  </p:normalViewPr>
  <p:slideViewPr>
    <p:cSldViewPr snapToGrid="0">
      <p:cViewPr varScale="1">
        <p:scale>
          <a:sx n="78" d="100"/>
          <a:sy n="78" d="100"/>
        </p:scale>
        <p:origin x="956" y="5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c6f90357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57" name="Google Shape;57;gc6f90357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c6f90357f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63" name="Google Shape;63;gc6f90357f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a:extLst>
            <a:ext uri="{FF2B5EF4-FFF2-40B4-BE49-F238E27FC236}">
              <a16:creationId xmlns:a16="http://schemas.microsoft.com/office/drawing/2014/main" id="{63A1BB0A-9AEC-9FCE-2966-D8E6B9A5401F}"/>
            </a:ext>
          </a:extLst>
        </p:cNvPr>
        <p:cNvGrpSpPr/>
        <p:nvPr/>
      </p:nvGrpSpPr>
      <p:grpSpPr>
        <a:xfrm>
          <a:off x="0" y="0"/>
          <a:ext cx="0" cy="0"/>
          <a:chOff x="0" y="0"/>
          <a:chExt cx="0" cy="0"/>
        </a:xfrm>
      </p:grpSpPr>
      <p:sp>
        <p:nvSpPr>
          <p:cNvPr id="331" name="Google Shape;331;g31ad97d778f_0_162:notes">
            <a:extLst>
              <a:ext uri="{FF2B5EF4-FFF2-40B4-BE49-F238E27FC236}">
                <a16:creationId xmlns:a16="http://schemas.microsoft.com/office/drawing/2014/main" id="{36CE25FF-9E7E-6245-5FA0-C1178B672BB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332" name="Google Shape;332;g31ad97d778f_0_162:notes">
            <a:extLst>
              <a:ext uri="{FF2B5EF4-FFF2-40B4-BE49-F238E27FC236}">
                <a16:creationId xmlns:a16="http://schemas.microsoft.com/office/drawing/2014/main" id="{89C616F3-C65D-FCB0-07A5-3D90FF3C109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48258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a:extLst>
            <a:ext uri="{FF2B5EF4-FFF2-40B4-BE49-F238E27FC236}">
              <a16:creationId xmlns:a16="http://schemas.microsoft.com/office/drawing/2014/main" id="{DA35F89D-D70E-0202-9B51-A548CE9423D0}"/>
            </a:ext>
          </a:extLst>
        </p:cNvPr>
        <p:cNvGrpSpPr/>
        <p:nvPr/>
      </p:nvGrpSpPr>
      <p:grpSpPr>
        <a:xfrm>
          <a:off x="0" y="0"/>
          <a:ext cx="0" cy="0"/>
          <a:chOff x="0" y="0"/>
          <a:chExt cx="0" cy="0"/>
        </a:xfrm>
      </p:grpSpPr>
      <p:sp>
        <p:nvSpPr>
          <p:cNvPr id="331" name="Google Shape;331;g31ad97d778f_0_162:notes">
            <a:extLst>
              <a:ext uri="{FF2B5EF4-FFF2-40B4-BE49-F238E27FC236}">
                <a16:creationId xmlns:a16="http://schemas.microsoft.com/office/drawing/2014/main" id="{F340E65D-F60D-46F7-D792-1D613B2C436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332" name="Google Shape;332;g31ad97d778f_0_162:notes">
            <a:extLst>
              <a:ext uri="{FF2B5EF4-FFF2-40B4-BE49-F238E27FC236}">
                <a16:creationId xmlns:a16="http://schemas.microsoft.com/office/drawing/2014/main" id="{4BA137FF-5F5E-9E3F-7064-25AE8B44F0F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779108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a:extLst>
            <a:ext uri="{FF2B5EF4-FFF2-40B4-BE49-F238E27FC236}">
              <a16:creationId xmlns:a16="http://schemas.microsoft.com/office/drawing/2014/main" id="{30D1F58C-48AB-2452-0B0C-4812D53AA8A0}"/>
            </a:ext>
          </a:extLst>
        </p:cNvPr>
        <p:cNvGrpSpPr/>
        <p:nvPr/>
      </p:nvGrpSpPr>
      <p:grpSpPr>
        <a:xfrm>
          <a:off x="0" y="0"/>
          <a:ext cx="0" cy="0"/>
          <a:chOff x="0" y="0"/>
          <a:chExt cx="0" cy="0"/>
        </a:xfrm>
      </p:grpSpPr>
      <p:sp>
        <p:nvSpPr>
          <p:cNvPr id="331" name="Google Shape;331;g31ad97d778f_0_162:notes">
            <a:extLst>
              <a:ext uri="{FF2B5EF4-FFF2-40B4-BE49-F238E27FC236}">
                <a16:creationId xmlns:a16="http://schemas.microsoft.com/office/drawing/2014/main" id="{0B52F43A-2717-5676-EEC3-6984A078B67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332" name="Google Shape;332;g31ad97d778f_0_162:notes">
            <a:extLst>
              <a:ext uri="{FF2B5EF4-FFF2-40B4-BE49-F238E27FC236}">
                <a16:creationId xmlns:a16="http://schemas.microsoft.com/office/drawing/2014/main" id="{2F1753AE-914E-D038-002B-EB545F69874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240681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a:extLst>
            <a:ext uri="{FF2B5EF4-FFF2-40B4-BE49-F238E27FC236}">
              <a16:creationId xmlns:a16="http://schemas.microsoft.com/office/drawing/2014/main" id="{6FF111C4-3D2D-0A49-C53E-278B1D3E7DD0}"/>
            </a:ext>
          </a:extLst>
        </p:cNvPr>
        <p:cNvGrpSpPr/>
        <p:nvPr/>
      </p:nvGrpSpPr>
      <p:grpSpPr>
        <a:xfrm>
          <a:off x="0" y="0"/>
          <a:ext cx="0" cy="0"/>
          <a:chOff x="0" y="0"/>
          <a:chExt cx="0" cy="0"/>
        </a:xfrm>
      </p:grpSpPr>
      <p:sp>
        <p:nvSpPr>
          <p:cNvPr id="331" name="Google Shape;331;g31ad97d778f_0_162:notes">
            <a:extLst>
              <a:ext uri="{FF2B5EF4-FFF2-40B4-BE49-F238E27FC236}">
                <a16:creationId xmlns:a16="http://schemas.microsoft.com/office/drawing/2014/main" id="{864FDDCD-41D2-5439-8D75-688EDB1AE0C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332" name="Google Shape;332;g31ad97d778f_0_162:notes">
            <a:extLst>
              <a:ext uri="{FF2B5EF4-FFF2-40B4-BE49-F238E27FC236}">
                <a16:creationId xmlns:a16="http://schemas.microsoft.com/office/drawing/2014/main" id="{9D6B2CE6-1523-7515-4D39-ACE6433952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894452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a:extLst>
            <a:ext uri="{FF2B5EF4-FFF2-40B4-BE49-F238E27FC236}">
              <a16:creationId xmlns:a16="http://schemas.microsoft.com/office/drawing/2014/main" id="{EB7EED13-CA4F-CC0C-AF13-E882C41F040A}"/>
            </a:ext>
          </a:extLst>
        </p:cNvPr>
        <p:cNvGrpSpPr/>
        <p:nvPr/>
      </p:nvGrpSpPr>
      <p:grpSpPr>
        <a:xfrm>
          <a:off x="0" y="0"/>
          <a:ext cx="0" cy="0"/>
          <a:chOff x="0" y="0"/>
          <a:chExt cx="0" cy="0"/>
        </a:xfrm>
      </p:grpSpPr>
      <p:sp>
        <p:nvSpPr>
          <p:cNvPr id="331" name="Google Shape;331;g31ad97d778f_0_162:notes">
            <a:extLst>
              <a:ext uri="{FF2B5EF4-FFF2-40B4-BE49-F238E27FC236}">
                <a16:creationId xmlns:a16="http://schemas.microsoft.com/office/drawing/2014/main" id="{A2B437A1-5253-B219-309C-EB245C51CD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332" name="Google Shape;332;g31ad97d778f_0_162:notes">
            <a:extLst>
              <a:ext uri="{FF2B5EF4-FFF2-40B4-BE49-F238E27FC236}">
                <a16:creationId xmlns:a16="http://schemas.microsoft.com/office/drawing/2014/main" id="{9D18FAA5-29B2-6FF5-D001-EB62EA10794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399251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a:extLst>
            <a:ext uri="{FF2B5EF4-FFF2-40B4-BE49-F238E27FC236}">
              <a16:creationId xmlns:a16="http://schemas.microsoft.com/office/drawing/2014/main" id="{C0DE5CF7-4AE6-DBC0-4A9E-5E2078807DFB}"/>
            </a:ext>
          </a:extLst>
        </p:cNvPr>
        <p:cNvGrpSpPr/>
        <p:nvPr/>
      </p:nvGrpSpPr>
      <p:grpSpPr>
        <a:xfrm>
          <a:off x="0" y="0"/>
          <a:ext cx="0" cy="0"/>
          <a:chOff x="0" y="0"/>
          <a:chExt cx="0" cy="0"/>
        </a:xfrm>
      </p:grpSpPr>
      <p:sp>
        <p:nvSpPr>
          <p:cNvPr id="331" name="Google Shape;331;g31ad97d778f_0_162:notes">
            <a:extLst>
              <a:ext uri="{FF2B5EF4-FFF2-40B4-BE49-F238E27FC236}">
                <a16:creationId xmlns:a16="http://schemas.microsoft.com/office/drawing/2014/main" id="{88F9A29B-F56C-3451-D6E4-59901F3F816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332" name="Google Shape;332;g31ad97d778f_0_162:notes">
            <a:extLst>
              <a:ext uri="{FF2B5EF4-FFF2-40B4-BE49-F238E27FC236}">
                <a16:creationId xmlns:a16="http://schemas.microsoft.com/office/drawing/2014/main" id="{22D42F81-9FCE-482D-FDCA-F42F06056A3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935273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a:extLst>
            <a:ext uri="{FF2B5EF4-FFF2-40B4-BE49-F238E27FC236}">
              <a16:creationId xmlns:a16="http://schemas.microsoft.com/office/drawing/2014/main" id="{289B85F8-49D9-906F-87D6-2617E539BE1A}"/>
            </a:ext>
          </a:extLst>
        </p:cNvPr>
        <p:cNvGrpSpPr/>
        <p:nvPr/>
      </p:nvGrpSpPr>
      <p:grpSpPr>
        <a:xfrm>
          <a:off x="0" y="0"/>
          <a:ext cx="0" cy="0"/>
          <a:chOff x="0" y="0"/>
          <a:chExt cx="0" cy="0"/>
        </a:xfrm>
      </p:grpSpPr>
      <p:sp>
        <p:nvSpPr>
          <p:cNvPr id="331" name="Google Shape;331;g31ad97d778f_0_162:notes">
            <a:extLst>
              <a:ext uri="{FF2B5EF4-FFF2-40B4-BE49-F238E27FC236}">
                <a16:creationId xmlns:a16="http://schemas.microsoft.com/office/drawing/2014/main" id="{5BA1F0D9-0CF3-BC3F-1136-0C4CED374C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332" name="Google Shape;332;g31ad97d778f_0_162:notes">
            <a:extLst>
              <a:ext uri="{FF2B5EF4-FFF2-40B4-BE49-F238E27FC236}">
                <a16:creationId xmlns:a16="http://schemas.microsoft.com/office/drawing/2014/main" id="{573C5764-98FF-EAB7-E44E-E2C97A46AAD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901472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 name="Google Shape;11;p2"/>
          <p:cNvCxnSpPr/>
          <p:nvPr/>
        </p:nvCxnSpPr>
        <p:spPr>
          <a:xfrm>
            <a:off x="641934" y="3597500"/>
            <a:ext cx="390300" cy="0"/>
          </a:xfrm>
          <a:prstGeom prst="straightConnector1">
            <a:avLst/>
          </a:prstGeom>
          <a:noFill/>
          <a:ln w="28575" cap="flat" cmpd="sng">
            <a:solidFill>
              <a:schemeClr val="accent1"/>
            </a:solidFill>
            <a:prstDash val="solid"/>
            <a:round/>
            <a:headEnd type="none" w="sm" len="sm"/>
            <a:tailEnd type="none" w="sm" len="sm"/>
          </a:ln>
        </p:spPr>
      </p:cxnSp>
      <p:sp>
        <p:nvSpPr>
          <p:cNvPr id="12" name="Google Shape;12;p2"/>
          <p:cNvSpPr txBox="1">
            <a:spLocks noGrp="1"/>
          </p:cNvSpPr>
          <p:nvPr>
            <p:ph type="ctrTitle"/>
          </p:nvPr>
        </p:nvSpPr>
        <p:spPr>
          <a:xfrm>
            <a:off x="512700" y="1893300"/>
            <a:ext cx="8118600" cy="1522800"/>
          </a:xfrm>
          <a:prstGeom prst="rect">
            <a:avLst/>
          </a:prstGeom>
        </p:spPr>
        <p:txBody>
          <a:bodyPr spcFirstLastPara="1" wrap="square" lIns="91425" tIns="91425" rIns="91425" bIns="91425" anchor="b" anchorCtr="0">
            <a:noAutofit/>
          </a:bodyPr>
          <a:lstStyle>
            <a:lvl1pPr lvl="0">
              <a:spcBef>
                <a:spcPts val="0"/>
              </a:spcBef>
              <a:spcAft>
                <a:spcPts val="0"/>
              </a:spcAft>
              <a:buClr>
                <a:schemeClr val="accent1"/>
              </a:buClr>
              <a:buSzPts val="4200"/>
              <a:buNone/>
              <a:defRPr sz="4200">
                <a:solidFill>
                  <a:schemeClr val="accent1"/>
                </a:solidFill>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a:endParaRPr/>
          </a:p>
        </p:txBody>
      </p:sp>
      <p:sp>
        <p:nvSpPr>
          <p:cNvPr id="13" name="Google Shape;13;p2"/>
          <p:cNvSpPr txBox="1">
            <a:spLocks noGrp="1"/>
          </p:cNvSpPr>
          <p:nvPr>
            <p:ph type="subTitle" idx="1"/>
          </p:nvPr>
        </p:nvSpPr>
        <p:spPr>
          <a:xfrm>
            <a:off x="512700" y="3840639"/>
            <a:ext cx="8118600" cy="787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accent2"/>
              </a:buClr>
              <a:buSzPts val="2400"/>
              <a:buNone/>
              <a:defRPr sz="2400">
                <a:solidFill>
                  <a:schemeClr val="accent2"/>
                </a:solidFill>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a:endParaRPr/>
          </a:p>
        </p:txBody>
      </p:sp>
      <p:sp>
        <p:nvSpPr>
          <p:cNvPr id="14" name="Google Shape;14;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w="28575" cap="flat" cmpd="sng">
            <a:solidFill>
              <a:schemeClr val="lt2"/>
            </a:solidFill>
            <a:prstDash val="solid"/>
            <a:round/>
            <a:headEnd type="none" w="sm" len="sm"/>
            <a:tailEnd type="none" w="sm" len="sm"/>
          </a:ln>
        </p:spPr>
      </p:cxnSp>
      <p:sp>
        <p:nvSpPr>
          <p:cNvPr id="17" name="Google Shape;17;p3"/>
          <p:cNvSpPr txBox="1">
            <a:spLocks noGrp="1"/>
          </p:cNvSpPr>
          <p:nvPr>
            <p:ph type="title"/>
          </p:nvPr>
        </p:nvSpPr>
        <p:spPr>
          <a:xfrm>
            <a:off x="512700" y="1893300"/>
            <a:ext cx="8118600" cy="1522800"/>
          </a:xfrm>
          <a:prstGeom prst="rect">
            <a:avLst/>
          </a:prstGeom>
        </p:spPr>
        <p:txBody>
          <a:bodyPr spcFirstLastPara="1" wrap="square" lIns="91425" tIns="91425" rIns="91425" bIns="91425" anchor="b" anchorCtr="0">
            <a:no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2" name="Google Shape;22;p4"/>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3" name="Google Shape;23;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6" name="Google Shape;26;p5"/>
          <p:cNvSpPr txBox="1">
            <a:spLocks noGrp="1"/>
          </p:cNvSpPr>
          <p:nvPr>
            <p:ph type="body" idx="1"/>
          </p:nvPr>
        </p:nvSpPr>
        <p:spPr>
          <a:xfrm>
            <a:off x="311700" y="1171675"/>
            <a:ext cx="3999900" cy="3397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7" name="Google Shape;27;p5"/>
          <p:cNvSpPr txBox="1">
            <a:spLocks noGrp="1"/>
          </p:cNvSpPr>
          <p:nvPr>
            <p:ph type="body" idx="2"/>
          </p:nvPr>
        </p:nvSpPr>
        <p:spPr>
          <a:xfrm>
            <a:off x="4832400" y="1171675"/>
            <a:ext cx="3999900" cy="3397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8" name="Google Shape;28;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1" name="Google Shape;31;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4" name="Google Shape;34;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5" name="Google Shape;35;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490250" y="526350"/>
            <a:ext cx="5604000" cy="4090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accent1"/>
              </a:buClr>
              <a:buSzPts val="5400"/>
              <a:buNone/>
              <a:defRPr sz="5400">
                <a:solidFill>
                  <a:schemeClr val="accent1"/>
                </a:solidFill>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a:endParaRPr/>
          </a:p>
        </p:txBody>
      </p:sp>
      <p:sp>
        <p:nvSpPr>
          <p:cNvPr id="38" name="Google Shape;38;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1" name="Google Shape;41;p9"/>
          <p:cNvCxnSpPr/>
          <p:nvPr/>
        </p:nvCxnSpPr>
        <p:spPr>
          <a:xfrm>
            <a:off x="5029675" y="4495500"/>
            <a:ext cx="686400" cy="0"/>
          </a:xfrm>
          <a:prstGeom prst="straightConnector1">
            <a:avLst/>
          </a:prstGeom>
          <a:noFill/>
          <a:ln w="19050" cap="flat" cmpd="sng">
            <a:solidFill>
              <a:schemeClr val="lt2"/>
            </a:solidFill>
            <a:prstDash val="solid"/>
            <a:round/>
            <a:headEnd type="none" w="sm" len="sm"/>
            <a:tailEnd type="none" w="sm" len="sm"/>
          </a:ln>
        </p:spPr>
      </p:cxnSp>
      <p:sp>
        <p:nvSpPr>
          <p:cNvPr id="42" name="Google Shape;42;p9"/>
          <p:cNvSpPr txBox="1">
            <a:spLocks noGrp="1"/>
          </p:cNvSpPr>
          <p:nvPr>
            <p:ph type="title"/>
          </p:nvPr>
        </p:nvSpPr>
        <p:spPr>
          <a:xfrm>
            <a:off x="265500" y="1382350"/>
            <a:ext cx="4045200" cy="13332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a:endParaRPr/>
          </a:p>
        </p:txBody>
      </p:sp>
      <p:sp>
        <p:nvSpPr>
          <p:cNvPr id="43" name="Google Shape;43;p9"/>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4" name="Google Shape;44;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accent1"/>
              </a:buClr>
              <a:buSzPts val="1800"/>
              <a:buChar char="●"/>
              <a:defRPr>
                <a:solidFill>
                  <a:schemeClr val="accent1"/>
                </a:solidFill>
              </a:defRPr>
            </a:lvl1pPr>
            <a:lvl2pPr marL="914400" lvl="1" indent="-317500">
              <a:spcBef>
                <a:spcPts val="1600"/>
              </a:spcBef>
              <a:spcAft>
                <a:spcPts val="0"/>
              </a:spcAft>
              <a:buClr>
                <a:schemeClr val="accent1"/>
              </a:buClr>
              <a:buSzPts val="1400"/>
              <a:buChar char="○"/>
              <a:defRPr>
                <a:solidFill>
                  <a:schemeClr val="accent1"/>
                </a:solidFill>
              </a:defRPr>
            </a:lvl2pPr>
            <a:lvl3pPr marL="1371600" lvl="2" indent="-317500">
              <a:spcBef>
                <a:spcPts val="1600"/>
              </a:spcBef>
              <a:spcAft>
                <a:spcPts val="0"/>
              </a:spcAft>
              <a:buClr>
                <a:schemeClr val="accent1"/>
              </a:buClr>
              <a:buSzPts val="1400"/>
              <a:buChar char="■"/>
              <a:defRPr>
                <a:solidFill>
                  <a:schemeClr val="accent1"/>
                </a:solidFill>
              </a:defRPr>
            </a:lvl3pPr>
            <a:lvl4pPr marL="1828800" lvl="3" indent="-317500">
              <a:spcBef>
                <a:spcPts val="1600"/>
              </a:spcBef>
              <a:spcAft>
                <a:spcPts val="0"/>
              </a:spcAft>
              <a:buClr>
                <a:schemeClr val="accent1"/>
              </a:buClr>
              <a:buSzPts val="1400"/>
              <a:buChar char="●"/>
              <a:defRPr>
                <a:solidFill>
                  <a:schemeClr val="accent1"/>
                </a:solidFill>
              </a:defRPr>
            </a:lvl4pPr>
            <a:lvl5pPr marL="2286000" lvl="4" indent="-317500">
              <a:spcBef>
                <a:spcPts val="1600"/>
              </a:spcBef>
              <a:spcAft>
                <a:spcPts val="0"/>
              </a:spcAft>
              <a:buClr>
                <a:schemeClr val="accent1"/>
              </a:buClr>
              <a:buSzPts val="1400"/>
              <a:buChar char="○"/>
              <a:defRPr>
                <a:solidFill>
                  <a:schemeClr val="accent1"/>
                </a:solidFill>
              </a:defRPr>
            </a:lvl5pPr>
            <a:lvl6pPr marL="2743200" lvl="5" indent="-317500">
              <a:spcBef>
                <a:spcPts val="1600"/>
              </a:spcBef>
              <a:spcAft>
                <a:spcPts val="0"/>
              </a:spcAft>
              <a:buClr>
                <a:schemeClr val="accent1"/>
              </a:buClr>
              <a:buSzPts val="1400"/>
              <a:buChar char="■"/>
              <a:defRPr>
                <a:solidFill>
                  <a:schemeClr val="accent1"/>
                </a:solidFill>
              </a:defRPr>
            </a:lvl6pPr>
            <a:lvl7pPr marL="3200400" lvl="6" indent="-317500">
              <a:spcBef>
                <a:spcPts val="1600"/>
              </a:spcBef>
              <a:spcAft>
                <a:spcPts val="0"/>
              </a:spcAft>
              <a:buClr>
                <a:schemeClr val="accent1"/>
              </a:buClr>
              <a:buSzPts val="1400"/>
              <a:buChar char="●"/>
              <a:defRPr>
                <a:solidFill>
                  <a:schemeClr val="accent1"/>
                </a:solidFill>
              </a:defRPr>
            </a:lvl7pPr>
            <a:lvl8pPr marL="3657600" lvl="7" indent="-317500">
              <a:spcBef>
                <a:spcPts val="1600"/>
              </a:spcBef>
              <a:spcAft>
                <a:spcPts val="0"/>
              </a:spcAft>
              <a:buClr>
                <a:schemeClr val="accent1"/>
              </a:buClr>
              <a:buSzPts val="1400"/>
              <a:buChar char="○"/>
              <a:defRPr>
                <a:solidFill>
                  <a:schemeClr val="accent1"/>
                </a:solidFill>
              </a:defRPr>
            </a:lvl8pPr>
            <a:lvl9pPr marL="4114800" lvl="8" indent="-317500">
              <a:spcBef>
                <a:spcPts val="1600"/>
              </a:spcBef>
              <a:spcAft>
                <a:spcPts val="1600"/>
              </a:spcAft>
              <a:buClr>
                <a:schemeClr val="accent1"/>
              </a:buClr>
              <a:buSzPts val="1400"/>
              <a:buChar char="■"/>
              <a:defRPr>
                <a:solidFill>
                  <a:schemeClr val="accent1"/>
                </a:solidFill>
              </a:defRPr>
            </a:lvl9pPr>
          </a:lstStyle>
          <a:p>
            <a:endParaRPr/>
          </a:p>
        </p:txBody>
      </p:sp>
      <p:sp>
        <p:nvSpPr>
          <p:cNvPr id="45" name="Google Shape;45;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6"/>
        <p:cNvGrpSpPr/>
        <p:nvPr/>
      </p:nvGrpSpPr>
      <p:grpSpPr>
        <a:xfrm>
          <a:off x="0" y="0"/>
          <a:ext cx="0" cy="0"/>
          <a:chOff x="0" y="0"/>
          <a:chExt cx="0" cy="0"/>
        </a:xfrm>
      </p:grpSpPr>
      <p:sp>
        <p:nvSpPr>
          <p:cNvPr id="47" name="Google Shape;47;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8" name="Google Shape;48;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9"/>
        <p:cNvGrpSpPr/>
        <p:nvPr/>
      </p:nvGrpSpPr>
      <p:grpSpPr>
        <a:xfrm>
          <a:off x="0" y="0"/>
          <a:ext cx="0" cy="0"/>
          <a:chOff x="0" y="0"/>
          <a:chExt cx="0" cy="0"/>
        </a:xfrm>
      </p:grpSpPr>
      <p:sp>
        <p:nvSpPr>
          <p:cNvPr id="50" name="Google Shape;50;p11"/>
          <p:cNvSpPr txBox="1">
            <a:spLocks noGrp="1"/>
          </p:cNvSpPr>
          <p:nvPr>
            <p:ph type="title" hasCustomPrompt="1"/>
          </p:nvPr>
        </p:nvSpPr>
        <p:spPr>
          <a:xfrm>
            <a:off x="311700" y="1039650"/>
            <a:ext cx="8520600" cy="2106300"/>
          </a:xfrm>
          <a:prstGeom prst="rect">
            <a:avLst/>
          </a:prstGeom>
        </p:spPr>
        <p:txBody>
          <a:bodyPr spcFirstLastPara="1" wrap="square" lIns="91425" tIns="91425" rIns="91425" bIns="91425" anchor="b" anchorCtr="0">
            <a:noAutofit/>
          </a:bodyPr>
          <a:lstStyle>
            <a:lvl1pPr lvl="0" algn="ctr">
              <a:spcBef>
                <a:spcPts val="0"/>
              </a:spcBef>
              <a:spcAft>
                <a:spcPts val="0"/>
              </a:spcAft>
              <a:buSzPts val="14000"/>
              <a:buNone/>
              <a:defRPr sz="14000" b="1"/>
            </a:lvl1pPr>
            <a:lvl2pPr lvl="1" algn="ctr">
              <a:spcBef>
                <a:spcPts val="0"/>
              </a:spcBef>
              <a:spcAft>
                <a:spcPts val="0"/>
              </a:spcAft>
              <a:buSzPts val="14000"/>
              <a:buNone/>
              <a:defRPr sz="14000" b="1"/>
            </a:lvl2pPr>
            <a:lvl3pPr lvl="2" algn="ctr">
              <a:spcBef>
                <a:spcPts val="0"/>
              </a:spcBef>
              <a:spcAft>
                <a:spcPts val="0"/>
              </a:spcAft>
              <a:buSzPts val="14000"/>
              <a:buNone/>
              <a:defRPr sz="14000" b="1"/>
            </a:lvl3pPr>
            <a:lvl4pPr lvl="3" algn="ctr">
              <a:spcBef>
                <a:spcPts val="0"/>
              </a:spcBef>
              <a:spcAft>
                <a:spcPts val="0"/>
              </a:spcAft>
              <a:buSzPts val="14000"/>
              <a:buNone/>
              <a:defRPr sz="14000" b="1"/>
            </a:lvl4pPr>
            <a:lvl5pPr lvl="4" algn="ctr">
              <a:spcBef>
                <a:spcPts val="0"/>
              </a:spcBef>
              <a:spcAft>
                <a:spcPts val="0"/>
              </a:spcAft>
              <a:buSzPts val="14000"/>
              <a:buNone/>
              <a:defRPr sz="14000" b="1"/>
            </a:lvl5pPr>
            <a:lvl6pPr lvl="5" algn="ctr">
              <a:spcBef>
                <a:spcPts val="0"/>
              </a:spcBef>
              <a:spcAft>
                <a:spcPts val="0"/>
              </a:spcAft>
              <a:buSzPts val="14000"/>
              <a:buNone/>
              <a:defRPr sz="14000" b="1"/>
            </a:lvl6pPr>
            <a:lvl7pPr lvl="6" algn="ctr">
              <a:spcBef>
                <a:spcPts val="0"/>
              </a:spcBef>
              <a:spcAft>
                <a:spcPts val="0"/>
              </a:spcAft>
              <a:buSzPts val="14000"/>
              <a:buNone/>
              <a:defRPr sz="14000" b="1"/>
            </a:lvl7pPr>
            <a:lvl8pPr lvl="7" algn="ctr">
              <a:spcBef>
                <a:spcPts val="0"/>
              </a:spcBef>
              <a:spcAft>
                <a:spcPts val="0"/>
              </a:spcAft>
              <a:buSzPts val="14000"/>
              <a:buNone/>
              <a:defRPr sz="14000" b="1"/>
            </a:lvl8pPr>
            <a:lvl9pPr lvl="8" algn="ctr">
              <a:spcBef>
                <a:spcPts val="0"/>
              </a:spcBef>
              <a:spcAft>
                <a:spcPts val="0"/>
              </a:spcAft>
              <a:buSzPts val="14000"/>
              <a:buNone/>
              <a:defRPr sz="14000" b="1"/>
            </a:lvl9pPr>
          </a:lstStyle>
          <a:p>
            <a:r>
              <a:t>xx%</a:t>
            </a:r>
          </a:p>
        </p:txBody>
      </p:sp>
      <p:sp>
        <p:nvSpPr>
          <p:cNvPr id="51" name="Google Shape;51;p11"/>
          <p:cNvSpPr txBox="1">
            <a:spLocks noGrp="1"/>
          </p:cNvSpPr>
          <p:nvPr>
            <p:ph type="body" idx="1"/>
          </p:nvPr>
        </p:nvSpPr>
        <p:spPr>
          <a:xfrm>
            <a:off x="311700" y="32284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52" name="Google Shape;52;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perback">
    <p:bg>
      <p:bgPr>
        <a:solidFill>
          <a:schemeClr val="accen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6132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a:endParaRPr/>
          </a:p>
        </p:txBody>
      </p:sp>
      <p:sp>
        <p:nvSpPr>
          <p:cNvPr id="7" name="Google Shape;7;p1"/>
          <p:cNvSpPr txBox="1">
            <a:spLocks noGrp="1"/>
          </p:cNvSpPr>
          <p:nvPr>
            <p:ph type="body" idx="1"/>
          </p:nvPr>
        </p:nvSpPr>
        <p:spPr>
          <a:xfrm>
            <a:off x="311700" y="1171600"/>
            <a:ext cx="8520600" cy="33972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marL="914400" lvl="1"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marL="1371600" lvl="2"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marL="1828800" lvl="3"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marL="2286000" lvl="4"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marL="2743200" lvl="5"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marL="3200400" lvl="6"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marL="3657600" lvl="7"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marL="4114800" lvl="8" indent="-317500">
              <a:lnSpc>
                <a:spcPct val="115000"/>
              </a:lnSpc>
              <a:spcBef>
                <a:spcPts val="1600"/>
              </a:spcBef>
              <a:spcAft>
                <a:spcPts val="160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sv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3"/>
          <p:cNvSpPr txBox="1">
            <a:spLocks noGrp="1"/>
          </p:cNvSpPr>
          <p:nvPr>
            <p:ph type="ctrTitle"/>
          </p:nvPr>
        </p:nvSpPr>
        <p:spPr>
          <a:xfrm>
            <a:off x="512700" y="1918607"/>
            <a:ext cx="8118600" cy="146957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Elastic Stack for Logs Monitoring</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265500" y="1382350"/>
            <a:ext cx="4045200" cy="1333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Agenda</a:t>
            </a:r>
            <a:endParaRPr/>
          </a:p>
        </p:txBody>
      </p:sp>
      <p:sp>
        <p:nvSpPr>
          <p:cNvPr id="66" name="Google Shape;66;p14"/>
          <p:cNvSpPr txBox="1">
            <a:spLocks noGrp="1"/>
          </p:cNvSpPr>
          <p:nvPr>
            <p:ph type="body" idx="2"/>
          </p:nvPr>
        </p:nvSpPr>
        <p:spPr>
          <a:xfrm>
            <a:off x="4926225" y="408214"/>
            <a:ext cx="3837000" cy="3886200"/>
          </a:xfrm>
          <a:prstGeom prst="rect">
            <a:avLst/>
          </a:prstGeom>
        </p:spPr>
        <p:txBody>
          <a:bodyPr spcFirstLastPara="1" wrap="square" lIns="91425" tIns="91425" rIns="91425" bIns="91425" anchor="ctr" anchorCtr="0">
            <a:noAutofit/>
          </a:bodyPr>
          <a:lstStyle/>
          <a:p>
            <a:pPr marL="457200" lvl="0" indent="-292100" algn="l" rtl="0">
              <a:spcBef>
                <a:spcPts val="0"/>
              </a:spcBef>
              <a:spcAft>
                <a:spcPts val="0"/>
              </a:spcAft>
              <a:buSzPts val="1000"/>
              <a:buChar char="●"/>
            </a:pPr>
            <a:r>
              <a:rPr lang="en-IN" sz="1400" dirty="0" err="1"/>
              <a:t>ElasticSearch</a:t>
            </a:r>
            <a:endParaRPr lang="en-IN" sz="1400" dirty="0"/>
          </a:p>
          <a:p>
            <a:pPr indent="-292100">
              <a:buSzPts val="1000"/>
            </a:pPr>
            <a:r>
              <a:rPr lang="en-IN" sz="1400" dirty="0"/>
              <a:t>Kibana</a:t>
            </a:r>
          </a:p>
          <a:p>
            <a:pPr marL="457200" lvl="0" indent="-292100" algn="l" rtl="0">
              <a:spcBef>
                <a:spcPts val="0"/>
              </a:spcBef>
              <a:spcAft>
                <a:spcPts val="0"/>
              </a:spcAft>
              <a:buSzPts val="1000"/>
              <a:buChar char="●"/>
            </a:pPr>
            <a:r>
              <a:rPr lang="en-IN" sz="1400" dirty="0"/>
              <a:t>Logstash</a:t>
            </a:r>
          </a:p>
          <a:p>
            <a:pPr marL="457200" lvl="0" indent="-292100" algn="l" rtl="0">
              <a:spcBef>
                <a:spcPts val="0"/>
              </a:spcBef>
              <a:spcAft>
                <a:spcPts val="0"/>
              </a:spcAft>
              <a:buSzPts val="1000"/>
              <a:buChar char="●"/>
            </a:pPr>
            <a:r>
              <a:rPr lang="en-IN" sz="1400" dirty="0" err="1"/>
              <a:t>Filebeat</a:t>
            </a:r>
            <a:endParaRPr lang="en-IN"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33">
          <a:extLst>
            <a:ext uri="{FF2B5EF4-FFF2-40B4-BE49-F238E27FC236}">
              <a16:creationId xmlns:a16="http://schemas.microsoft.com/office/drawing/2014/main" id="{9B090142-0712-A7CF-E69D-672131AE17C3}"/>
            </a:ext>
          </a:extLst>
        </p:cNvPr>
        <p:cNvGrpSpPr/>
        <p:nvPr/>
      </p:nvGrpSpPr>
      <p:grpSpPr>
        <a:xfrm>
          <a:off x="0" y="0"/>
          <a:ext cx="0" cy="0"/>
          <a:chOff x="0" y="0"/>
          <a:chExt cx="0" cy="0"/>
        </a:xfrm>
      </p:grpSpPr>
      <p:sp>
        <p:nvSpPr>
          <p:cNvPr id="6" name="Google Shape;87;p4">
            <a:extLst>
              <a:ext uri="{FF2B5EF4-FFF2-40B4-BE49-F238E27FC236}">
                <a16:creationId xmlns:a16="http://schemas.microsoft.com/office/drawing/2014/main" id="{13D7EEAC-F1A7-6CD6-4B46-37F417DB3DC6}"/>
              </a:ext>
            </a:extLst>
          </p:cNvPr>
          <p:cNvSpPr/>
          <p:nvPr/>
        </p:nvSpPr>
        <p:spPr>
          <a:xfrm>
            <a:off x="326769" y="1015094"/>
            <a:ext cx="8151900" cy="4536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404155"/>
              </a:buClr>
              <a:buSzPts val="1094"/>
              <a:buFont typeface="Nobile"/>
              <a:buNone/>
            </a:pPr>
            <a:r>
              <a:rPr lang="en-US" sz="1093" i="0" u="none" strike="noStrike" cap="none" dirty="0">
                <a:solidFill>
                  <a:srgbClr val="404155"/>
                </a:solidFill>
                <a:latin typeface="DM Sans"/>
                <a:ea typeface="DM Sans"/>
                <a:cs typeface="DM Sans"/>
                <a:sym typeface="DM Sans"/>
              </a:rPr>
              <a:t>The Elastic Stack (formerly ELK Stack) is a powerful open-source platform for centralized log management and analysis, comprising four core components: </a:t>
            </a:r>
            <a:endParaRPr sz="1093" i="0" u="none" strike="noStrike" cap="none" dirty="0">
              <a:latin typeface="DM Sans"/>
              <a:ea typeface="DM Sans"/>
              <a:cs typeface="DM Sans"/>
              <a:sym typeface="DM Sans"/>
            </a:endParaRPr>
          </a:p>
        </p:txBody>
      </p:sp>
      <p:sp>
        <p:nvSpPr>
          <p:cNvPr id="7" name="Google Shape;88;p4">
            <a:extLst>
              <a:ext uri="{FF2B5EF4-FFF2-40B4-BE49-F238E27FC236}">
                <a16:creationId xmlns:a16="http://schemas.microsoft.com/office/drawing/2014/main" id="{FCBA4C8A-C9B6-097C-9AF8-B5D4A906793E}"/>
              </a:ext>
            </a:extLst>
          </p:cNvPr>
          <p:cNvSpPr/>
          <p:nvPr/>
        </p:nvSpPr>
        <p:spPr>
          <a:xfrm>
            <a:off x="326769" y="1775159"/>
            <a:ext cx="2093841" cy="1960800"/>
          </a:xfrm>
          <a:prstGeom prst="roundRect">
            <a:avLst>
              <a:gd name="adj" fmla="val 3037"/>
            </a:avLst>
          </a:prstGeom>
          <a:solidFill>
            <a:srgbClr val="FFF5F6"/>
          </a:solidFill>
          <a:ln w="19050" cap="flat" cmpd="sng">
            <a:solidFill>
              <a:srgbClr val="F4CCCC"/>
            </a:solidFill>
            <a:prstDash val="solid"/>
            <a:round/>
            <a:headEnd type="none" w="sm" len="sm"/>
            <a:tailEnd type="none" w="sm" len="sm"/>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8" name="Google Shape;89;p4">
            <a:extLst>
              <a:ext uri="{FF2B5EF4-FFF2-40B4-BE49-F238E27FC236}">
                <a16:creationId xmlns:a16="http://schemas.microsoft.com/office/drawing/2014/main" id="{003353DB-4194-F9FF-50F1-13FCC3024A3A}"/>
              </a:ext>
            </a:extLst>
          </p:cNvPr>
          <p:cNvSpPr/>
          <p:nvPr/>
        </p:nvSpPr>
        <p:spPr>
          <a:xfrm>
            <a:off x="370312" y="1794209"/>
            <a:ext cx="2013660" cy="425400"/>
          </a:xfrm>
          <a:prstGeom prst="roundRect">
            <a:avLst>
              <a:gd name="adj" fmla="val 8626"/>
            </a:avLst>
          </a:prstGeom>
          <a:solidFill>
            <a:schemeClr val="lt1"/>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9" name="Google Shape;90;p4" descr="preencoded.png">
            <a:extLst>
              <a:ext uri="{FF2B5EF4-FFF2-40B4-BE49-F238E27FC236}">
                <a16:creationId xmlns:a16="http://schemas.microsoft.com/office/drawing/2014/main" id="{818D4EC8-1A60-EB9B-B8A8-A6AD612BEB0D}"/>
              </a:ext>
            </a:extLst>
          </p:cNvPr>
          <p:cNvPicPr preferRelativeResize="0"/>
          <p:nvPr/>
        </p:nvPicPr>
        <p:blipFill rotWithShape="1">
          <a:blip r:embed="rId3">
            <a:alphaModFix/>
          </a:blip>
          <a:srcRect/>
          <a:stretch/>
        </p:blipFill>
        <p:spPr>
          <a:xfrm>
            <a:off x="1172704" y="1863455"/>
            <a:ext cx="212601" cy="265807"/>
          </a:xfrm>
          <a:prstGeom prst="rect">
            <a:avLst/>
          </a:prstGeom>
          <a:noFill/>
          <a:ln>
            <a:noFill/>
          </a:ln>
        </p:spPr>
      </p:pic>
      <p:sp>
        <p:nvSpPr>
          <p:cNvPr id="10" name="Google Shape;91;p4">
            <a:extLst>
              <a:ext uri="{FF2B5EF4-FFF2-40B4-BE49-F238E27FC236}">
                <a16:creationId xmlns:a16="http://schemas.microsoft.com/office/drawing/2014/main" id="{B3ED3DDC-C529-DFF6-6809-D41954ED82EC}"/>
              </a:ext>
            </a:extLst>
          </p:cNvPr>
          <p:cNvSpPr/>
          <p:nvPr/>
        </p:nvSpPr>
        <p:spPr>
          <a:xfrm>
            <a:off x="487578" y="2361244"/>
            <a:ext cx="1772100" cy="2214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404155"/>
              </a:buClr>
              <a:buSzPts val="1375"/>
              <a:buFont typeface="Corben"/>
              <a:buNone/>
            </a:pPr>
            <a:r>
              <a:rPr lang="en-US" sz="1375" b="1" i="0" u="none" strike="noStrike" cap="none">
                <a:solidFill>
                  <a:srgbClr val="404155"/>
                </a:solidFill>
                <a:latin typeface="DM Sans"/>
                <a:ea typeface="DM Sans"/>
                <a:cs typeface="DM Sans"/>
                <a:sym typeface="DM Sans"/>
              </a:rPr>
              <a:t>Elasticsearch</a:t>
            </a:r>
            <a:endParaRPr sz="1375" b="1" i="0" u="none" strike="noStrike" cap="none">
              <a:latin typeface="DM Sans"/>
              <a:ea typeface="DM Sans"/>
              <a:cs typeface="DM Sans"/>
              <a:sym typeface="DM Sans"/>
            </a:endParaRPr>
          </a:p>
        </p:txBody>
      </p:sp>
      <p:sp>
        <p:nvSpPr>
          <p:cNvPr id="11" name="Google Shape;92;p4">
            <a:extLst>
              <a:ext uri="{FF2B5EF4-FFF2-40B4-BE49-F238E27FC236}">
                <a16:creationId xmlns:a16="http://schemas.microsoft.com/office/drawing/2014/main" id="{22F81CE5-B84B-59CE-8BAF-889A68CD3890}"/>
              </a:ext>
            </a:extLst>
          </p:cNvPr>
          <p:cNvSpPr/>
          <p:nvPr/>
        </p:nvSpPr>
        <p:spPr>
          <a:xfrm>
            <a:off x="487578" y="2667756"/>
            <a:ext cx="1772100" cy="9072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404155"/>
              </a:buClr>
              <a:buSzPts val="1094"/>
              <a:buFont typeface="Nobile"/>
              <a:buNone/>
            </a:pPr>
            <a:r>
              <a:rPr lang="en-US" sz="1093" i="0" u="none" strike="noStrike" cap="none" dirty="0">
                <a:solidFill>
                  <a:srgbClr val="404155"/>
                </a:solidFill>
                <a:latin typeface="DM Sans"/>
                <a:ea typeface="DM Sans"/>
                <a:cs typeface="DM Sans"/>
                <a:sym typeface="DM Sans"/>
              </a:rPr>
              <a:t>Distributed search and analytics engine that stores and indexes log data for lightning-fast queries.</a:t>
            </a:r>
            <a:endParaRPr sz="1093" i="0" u="none" strike="noStrike" cap="none" dirty="0">
              <a:latin typeface="DM Sans"/>
              <a:ea typeface="DM Sans"/>
              <a:cs typeface="DM Sans"/>
              <a:sym typeface="DM Sans"/>
            </a:endParaRPr>
          </a:p>
        </p:txBody>
      </p:sp>
      <p:sp>
        <p:nvSpPr>
          <p:cNvPr id="22" name="Google Shape;103;p4">
            <a:extLst>
              <a:ext uri="{FF2B5EF4-FFF2-40B4-BE49-F238E27FC236}">
                <a16:creationId xmlns:a16="http://schemas.microsoft.com/office/drawing/2014/main" id="{26DA4044-09C6-26EB-438C-24011A286DAF}"/>
              </a:ext>
            </a:extLst>
          </p:cNvPr>
          <p:cNvSpPr/>
          <p:nvPr/>
        </p:nvSpPr>
        <p:spPr>
          <a:xfrm>
            <a:off x="326769" y="4042424"/>
            <a:ext cx="8151900" cy="4536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404155"/>
              </a:buClr>
              <a:buSzPts val="1094"/>
              <a:buFont typeface="Nobile"/>
              <a:buNone/>
            </a:pPr>
            <a:r>
              <a:rPr lang="en-US" sz="1093" i="0" u="none" strike="noStrike" cap="none" dirty="0">
                <a:solidFill>
                  <a:srgbClr val="404155"/>
                </a:solidFill>
                <a:latin typeface="DM Sans"/>
                <a:ea typeface="DM Sans"/>
                <a:cs typeface="DM Sans"/>
                <a:sym typeface="DM Sans"/>
              </a:rPr>
              <a:t>Together, these create a centralized log analysis platform capable of handling millions of log events per second. </a:t>
            </a:r>
            <a:endParaRPr sz="1093" i="0" u="none" strike="noStrike" cap="none" dirty="0">
              <a:latin typeface="DM Sans"/>
              <a:ea typeface="DM Sans"/>
              <a:cs typeface="DM Sans"/>
              <a:sym typeface="DM Sans"/>
            </a:endParaRPr>
          </a:p>
        </p:txBody>
      </p:sp>
      <p:sp>
        <p:nvSpPr>
          <p:cNvPr id="24" name="Google Shape;105;p4">
            <a:extLst>
              <a:ext uri="{FF2B5EF4-FFF2-40B4-BE49-F238E27FC236}">
                <a16:creationId xmlns:a16="http://schemas.microsoft.com/office/drawing/2014/main" id="{8570598B-A65F-5CC2-B3F2-8227997E6658}"/>
              </a:ext>
            </a:extLst>
          </p:cNvPr>
          <p:cNvSpPr/>
          <p:nvPr/>
        </p:nvSpPr>
        <p:spPr>
          <a:xfrm>
            <a:off x="326775" y="326750"/>
            <a:ext cx="6360000" cy="402600"/>
          </a:xfrm>
          <a:prstGeom prst="rect">
            <a:avLst/>
          </a:prstGeom>
          <a:noFill/>
          <a:ln>
            <a:noFill/>
          </a:ln>
        </p:spPr>
        <p:txBody>
          <a:bodyPr spcFirstLastPara="1" wrap="square" lIns="0" tIns="0" rIns="0" bIns="0" anchor="t" anchorCtr="0">
            <a:noAutofit/>
          </a:bodyPr>
          <a:lstStyle/>
          <a:p>
            <a:pPr marL="0" marR="0" lvl="0" indent="0" algn="l" rtl="0">
              <a:lnSpc>
                <a:spcPct val="124691"/>
              </a:lnSpc>
              <a:spcBef>
                <a:spcPts val="0"/>
              </a:spcBef>
              <a:spcAft>
                <a:spcPts val="0"/>
              </a:spcAft>
              <a:buClr>
                <a:srgbClr val="1B1B27"/>
              </a:buClr>
              <a:buSzPts val="2531"/>
              <a:buFont typeface="Corben"/>
              <a:buNone/>
            </a:pPr>
            <a:r>
              <a:rPr lang="en-US" sz="2531" b="1" dirty="0">
                <a:solidFill>
                  <a:srgbClr val="1B1B27"/>
                </a:solidFill>
                <a:latin typeface="DM Sans"/>
                <a:ea typeface="DM Sans"/>
                <a:cs typeface="DM Sans"/>
                <a:sym typeface="DM Sans"/>
              </a:rPr>
              <a:t>What is the Elastic Stack?</a:t>
            </a:r>
            <a:endParaRPr sz="2531" b="1" dirty="0">
              <a:solidFill>
                <a:srgbClr val="1B1B27"/>
              </a:solidFill>
              <a:latin typeface="DM Sans"/>
              <a:ea typeface="DM Sans"/>
              <a:cs typeface="DM Sans"/>
              <a:sym typeface="DM Sans"/>
            </a:endParaRPr>
          </a:p>
        </p:txBody>
      </p:sp>
      <p:sp>
        <p:nvSpPr>
          <p:cNvPr id="23" name="Google Shape;88;p4">
            <a:extLst>
              <a:ext uri="{FF2B5EF4-FFF2-40B4-BE49-F238E27FC236}">
                <a16:creationId xmlns:a16="http://schemas.microsoft.com/office/drawing/2014/main" id="{0FCA600F-1112-1062-269F-F701175F084C}"/>
              </a:ext>
            </a:extLst>
          </p:cNvPr>
          <p:cNvSpPr/>
          <p:nvPr/>
        </p:nvSpPr>
        <p:spPr>
          <a:xfrm>
            <a:off x="2530607" y="1775159"/>
            <a:ext cx="2093841" cy="1960800"/>
          </a:xfrm>
          <a:prstGeom prst="roundRect">
            <a:avLst>
              <a:gd name="adj" fmla="val 3037"/>
            </a:avLst>
          </a:prstGeom>
          <a:solidFill>
            <a:srgbClr val="FFF5F6"/>
          </a:solidFill>
          <a:ln w="19050" cap="flat" cmpd="sng">
            <a:solidFill>
              <a:srgbClr val="F4CCCC"/>
            </a:solidFill>
            <a:prstDash val="solid"/>
            <a:round/>
            <a:headEnd type="none" w="sm" len="sm"/>
            <a:tailEnd type="none" w="sm" len="sm"/>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25" name="Google Shape;89;p4">
            <a:extLst>
              <a:ext uri="{FF2B5EF4-FFF2-40B4-BE49-F238E27FC236}">
                <a16:creationId xmlns:a16="http://schemas.microsoft.com/office/drawing/2014/main" id="{718F4FF3-5D60-D195-0BAF-102AD62A5603}"/>
              </a:ext>
            </a:extLst>
          </p:cNvPr>
          <p:cNvSpPr/>
          <p:nvPr/>
        </p:nvSpPr>
        <p:spPr>
          <a:xfrm>
            <a:off x="2574150" y="1794209"/>
            <a:ext cx="2013660" cy="425400"/>
          </a:xfrm>
          <a:prstGeom prst="roundRect">
            <a:avLst>
              <a:gd name="adj" fmla="val 8626"/>
            </a:avLst>
          </a:prstGeom>
          <a:solidFill>
            <a:schemeClr val="lt1"/>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27" name="Google Shape;91;p4">
            <a:extLst>
              <a:ext uri="{FF2B5EF4-FFF2-40B4-BE49-F238E27FC236}">
                <a16:creationId xmlns:a16="http://schemas.microsoft.com/office/drawing/2014/main" id="{256D4FFE-3473-E5F4-78A8-1C3EE2C1DC31}"/>
              </a:ext>
            </a:extLst>
          </p:cNvPr>
          <p:cNvSpPr/>
          <p:nvPr/>
        </p:nvSpPr>
        <p:spPr>
          <a:xfrm>
            <a:off x="2691416" y="2361244"/>
            <a:ext cx="1772100" cy="221400"/>
          </a:xfrm>
          <a:prstGeom prst="rect">
            <a:avLst/>
          </a:prstGeom>
          <a:noFill/>
          <a:ln>
            <a:noFill/>
          </a:ln>
        </p:spPr>
        <p:txBody>
          <a:bodyPr spcFirstLastPara="1" wrap="square" lIns="0" tIns="0" rIns="0" bIns="0" anchor="t" anchorCtr="0">
            <a:noAutofit/>
          </a:bodyPr>
          <a:lstStyle/>
          <a:p>
            <a:pPr lvl="0">
              <a:lnSpc>
                <a:spcPct val="125000"/>
              </a:lnSpc>
              <a:buClr>
                <a:srgbClr val="404155"/>
              </a:buClr>
              <a:buSzPts val="1375"/>
            </a:pPr>
            <a:r>
              <a:rPr lang="en-US" sz="1375" b="1" dirty="0">
                <a:solidFill>
                  <a:srgbClr val="404155"/>
                </a:solidFill>
                <a:latin typeface="DM Sans"/>
                <a:ea typeface="DM Sans"/>
                <a:cs typeface="DM Sans"/>
                <a:sym typeface="DM Sans"/>
              </a:rPr>
              <a:t>Logstash</a:t>
            </a:r>
            <a:endParaRPr lang="en-US" sz="1375" b="1" dirty="0">
              <a:latin typeface="DM Sans"/>
              <a:ea typeface="DM Sans"/>
              <a:cs typeface="DM Sans"/>
              <a:sym typeface="DM Sans"/>
            </a:endParaRPr>
          </a:p>
        </p:txBody>
      </p:sp>
      <p:sp>
        <p:nvSpPr>
          <p:cNvPr id="28" name="Google Shape;92;p4">
            <a:extLst>
              <a:ext uri="{FF2B5EF4-FFF2-40B4-BE49-F238E27FC236}">
                <a16:creationId xmlns:a16="http://schemas.microsoft.com/office/drawing/2014/main" id="{E3EF50D6-BDA6-F848-A027-C204ED9542BD}"/>
              </a:ext>
            </a:extLst>
          </p:cNvPr>
          <p:cNvSpPr/>
          <p:nvPr/>
        </p:nvSpPr>
        <p:spPr>
          <a:xfrm>
            <a:off x="2691416" y="2686806"/>
            <a:ext cx="1772100" cy="888150"/>
          </a:xfrm>
          <a:prstGeom prst="rect">
            <a:avLst/>
          </a:prstGeom>
          <a:noFill/>
          <a:ln>
            <a:noFill/>
          </a:ln>
        </p:spPr>
        <p:txBody>
          <a:bodyPr spcFirstLastPara="1" wrap="square" lIns="0" tIns="0" rIns="0" bIns="0" anchor="t" anchorCtr="0">
            <a:noAutofit/>
          </a:bodyPr>
          <a:lstStyle/>
          <a:p>
            <a:pPr lvl="0">
              <a:lnSpc>
                <a:spcPct val="115000"/>
              </a:lnSpc>
              <a:buClr>
                <a:srgbClr val="404155"/>
              </a:buClr>
              <a:buSzPts val="1000"/>
            </a:pPr>
            <a:r>
              <a:rPr lang="en-US" sz="1100">
                <a:solidFill>
                  <a:srgbClr val="404155"/>
                </a:solidFill>
                <a:latin typeface="DM Sans"/>
                <a:ea typeface="DM Sans"/>
                <a:cs typeface="DM Sans"/>
                <a:sym typeface="DM Sans"/>
              </a:rPr>
              <a:t>Collects </a:t>
            </a:r>
            <a:r>
              <a:rPr lang="en-US" sz="1100" dirty="0">
                <a:solidFill>
                  <a:srgbClr val="404155"/>
                </a:solidFill>
                <a:latin typeface="DM Sans"/>
                <a:ea typeface="DM Sans"/>
                <a:cs typeface="DM Sans"/>
                <a:sym typeface="DM Sans"/>
              </a:rPr>
              <a:t>logs from multiple sources, parses content, filters noise and transforms data into a standardized format.</a:t>
            </a:r>
            <a:endParaRPr lang="en-US" sz="1100" dirty="0">
              <a:latin typeface="DM Sans"/>
              <a:ea typeface="DM Sans"/>
              <a:cs typeface="DM Sans"/>
              <a:sym typeface="DM Sans"/>
            </a:endParaRPr>
          </a:p>
        </p:txBody>
      </p:sp>
      <p:sp>
        <p:nvSpPr>
          <p:cNvPr id="29" name="Google Shape;88;p4">
            <a:extLst>
              <a:ext uri="{FF2B5EF4-FFF2-40B4-BE49-F238E27FC236}">
                <a16:creationId xmlns:a16="http://schemas.microsoft.com/office/drawing/2014/main" id="{487E8A13-958C-D36D-0051-7D135D939923}"/>
              </a:ext>
            </a:extLst>
          </p:cNvPr>
          <p:cNvSpPr/>
          <p:nvPr/>
        </p:nvSpPr>
        <p:spPr>
          <a:xfrm>
            <a:off x="4734441" y="1794209"/>
            <a:ext cx="2093841" cy="1960800"/>
          </a:xfrm>
          <a:prstGeom prst="roundRect">
            <a:avLst>
              <a:gd name="adj" fmla="val 3037"/>
            </a:avLst>
          </a:prstGeom>
          <a:solidFill>
            <a:srgbClr val="FFF5F6"/>
          </a:solidFill>
          <a:ln w="19050" cap="flat" cmpd="sng">
            <a:solidFill>
              <a:srgbClr val="F4CCCC"/>
            </a:solidFill>
            <a:prstDash val="solid"/>
            <a:round/>
            <a:headEnd type="none" w="sm" len="sm"/>
            <a:tailEnd type="none" w="sm" len="sm"/>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30" name="Google Shape;89;p4">
            <a:extLst>
              <a:ext uri="{FF2B5EF4-FFF2-40B4-BE49-F238E27FC236}">
                <a16:creationId xmlns:a16="http://schemas.microsoft.com/office/drawing/2014/main" id="{7574A4FE-6011-115F-AC5B-48DB079E66FE}"/>
              </a:ext>
            </a:extLst>
          </p:cNvPr>
          <p:cNvSpPr/>
          <p:nvPr/>
        </p:nvSpPr>
        <p:spPr>
          <a:xfrm>
            <a:off x="4777984" y="1813259"/>
            <a:ext cx="2013660" cy="425400"/>
          </a:xfrm>
          <a:prstGeom prst="roundRect">
            <a:avLst>
              <a:gd name="adj" fmla="val 8626"/>
            </a:avLst>
          </a:prstGeom>
          <a:solidFill>
            <a:schemeClr val="lt1"/>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32" name="Google Shape;91;p4">
            <a:extLst>
              <a:ext uri="{FF2B5EF4-FFF2-40B4-BE49-F238E27FC236}">
                <a16:creationId xmlns:a16="http://schemas.microsoft.com/office/drawing/2014/main" id="{36FF61B4-EAF3-C590-D0EE-28220ED530AC}"/>
              </a:ext>
            </a:extLst>
          </p:cNvPr>
          <p:cNvSpPr/>
          <p:nvPr/>
        </p:nvSpPr>
        <p:spPr>
          <a:xfrm>
            <a:off x="4895250" y="2380294"/>
            <a:ext cx="1772100" cy="221400"/>
          </a:xfrm>
          <a:prstGeom prst="rect">
            <a:avLst/>
          </a:prstGeom>
          <a:noFill/>
          <a:ln>
            <a:noFill/>
          </a:ln>
        </p:spPr>
        <p:txBody>
          <a:bodyPr spcFirstLastPara="1" wrap="square" lIns="0" tIns="0" rIns="0" bIns="0" anchor="t" anchorCtr="0">
            <a:noAutofit/>
          </a:bodyPr>
          <a:lstStyle/>
          <a:p>
            <a:pPr lvl="0">
              <a:lnSpc>
                <a:spcPct val="125000"/>
              </a:lnSpc>
              <a:buClr>
                <a:srgbClr val="404155"/>
              </a:buClr>
              <a:buSzPts val="1375"/>
            </a:pPr>
            <a:r>
              <a:rPr lang="en-US" sz="1375" b="1" dirty="0">
                <a:solidFill>
                  <a:srgbClr val="404155"/>
                </a:solidFill>
                <a:latin typeface="DM Sans"/>
                <a:ea typeface="DM Sans"/>
                <a:cs typeface="DM Sans"/>
                <a:sym typeface="DM Sans"/>
              </a:rPr>
              <a:t>Kibana</a:t>
            </a:r>
            <a:endParaRPr lang="en-US" sz="1375" b="1" dirty="0">
              <a:latin typeface="DM Sans"/>
              <a:ea typeface="DM Sans"/>
              <a:cs typeface="DM Sans"/>
              <a:sym typeface="DM Sans"/>
            </a:endParaRPr>
          </a:p>
        </p:txBody>
      </p:sp>
      <p:sp>
        <p:nvSpPr>
          <p:cNvPr id="33" name="Google Shape;92;p4">
            <a:extLst>
              <a:ext uri="{FF2B5EF4-FFF2-40B4-BE49-F238E27FC236}">
                <a16:creationId xmlns:a16="http://schemas.microsoft.com/office/drawing/2014/main" id="{E9F211B1-7D16-B011-CC6A-6B3E0E6CB396}"/>
              </a:ext>
            </a:extLst>
          </p:cNvPr>
          <p:cNvSpPr/>
          <p:nvPr/>
        </p:nvSpPr>
        <p:spPr>
          <a:xfrm>
            <a:off x="4895250" y="2686806"/>
            <a:ext cx="1772100" cy="907200"/>
          </a:xfrm>
          <a:prstGeom prst="rect">
            <a:avLst/>
          </a:prstGeom>
          <a:noFill/>
          <a:ln>
            <a:noFill/>
          </a:ln>
        </p:spPr>
        <p:txBody>
          <a:bodyPr spcFirstLastPara="1" wrap="square" lIns="0" tIns="0" rIns="0" bIns="0" anchor="t" anchorCtr="0">
            <a:noAutofit/>
          </a:bodyPr>
          <a:lstStyle/>
          <a:p>
            <a:pPr lvl="0">
              <a:lnSpc>
                <a:spcPct val="115000"/>
              </a:lnSpc>
              <a:buClr>
                <a:srgbClr val="404155"/>
              </a:buClr>
              <a:buSzPts val="1094"/>
            </a:pPr>
            <a:r>
              <a:rPr lang="en-US" sz="1093" dirty="0" err="1">
                <a:solidFill>
                  <a:srgbClr val="404155"/>
                </a:solidFill>
                <a:latin typeface="DM Sans"/>
                <a:ea typeface="DM Sans"/>
                <a:cs typeface="DM Sans"/>
                <a:sym typeface="DM Sans"/>
              </a:rPr>
              <a:t>Visualisation</a:t>
            </a:r>
            <a:r>
              <a:rPr lang="en-US" sz="1093" dirty="0">
                <a:solidFill>
                  <a:srgbClr val="404155"/>
                </a:solidFill>
                <a:latin typeface="DM Sans"/>
                <a:ea typeface="DM Sans"/>
                <a:cs typeface="DM Sans"/>
                <a:sym typeface="DM Sans"/>
              </a:rPr>
              <a:t> layer providing interactive dashboards, real-time monitoring, and powerful search capabilities.</a:t>
            </a:r>
            <a:endParaRPr lang="en-US" sz="1093" dirty="0">
              <a:latin typeface="DM Sans"/>
              <a:ea typeface="DM Sans"/>
              <a:cs typeface="DM Sans"/>
              <a:sym typeface="DM Sans"/>
            </a:endParaRPr>
          </a:p>
        </p:txBody>
      </p:sp>
      <p:sp>
        <p:nvSpPr>
          <p:cNvPr id="34" name="Google Shape;88;p4">
            <a:extLst>
              <a:ext uri="{FF2B5EF4-FFF2-40B4-BE49-F238E27FC236}">
                <a16:creationId xmlns:a16="http://schemas.microsoft.com/office/drawing/2014/main" id="{B8E3B7C6-48D8-E0F3-C7D7-C6A6CF94D675}"/>
              </a:ext>
            </a:extLst>
          </p:cNvPr>
          <p:cNvSpPr/>
          <p:nvPr/>
        </p:nvSpPr>
        <p:spPr>
          <a:xfrm>
            <a:off x="6917966" y="1794209"/>
            <a:ext cx="2093841" cy="1960800"/>
          </a:xfrm>
          <a:prstGeom prst="roundRect">
            <a:avLst>
              <a:gd name="adj" fmla="val 3037"/>
            </a:avLst>
          </a:prstGeom>
          <a:solidFill>
            <a:srgbClr val="FFF5F6"/>
          </a:solidFill>
          <a:ln w="19050" cap="flat" cmpd="sng">
            <a:solidFill>
              <a:srgbClr val="F4CCCC"/>
            </a:solidFill>
            <a:prstDash val="solid"/>
            <a:round/>
            <a:headEnd type="none" w="sm" len="sm"/>
            <a:tailEnd type="none" w="sm" len="sm"/>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35" name="Google Shape;89;p4">
            <a:extLst>
              <a:ext uri="{FF2B5EF4-FFF2-40B4-BE49-F238E27FC236}">
                <a16:creationId xmlns:a16="http://schemas.microsoft.com/office/drawing/2014/main" id="{604B10EE-87DB-85BC-CA18-9FE25AB3129E}"/>
              </a:ext>
            </a:extLst>
          </p:cNvPr>
          <p:cNvSpPr/>
          <p:nvPr/>
        </p:nvSpPr>
        <p:spPr>
          <a:xfrm>
            <a:off x="6961509" y="1813259"/>
            <a:ext cx="2013660" cy="425400"/>
          </a:xfrm>
          <a:prstGeom prst="roundRect">
            <a:avLst>
              <a:gd name="adj" fmla="val 8626"/>
            </a:avLst>
          </a:prstGeom>
          <a:solidFill>
            <a:schemeClr val="lt1"/>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dirty="0"/>
          </a:p>
        </p:txBody>
      </p:sp>
      <p:sp>
        <p:nvSpPr>
          <p:cNvPr id="37" name="Google Shape;91;p4">
            <a:extLst>
              <a:ext uri="{FF2B5EF4-FFF2-40B4-BE49-F238E27FC236}">
                <a16:creationId xmlns:a16="http://schemas.microsoft.com/office/drawing/2014/main" id="{15CED04E-2255-45DB-A608-1FB552BDD971}"/>
              </a:ext>
            </a:extLst>
          </p:cNvPr>
          <p:cNvSpPr/>
          <p:nvPr/>
        </p:nvSpPr>
        <p:spPr>
          <a:xfrm>
            <a:off x="7078775" y="2380294"/>
            <a:ext cx="1772100" cy="2214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404155"/>
              </a:buClr>
              <a:buSzPts val="1375"/>
              <a:buFont typeface="Corben"/>
              <a:buNone/>
            </a:pPr>
            <a:r>
              <a:rPr lang="en-US" sz="1375" b="1" i="0" u="none" strike="noStrike" cap="none" dirty="0">
                <a:solidFill>
                  <a:srgbClr val="404155"/>
                </a:solidFill>
                <a:latin typeface="DM Sans"/>
                <a:ea typeface="DM Sans"/>
                <a:cs typeface="DM Sans"/>
                <a:sym typeface="DM Sans"/>
              </a:rPr>
              <a:t>Filebeat</a:t>
            </a:r>
            <a:endParaRPr sz="1375" b="1" i="0" u="none" strike="noStrike" cap="none" dirty="0">
              <a:latin typeface="DM Sans"/>
              <a:ea typeface="DM Sans"/>
              <a:cs typeface="DM Sans"/>
              <a:sym typeface="DM Sans"/>
            </a:endParaRPr>
          </a:p>
        </p:txBody>
      </p:sp>
      <p:sp>
        <p:nvSpPr>
          <p:cNvPr id="38" name="Google Shape;92;p4">
            <a:extLst>
              <a:ext uri="{FF2B5EF4-FFF2-40B4-BE49-F238E27FC236}">
                <a16:creationId xmlns:a16="http://schemas.microsoft.com/office/drawing/2014/main" id="{7EFB9C1F-8AFC-87D5-6D97-7D839A317D64}"/>
              </a:ext>
            </a:extLst>
          </p:cNvPr>
          <p:cNvSpPr/>
          <p:nvPr/>
        </p:nvSpPr>
        <p:spPr>
          <a:xfrm>
            <a:off x="7078775" y="2686806"/>
            <a:ext cx="1772100" cy="9072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404155"/>
              </a:buClr>
              <a:buSzPts val="1094"/>
              <a:buFont typeface="Nobile"/>
              <a:buNone/>
            </a:pPr>
            <a:r>
              <a:rPr lang="en-US" sz="1093" i="0" u="none" strike="noStrike" cap="none" dirty="0">
                <a:solidFill>
                  <a:srgbClr val="404155"/>
                </a:solidFill>
                <a:latin typeface="DM Sans"/>
                <a:ea typeface="DM Sans"/>
                <a:cs typeface="DM Sans"/>
                <a:sym typeface="DM Sans"/>
              </a:rPr>
              <a:t>Lightweight log shipper that forwards the logs from the servers</a:t>
            </a:r>
            <a:endParaRPr sz="1093" i="0" u="none" strike="noStrike" cap="none" dirty="0">
              <a:latin typeface="DM Sans"/>
              <a:ea typeface="DM Sans"/>
              <a:cs typeface="DM Sans"/>
              <a:sym typeface="DM Sans"/>
            </a:endParaRPr>
          </a:p>
        </p:txBody>
      </p:sp>
      <p:pic>
        <p:nvPicPr>
          <p:cNvPr id="39" name="Google Shape;95;p4" descr="preencoded.png">
            <a:extLst>
              <a:ext uri="{FF2B5EF4-FFF2-40B4-BE49-F238E27FC236}">
                <a16:creationId xmlns:a16="http://schemas.microsoft.com/office/drawing/2014/main" id="{2587C450-0F4A-5700-0D67-00B87ECE018B}"/>
              </a:ext>
            </a:extLst>
          </p:cNvPr>
          <p:cNvPicPr preferRelativeResize="0"/>
          <p:nvPr/>
        </p:nvPicPr>
        <p:blipFill rotWithShape="1">
          <a:blip r:embed="rId4">
            <a:alphaModFix/>
          </a:blip>
          <a:srcRect/>
          <a:stretch/>
        </p:blipFill>
        <p:spPr>
          <a:xfrm>
            <a:off x="3316599" y="1871526"/>
            <a:ext cx="212601" cy="265807"/>
          </a:xfrm>
          <a:prstGeom prst="rect">
            <a:avLst/>
          </a:prstGeom>
          <a:noFill/>
          <a:ln>
            <a:noFill/>
          </a:ln>
        </p:spPr>
      </p:pic>
      <p:pic>
        <p:nvPicPr>
          <p:cNvPr id="40" name="Google Shape;100;p4" descr="preencoded.png">
            <a:extLst>
              <a:ext uri="{FF2B5EF4-FFF2-40B4-BE49-F238E27FC236}">
                <a16:creationId xmlns:a16="http://schemas.microsoft.com/office/drawing/2014/main" id="{42121D94-EDA6-6B80-072A-EC4314BF6870}"/>
              </a:ext>
            </a:extLst>
          </p:cNvPr>
          <p:cNvPicPr preferRelativeResize="0"/>
          <p:nvPr/>
        </p:nvPicPr>
        <p:blipFill rotWithShape="1">
          <a:blip r:embed="rId5">
            <a:alphaModFix/>
          </a:blip>
          <a:srcRect/>
          <a:stretch/>
        </p:blipFill>
        <p:spPr>
          <a:xfrm>
            <a:off x="5641384" y="1879782"/>
            <a:ext cx="212601" cy="265807"/>
          </a:xfrm>
          <a:prstGeom prst="rect">
            <a:avLst/>
          </a:prstGeom>
          <a:noFill/>
          <a:ln>
            <a:noFill/>
          </a:ln>
        </p:spPr>
      </p:pic>
      <p:pic>
        <p:nvPicPr>
          <p:cNvPr id="42" name="Graphic 41" descr="Acquisition with solid fill">
            <a:extLst>
              <a:ext uri="{FF2B5EF4-FFF2-40B4-BE49-F238E27FC236}">
                <a16:creationId xmlns:a16="http://schemas.microsoft.com/office/drawing/2014/main" id="{CE2AD739-1366-C93F-6AF3-BA36613430D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625443" y="1869364"/>
            <a:ext cx="329525" cy="329525"/>
          </a:xfrm>
          <a:prstGeom prst="rect">
            <a:avLst/>
          </a:prstGeom>
        </p:spPr>
      </p:pic>
    </p:spTree>
    <p:extLst>
      <p:ext uri="{BB962C8B-B14F-4D97-AF65-F5344CB8AC3E}">
        <p14:creationId xmlns:p14="http://schemas.microsoft.com/office/powerpoint/2010/main" val="8577760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33">
          <a:extLst>
            <a:ext uri="{FF2B5EF4-FFF2-40B4-BE49-F238E27FC236}">
              <a16:creationId xmlns:a16="http://schemas.microsoft.com/office/drawing/2014/main" id="{FB097AB6-34B2-A322-E9E7-6364687B0B1C}"/>
            </a:ext>
          </a:extLst>
        </p:cNvPr>
        <p:cNvGrpSpPr/>
        <p:nvPr/>
      </p:nvGrpSpPr>
      <p:grpSpPr>
        <a:xfrm>
          <a:off x="0" y="0"/>
          <a:ext cx="0" cy="0"/>
          <a:chOff x="0" y="0"/>
          <a:chExt cx="0" cy="0"/>
        </a:xfrm>
      </p:grpSpPr>
      <p:pic>
        <p:nvPicPr>
          <p:cNvPr id="10" name="Google Shape;112;p5" descr="preencoded.png">
            <a:extLst>
              <a:ext uri="{FF2B5EF4-FFF2-40B4-BE49-F238E27FC236}">
                <a16:creationId xmlns:a16="http://schemas.microsoft.com/office/drawing/2014/main" id="{A6F3A93A-DF3E-D0A4-768C-2FABB5B079AA}"/>
              </a:ext>
            </a:extLst>
          </p:cNvPr>
          <p:cNvPicPr preferRelativeResize="0"/>
          <p:nvPr/>
        </p:nvPicPr>
        <p:blipFill rotWithShape="1">
          <a:blip r:embed="rId3">
            <a:alphaModFix/>
          </a:blip>
          <a:srcRect/>
          <a:stretch/>
        </p:blipFill>
        <p:spPr>
          <a:xfrm>
            <a:off x="3884042" y="958899"/>
            <a:ext cx="650081" cy="957114"/>
          </a:xfrm>
          <a:prstGeom prst="rect">
            <a:avLst/>
          </a:prstGeom>
          <a:noFill/>
          <a:ln>
            <a:noFill/>
          </a:ln>
        </p:spPr>
      </p:pic>
      <p:sp>
        <p:nvSpPr>
          <p:cNvPr id="11" name="Google Shape;113;p5">
            <a:extLst>
              <a:ext uri="{FF2B5EF4-FFF2-40B4-BE49-F238E27FC236}">
                <a16:creationId xmlns:a16="http://schemas.microsoft.com/office/drawing/2014/main" id="{AE960F72-D95B-59BD-FF12-7FF16782A94E}"/>
              </a:ext>
            </a:extLst>
          </p:cNvPr>
          <p:cNvSpPr/>
          <p:nvPr/>
        </p:nvSpPr>
        <p:spPr>
          <a:xfrm>
            <a:off x="4664124" y="1088901"/>
            <a:ext cx="1625400" cy="203100"/>
          </a:xfrm>
          <a:prstGeom prst="rect">
            <a:avLst/>
          </a:prstGeom>
          <a:noFill/>
          <a:ln>
            <a:noFill/>
          </a:ln>
        </p:spPr>
        <p:txBody>
          <a:bodyPr spcFirstLastPara="1" wrap="square" lIns="0" tIns="0" rIns="0" bIns="0" anchor="t" anchorCtr="0">
            <a:noAutofit/>
          </a:bodyPr>
          <a:lstStyle/>
          <a:p>
            <a:pPr marL="0" marR="0" lvl="0" indent="0" algn="l" rtl="0">
              <a:lnSpc>
                <a:spcPct val="127500"/>
              </a:lnSpc>
              <a:spcBef>
                <a:spcPts val="0"/>
              </a:spcBef>
              <a:spcAft>
                <a:spcPts val="0"/>
              </a:spcAft>
              <a:buClr>
                <a:srgbClr val="404155"/>
              </a:buClr>
              <a:buSzPts val="1250"/>
              <a:buFont typeface="Corben"/>
              <a:buNone/>
            </a:pPr>
            <a:r>
              <a:rPr lang="en-US" sz="1250" b="1" i="0" u="none" strike="noStrike" cap="none">
                <a:solidFill>
                  <a:srgbClr val="404155"/>
                </a:solidFill>
                <a:latin typeface="DM Sans"/>
                <a:ea typeface="DM Sans"/>
                <a:cs typeface="DM Sans"/>
                <a:sym typeface="DM Sans"/>
              </a:rPr>
              <a:t>Log Generation</a:t>
            </a:r>
            <a:endParaRPr sz="1250" b="1" i="0" u="none" strike="noStrike" cap="none">
              <a:latin typeface="DM Sans"/>
              <a:ea typeface="DM Sans"/>
              <a:cs typeface="DM Sans"/>
              <a:sym typeface="DM Sans"/>
            </a:endParaRPr>
          </a:p>
        </p:txBody>
      </p:sp>
      <p:sp>
        <p:nvSpPr>
          <p:cNvPr id="12" name="Google Shape;114;p5">
            <a:extLst>
              <a:ext uri="{FF2B5EF4-FFF2-40B4-BE49-F238E27FC236}">
                <a16:creationId xmlns:a16="http://schemas.microsoft.com/office/drawing/2014/main" id="{1EF2C10F-7F19-56DC-7A57-11726BC1B79E}"/>
              </a:ext>
            </a:extLst>
          </p:cNvPr>
          <p:cNvSpPr/>
          <p:nvPr/>
        </p:nvSpPr>
        <p:spPr>
          <a:xfrm>
            <a:off x="4664124" y="1370038"/>
            <a:ext cx="4024800" cy="4161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404155"/>
              </a:buClr>
              <a:buSzPts val="1000"/>
              <a:buFont typeface="Nobile"/>
              <a:buNone/>
            </a:pPr>
            <a:r>
              <a:rPr lang="en-US" sz="1000" i="0" u="none" strike="noStrike" cap="none" dirty="0">
                <a:solidFill>
                  <a:srgbClr val="404155"/>
                </a:solidFill>
                <a:latin typeface="DM Sans"/>
                <a:ea typeface="DM Sans"/>
                <a:cs typeface="DM Sans"/>
                <a:sym typeface="DM Sans"/>
              </a:rPr>
              <a:t>Applications and services generate structured or unstructured log data across your infrastructure. </a:t>
            </a:r>
            <a:r>
              <a:rPr lang="en-US" sz="1000" b="1" i="0" u="none" strike="noStrike" cap="none" dirty="0">
                <a:solidFill>
                  <a:srgbClr val="404155"/>
                </a:solidFill>
                <a:latin typeface="DM Sans"/>
                <a:ea typeface="DM Sans"/>
                <a:cs typeface="DM Sans"/>
                <a:sym typeface="DM Sans"/>
              </a:rPr>
              <a:t>Filebeat</a:t>
            </a:r>
            <a:r>
              <a:rPr lang="en-US" sz="1000" i="0" u="none" strike="noStrike" cap="none" dirty="0">
                <a:solidFill>
                  <a:srgbClr val="404155"/>
                </a:solidFill>
                <a:latin typeface="DM Sans"/>
                <a:ea typeface="DM Sans"/>
                <a:cs typeface="DM Sans"/>
                <a:sym typeface="DM Sans"/>
              </a:rPr>
              <a:t> ships logs reliably.</a:t>
            </a:r>
            <a:endParaRPr sz="1000" i="0" u="none" strike="noStrike" cap="none" dirty="0">
              <a:latin typeface="DM Sans"/>
              <a:ea typeface="DM Sans"/>
              <a:cs typeface="DM Sans"/>
              <a:sym typeface="DM Sans"/>
            </a:endParaRPr>
          </a:p>
        </p:txBody>
      </p:sp>
      <p:pic>
        <p:nvPicPr>
          <p:cNvPr id="13" name="Google Shape;115;p5" descr="preencoded.png">
            <a:extLst>
              <a:ext uri="{FF2B5EF4-FFF2-40B4-BE49-F238E27FC236}">
                <a16:creationId xmlns:a16="http://schemas.microsoft.com/office/drawing/2014/main" id="{F41CC58A-7CF1-F2DE-E2D4-8903947E89F7}"/>
              </a:ext>
            </a:extLst>
          </p:cNvPr>
          <p:cNvPicPr preferRelativeResize="0"/>
          <p:nvPr/>
        </p:nvPicPr>
        <p:blipFill rotWithShape="1">
          <a:blip r:embed="rId4">
            <a:alphaModFix/>
          </a:blip>
          <a:srcRect/>
          <a:stretch/>
        </p:blipFill>
        <p:spPr>
          <a:xfrm>
            <a:off x="3884042" y="1916013"/>
            <a:ext cx="650081" cy="957114"/>
          </a:xfrm>
          <a:prstGeom prst="rect">
            <a:avLst/>
          </a:prstGeom>
          <a:noFill/>
          <a:ln>
            <a:noFill/>
          </a:ln>
        </p:spPr>
      </p:pic>
      <p:sp>
        <p:nvSpPr>
          <p:cNvPr id="14" name="Google Shape;116;p5">
            <a:extLst>
              <a:ext uri="{FF2B5EF4-FFF2-40B4-BE49-F238E27FC236}">
                <a16:creationId xmlns:a16="http://schemas.microsoft.com/office/drawing/2014/main" id="{99A2394D-429B-BA58-47B9-9E17DE69E9CB}"/>
              </a:ext>
            </a:extLst>
          </p:cNvPr>
          <p:cNvSpPr/>
          <p:nvPr/>
        </p:nvSpPr>
        <p:spPr>
          <a:xfrm>
            <a:off x="4664126" y="2046025"/>
            <a:ext cx="3232500" cy="203100"/>
          </a:xfrm>
          <a:prstGeom prst="rect">
            <a:avLst/>
          </a:prstGeom>
          <a:noFill/>
          <a:ln>
            <a:noFill/>
          </a:ln>
        </p:spPr>
        <p:txBody>
          <a:bodyPr spcFirstLastPara="1" wrap="square" lIns="0" tIns="0" rIns="0" bIns="0" anchor="t" anchorCtr="0">
            <a:noAutofit/>
          </a:bodyPr>
          <a:lstStyle/>
          <a:p>
            <a:pPr marL="0" marR="0" lvl="0" indent="0" algn="l" rtl="0">
              <a:lnSpc>
                <a:spcPct val="127500"/>
              </a:lnSpc>
              <a:spcBef>
                <a:spcPts val="0"/>
              </a:spcBef>
              <a:spcAft>
                <a:spcPts val="0"/>
              </a:spcAft>
              <a:buClr>
                <a:srgbClr val="404155"/>
              </a:buClr>
              <a:buSzPts val="1250"/>
              <a:buFont typeface="Corben"/>
              <a:buNone/>
            </a:pPr>
            <a:r>
              <a:rPr lang="en-US" sz="1250" b="1" i="0" u="none" strike="noStrike" cap="none">
                <a:solidFill>
                  <a:srgbClr val="404155"/>
                </a:solidFill>
                <a:latin typeface="DM Sans"/>
                <a:ea typeface="DM Sans"/>
                <a:cs typeface="DM Sans"/>
                <a:sym typeface="DM Sans"/>
              </a:rPr>
              <a:t>Collection &amp; Processing</a:t>
            </a:r>
            <a:endParaRPr sz="1250" b="1" i="0" u="none" strike="noStrike" cap="none">
              <a:latin typeface="DM Sans"/>
              <a:ea typeface="DM Sans"/>
              <a:cs typeface="DM Sans"/>
              <a:sym typeface="DM Sans"/>
            </a:endParaRPr>
          </a:p>
        </p:txBody>
      </p:sp>
      <p:sp>
        <p:nvSpPr>
          <p:cNvPr id="15" name="Google Shape;117;p5">
            <a:extLst>
              <a:ext uri="{FF2B5EF4-FFF2-40B4-BE49-F238E27FC236}">
                <a16:creationId xmlns:a16="http://schemas.microsoft.com/office/drawing/2014/main" id="{3DC271F8-21C6-2026-ADC4-4E45E682E60D}"/>
              </a:ext>
            </a:extLst>
          </p:cNvPr>
          <p:cNvSpPr/>
          <p:nvPr/>
        </p:nvSpPr>
        <p:spPr>
          <a:xfrm>
            <a:off x="4664124" y="2327151"/>
            <a:ext cx="4024800" cy="4161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404155"/>
              </a:buClr>
              <a:buSzPts val="1000"/>
              <a:buFont typeface="Nobile"/>
              <a:buNone/>
            </a:pPr>
            <a:r>
              <a:rPr lang="en-US" sz="1000" b="1" i="0" u="none" strike="noStrike" cap="none" dirty="0">
                <a:solidFill>
                  <a:srgbClr val="404155"/>
                </a:solidFill>
                <a:latin typeface="DM Sans"/>
                <a:ea typeface="DM Sans"/>
                <a:cs typeface="DM Sans"/>
                <a:sym typeface="DM Sans"/>
              </a:rPr>
              <a:t>Logstash</a:t>
            </a:r>
            <a:r>
              <a:rPr lang="en-US" sz="1000" i="0" u="none" strike="noStrike" cap="none" dirty="0">
                <a:solidFill>
                  <a:srgbClr val="404155"/>
                </a:solidFill>
                <a:latin typeface="DM Sans"/>
                <a:ea typeface="DM Sans"/>
                <a:cs typeface="DM Sans"/>
                <a:sym typeface="DM Sans"/>
              </a:rPr>
              <a:t> collects logs from multiple sources, parses content, filters noise and transforms data into a standardized format.</a:t>
            </a:r>
            <a:endParaRPr sz="1000" i="0" u="none" strike="noStrike" cap="none" dirty="0">
              <a:latin typeface="DM Sans"/>
              <a:ea typeface="DM Sans"/>
              <a:cs typeface="DM Sans"/>
              <a:sym typeface="DM Sans"/>
            </a:endParaRPr>
          </a:p>
        </p:txBody>
      </p:sp>
      <p:pic>
        <p:nvPicPr>
          <p:cNvPr id="16" name="Google Shape;118;p5" descr="preencoded.png">
            <a:extLst>
              <a:ext uri="{FF2B5EF4-FFF2-40B4-BE49-F238E27FC236}">
                <a16:creationId xmlns:a16="http://schemas.microsoft.com/office/drawing/2014/main" id="{41ED126C-94DA-C9D3-07D1-1B96EC68ED9F}"/>
              </a:ext>
            </a:extLst>
          </p:cNvPr>
          <p:cNvPicPr preferRelativeResize="0"/>
          <p:nvPr/>
        </p:nvPicPr>
        <p:blipFill rotWithShape="1">
          <a:blip r:embed="rId5">
            <a:alphaModFix/>
          </a:blip>
          <a:srcRect/>
          <a:stretch/>
        </p:blipFill>
        <p:spPr>
          <a:xfrm>
            <a:off x="3884042" y="2873127"/>
            <a:ext cx="650081" cy="957114"/>
          </a:xfrm>
          <a:prstGeom prst="rect">
            <a:avLst/>
          </a:prstGeom>
          <a:noFill/>
          <a:ln>
            <a:noFill/>
          </a:ln>
        </p:spPr>
      </p:pic>
      <p:sp>
        <p:nvSpPr>
          <p:cNvPr id="17" name="Google Shape;119;p5">
            <a:extLst>
              <a:ext uri="{FF2B5EF4-FFF2-40B4-BE49-F238E27FC236}">
                <a16:creationId xmlns:a16="http://schemas.microsoft.com/office/drawing/2014/main" id="{B9C7A123-8AB0-135B-96C1-941D82847590}"/>
              </a:ext>
            </a:extLst>
          </p:cNvPr>
          <p:cNvSpPr/>
          <p:nvPr/>
        </p:nvSpPr>
        <p:spPr>
          <a:xfrm>
            <a:off x="4664124" y="3003128"/>
            <a:ext cx="1625400" cy="203100"/>
          </a:xfrm>
          <a:prstGeom prst="rect">
            <a:avLst/>
          </a:prstGeom>
          <a:noFill/>
          <a:ln>
            <a:noFill/>
          </a:ln>
        </p:spPr>
        <p:txBody>
          <a:bodyPr spcFirstLastPara="1" wrap="square" lIns="0" tIns="0" rIns="0" bIns="0" anchor="t" anchorCtr="0">
            <a:noAutofit/>
          </a:bodyPr>
          <a:lstStyle/>
          <a:p>
            <a:pPr marL="0" marR="0" lvl="0" indent="0" algn="l" rtl="0">
              <a:lnSpc>
                <a:spcPct val="127500"/>
              </a:lnSpc>
              <a:spcBef>
                <a:spcPts val="0"/>
              </a:spcBef>
              <a:spcAft>
                <a:spcPts val="0"/>
              </a:spcAft>
              <a:buClr>
                <a:srgbClr val="404155"/>
              </a:buClr>
              <a:buSzPts val="1250"/>
              <a:buFont typeface="Corben"/>
              <a:buNone/>
            </a:pPr>
            <a:r>
              <a:rPr lang="en-US" sz="1250" b="1" i="0" u="none" strike="noStrike" cap="none">
                <a:solidFill>
                  <a:srgbClr val="404155"/>
                </a:solidFill>
                <a:latin typeface="DM Sans"/>
                <a:ea typeface="DM Sans"/>
                <a:cs typeface="DM Sans"/>
                <a:sym typeface="DM Sans"/>
              </a:rPr>
              <a:t>Indexing &amp; Storage</a:t>
            </a:r>
            <a:endParaRPr sz="1250" b="1" i="0" u="none" strike="noStrike" cap="none">
              <a:latin typeface="DM Sans"/>
              <a:ea typeface="DM Sans"/>
              <a:cs typeface="DM Sans"/>
              <a:sym typeface="DM Sans"/>
            </a:endParaRPr>
          </a:p>
        </p:txBody>
      </p:sp>
      <p:sp>
        <p:nvSpPr>
          <p:cNvPr id="18" name="Google Shape;120;p5">
            <a:extLst>
              <a:ext uri="{FF2B5EF4-FFF2-40B4-BE49-F238E27FC236}">
                <a16:creationId xmlns:a16="http://schemas.microsoft.com/office/drawing/2014/main" id="{B69EDCB2-FA44-C222-99E0-FF6EBA2A2CF2}"/>
              </a:ext>
            </a:extLst>
          </p:cNvPr>
          <p:cNvSpPr/>
          <p:nvPr/>
        </p:nvSpPr>
        <p:spPr>
          <a:xfrm>
            <a:off x="4664124" y="3284264"/>
            <a:ext cx="4024800" cy="4161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404155"/>
              </a:buClr>
              <a:buSzPts val="1000"/>
              <a:buFont typeface="Nobile"/>
              <a:buNone/>
            </a:pPr>
            <a:r>
              <a:rPr lang="en-US" sz="1000" b="1" i="0" u="none" strike="noStrike" cap="none" dirty="0">
                <a:solidFill>
                  <a:srgbClr val="404155"/>
                </a:solidFill>
                <a:latin typeface="DM Sans"/>
                <a:ea typeface="DM Sans"/>
                <a:cs typeface="DM Sans"/>
                <a:sym typeface="DM Sans"/>
              </a:rPr>
              <a:t>Elasticsearch</a:t>
            </a:r>
            <a:r>
              <a:rPr lang="en-US" sz="1000" i="0" u="none" strike="noStrike" cap="none" dirty="0">
                <a:solidFill>
                  <a:srgbClr val="404155"/>
                </a:solidFill>
                <a:latin typeface="DM Sans"/>
                <a:ea typeface="DM Sans"/>
                <a:cs typeface="DM Sans"/>
                <a:sym typeface="DM Sans"/>
              </a:rPr>
              <a:t> indexes processed logs and stores them in a distributed, scalable data store optimized for search.</a:t>
            </a:r>
            <a:endParaRPr sz="1000" i="0" u="none" strike="noStrike" cap="none" dirty="0">
              <a:latin typeface="DM Sans"/>
              <a:ea typeface="DM Sans"/>
              <a:cs typeface="DM Sans"/>
              <a:sym typeface="DM Sans"/>
            </a:endParaRPr>
          </a:p>
        </p:txBody>
      </p:sp>
      <p:pic>
        <p:nvPicPr>
          <p:cNvPr id="19" name="Google Shape;121;p5" descr="preencoded.png">
            <a:extLst>
              <a:ext uri="{FF2B5EF4-FFF2-40B4-BE49-F238E27FC236}">
                <a16:creationId xmlns:a16="http://schemas.microsoft.com/office/drawing/2014/main" id="{7EFCA8B3-2A69-3B9F-C644-6230A91236DD}"/>
              </a:ext>
            </a:extLst>
          </p:cNvPr>
          <p:cNvPicPr preferRelativeResize="0"/>
          <p:nvPr/>
        </p:nvPicPr>
        <p:blipFill rotWithShape="1">
          <a:blip r:embed="rId6">
            <a:alphaModFix/>
          </a:blip>
          <a:srcRect/>
          <a:stretch/>
        </p:blipFill>
        <p:spPr>
          <a:xfrm>
            <a:off x="3884042" y="3830241"/>
            <a:ext cx="650081" cy="957114"/>
          </a:xfrm>
          <a:prstGeom prst="rect">
            <a:avLst/>
          </a:prstGeom>
          <a:noFill/>
          <a:ln>
            <a:noFill/>
          </a:ln>
        </p:spPr>
      </p:pic>
      <p:sp>
        <p:nvSpPr>
          <p:cNvPr id="20" name="Google Shape;122;p5">
            <a:extLst>
              <a:ext uri="{FF2B5EF4-FFF2-40B4-BE49-F238E27FC236}">
                <a16:creationId xmlns:a16="http://schemas.microsoft.com/office/drawing/2014/main" id="{AED63654-D3C5-223E-D234-5F2DFAC07AE5}"/>
              </a:ext>
            </a:extLst>
          </p:cNvPr>
          <p:cNvSpPr/>
          <p:nvPr/>
        </p:nvSpPr>
        <p:spPr>
          <a:xfrm>
            <a:off x="4664124" y="3960242"/>
            <a:ext cx="1880400" cy="203100"/>
          </a:xfrm>
          <a:prstGeom prst="rect">
            <a:avLst/>
          </a:prstGeom>
          <a:noFill/>
          <a:ln>
            <a:noFill/>
          </a:ln>
        </p:spPr>
        <p:txBody>
          <a:bodyPr spcFirstLastPara="1" wrap="square" lIns="0" tIns="0" rIns="0" bIns="0" anchor="t" anchorCtr="0">
            <a:noAutofit/>
          </a:bodyPr>
          <a:lstStyle/>
          <a:p>
            <a:pPr marL="0" marR="0" lvl="0" indent="0" algn="l" rtl="0">
              <a:lnSpc>
                <a:spcPct val="127500"/>
              </a:lnSpc>
              <a:spcBef>
                <a:spcPts val="0"/>
              </a:spcBef>
              <a:spcAft>
                <a:spcPts val="0"/>
              </a:spcAft>
              <a:buClr>
                <a:srgbClr val="404155"/>
              </a:buClr>
              <a:buSzPts val="1250"/>
              <a:buFont typeface="Corben"/>
              <a:buNone/>
            </a:pPr>
            <a:r>
              <a:rPr lang="en-US" sz="1250" b="1" i="0" u="none" strike="noStrike" cap="none">
                <a:solidFill>
                  <a:srgbClr val="404155"/>
                </a:solidFill>
                <a:latin typeface="DM Sans"/>
                <a:ea typeface="DM Sans"/>
                <a:cs typeface="DM Sans"/>
                <a:sym typeface="DM Sans"/>
              </a:rPr>
              <a:t>Visualisation &amp; Analysis</a:t>
            </a:r>
            <a:endParaRPr sz="1250" b="1" i="0" u="none" strike="noStrike" cap="none">
              <a:latin typeface="DM Sans"/>
              <a:ea typeface="DM Sans"/>
              <a:cs typeface="DM Sans"/>
              <a:sym typeface="DM Sans"/>
            </a:endParaRPr>
          </a:p>
        </p:txBody>
      </p:sp>
      <p:sp>
        <p:nvSpPr>
          <p:cNvPr id="21" name="Google Shape;123;p5">
            <a:extLst>
              <a:ext uri="{FF2B5EF4-FFF2-40B4-BE49-F238E27FC236}">
                <a16:creationId xmlns:a16="http://schemas.microsoft.com/office/drawing/2014/main" id="{9E124034-FE82-B74F-21CC-94773EB939F2}"/>
              </a:ext>
            </a:extLst>
          </p:cNvPr>
          <p:cNvSpPr/>
          <p:nvPr/>
        </p:nvSpPr>
        <p:spPr>
          <a:xfrm>
            <a:off x="4664124" y="4241378"/>
            <a:ext cx="4024800" cy="4161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404155"/>
              </a:buClr>
              <a:buSzPts val="1000"/>
              <a:buFont typeface="Nobile"/>
              <a:buNone/>
            </a:pPr>
            <a:r>
              <a:rPr lang="en-US" sz="1000" b="1" i="0" u="none" strike="noStrike" cap="none" dirty="0">
                <a:solidFill>
                  <a:srgbClr val="404155"/>
                </a:solidFill>
                <a:latin typeface="DM Sans"/>
                <a:ea typeface="DM Sans"/>
                <a:cs typeface="DM Sans"/>
                <a:sym typeface="DM Sans"/>
              </a:rPr>
              <a:t>Kibana</a:t>
            </a:r>
            <a:r>
              <a:rPr lang="en-US" sz="1000" i="0" u="none" strike="noStrike" cap="none" dirty="0">
                <a:solidFill>
                  <a:srgbClr val="404155"/>
                </a:solidFill>
                <a:latin typeface="DM Sans"/>
                <a:ea typeface="DM Sans"/>
                <a:cs typeface="DM Sans"/>
                <a:sym typeface="DM Sans"/>
              </a:rPr>
              <a:t> provides real-time dashboards, custom queries, and drill-down capabilities for rapid troubleshooting.</a:t>
            </a:r>
            <a:endParaRPr sz="1000" i="0" u="none" strike="noStrike" cap="none" dirty="0">
              <a:latin typeface="DM Sans"/>
              <a:ea typeface="DM Sans"/>
              <a:cs typeface="DM Sans"/>
              <a:sym typeface="DM Sans"/>
            </a:endParaRPr>
          </a:p>
        </p:txBody>
      </p:sp>
      <p:sp>
        <p:nvSpPr>
          <p:cNvPr id="23" name="Google Shape;125;p5">
            <a:extLst>
              <a:ext uri="{FF2B5EF4-FFF2-40B4-BE49-F238E27FC236}">
                <a16:creationId xmlns:a16="http://schemas.microsoft.com/office/drawing/2014/main" id="{1AD2734D-89AA-52D5-4BC0-BCBE30A3D295}"/>
              </a:ext>
            </a:extLst>
          </p:cNvPr>
          <p:cNvSpPr/>
          <p:nvPr/>
        </p:nvSpPr>
        <p:spPr>
          <a:xfrm>
            <a:off x="326775" y="326750"/>
            <a:ext cx="6360000" cy="402600"/>
          </a:xfrm>
          <a:prstGeom prst="rect">
            <a:avLst/>
          </a:prstGeom>
          <a:noFill/>
          <a:ln>
            <a:noFill/>
          </a:ln>
        </p:spPr>
        <p:txBody>
          <a:bodyPr spcFirstLastPara="1" wrap="square" lIns="0" tIns="0" rIns="0" bIns="0" anchor="t" anchorCtr="0">
            <a:noAutofit/>
          </a:bodyPr>
          <a:lstStyle/>
          <a:p>
            <a:pPr marL="0" marR="0" lvl="0" indent="0" algn="l" rtl="0">
              <a:lnSpc>
                <a:spcPct val="124691"/>
              </a:lnSpc>
              <a:spcBef>
                <a:spcPts val="0"/>
              </a:spcBef>
              <a:spcAft>
                <a:spcPts val="0"/>
              </a:spcAft>
              <a:buClr>
                <a:srgbClr val="1B1B27"/>
              </a:buClr>
              <a:buSzPts val="2531"/>
              <a:buFont typeface="Corben"/>
              <a:buNone/>
            </a:pPr>
            <a:r>
              <a:rPr lang="en-US" sz="2531" b="1" dirty="0">
                <a:solidFill>
                  <a:srgbClr val="1B1B27"/>
                </a:solidFill>
                <a:latin typeface="DM Sans"/>
                <a:ea typeface="DM Sans"/>
                <a:cs typeface="DM Sans"/>
                <a:sym typeface="DM Sans"/>
              </a:rPr>
              <a:t>How Elastic Stack Works</a:t>
            </a:r>
            <a:endParaRPr sz="2531" b="1" dirty="0">
              <a:solidFill>
                <a:srgbClr val="1B1B27"/>
              </a:solidFill>
              <a:latin typeface="DM Sans"/>
              <a:ea typeface="DM Sans"/>
              <a:cs typeface="DM Sans"/>
              <a:sym typeface="DM Sans"/>
            </a:endParaRPr>
          </a:p>
        </p:txBody>
      </p:sp>
      <p:pic>
        <p:nvPicPr>
          <p:cNvPr id="26" name="Picture 25">
            <a:extLst>
              <a:ext uri="{FF2B5EF4-FFF2-40B4-BE49-F238E27FC236}">
                <a16:creationId xmlns:a16="http://schemas.microsoft.com/office/drawing/2014/main" id="{6A73A47D-E2D8-74F8-C407-21C2534C2E12}"/>
              </a:ext>
            </a:extLst>
          </p:cNvPr>
          <p:cNvPicPr>
            <a:picLocks noChangeAspect="1"/>
          </p:cNvPicPr>
          <p:nvPr/>
        </p:nvPicPr>
        <p:blipFill>
          <a:blip r:embed="rId7">
            <a:alphaModFix/>
          </a:blip>
          <a:stretch>
            <a:fillRect/>
          </a:stretch>
        </p:blipFill>
        <p:spPr>
          <a:xfrm>
            <a:off x="179613" y="1540159"/>
            <a:ext cx="3478387" cy="2290082"/>
          </a:xfrm>
          <a:prstGeom prst="rect">
            <a:avLst/>
          </a:prstGeom>
        </p:spPr>
      </p:pic>
    </p:spTree>
    <p:extLst>
      <p:ext uri="{BB962C8B-B14F-4D97-AF65-F5344CB8AC3E}">
        <p14:creationId xmlns:p14="http://schemas.microsoft.com/office/powerpoint/2010/main" val="41218176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33">
          <a:extLst>
            <a:ext uri="{FF2B5EF4-FFF2-40B4-BE49-F238E27FC236}">
              <a16:creationId xmlns:a16="http://schemas.microsoft.com/office/drawing/2014/main" id="{29565842-670A-084A-70F2-F79495E5210E}"/>
            </a:ext>
          </a:extLst>
        </p:cNvPr>
        <p:cNvGrpSpPr/>
        <p:nvPr/>
      </p:nvGrpSpPr>
      <p:grpSpPr>
        <a:xfrm>
          <a:off x="0" y="0"/>
          <a:ext cx="0" cy="0"/>
          <a:chOff x="0" y="0"/>
          <a:chExt cx="0" cy="0"/>
        </a:xfrm>
      </p:grpSpPr>
      <p:sp>
        <p:nvSpPr>
          <p:cNvPr id="7" name="Google Shape;132;p6">
            <a:extLst>
              <a:ext uri="{FF2B5EF4-FFF2-40B4-BE49-F238E27FC236}">
                <a16:creationId xmlns:a16="http://schemas.microsoft.com/office/drawing/2014/main" id="{1631F849-6C7B-7615-9E41-2261EB7FCD93}"/>
              </a:ext>
            </a:extLst>
          </p:cNvPr>
          <p:cNvSpPr/>
          <p:nvPr/>
        </p:nvSpPr>
        <p:spPr>
          <a:xfrm>
            <a:off x="4275608" y="1269098"/>
            <a:ext cx="3019800" cy="2022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1B1B27"/>
              </a:buClr>
              <a:buSzPts val="1250"/>
              <a:buFont typeface="Corben"/>
              <a:buNone/>
            </a:pPr>
            <a:r>
              <a:rPr lang="en-US" sz="1250" b="1" i="0" u="none" strike="noStrike" cap="none" dirty="0">
                <a:solidFill>
                  <a:srgbClr val="1B1B27"/>
                </a:solidFill>
                <a:latin typeface="DM Sans"/>
                <a:ea typeface="DM Sans"/>
                <a:cs typeface="DM Sans"/>
                <a:sym typeface="DM Sans"/>
              </a:rPr>
              <a:t>Efficient Log Collection</a:t>
            </a:r>
            <a:endParaRPr sz="1250" b="1" i="0" u="none" strike="noStrike" cap="none" dirty="0">
              <a:latin typeface="DM Sans"/>
              <a:ea typeface="DM Sans"/>
              <a:cs typeface="DM Sans"/>
              <a:sym typeface="DM Sans"/>
            </a:endParaRPr>
          </a:p>
        </p:txBody>
      </p:sp>
      <p:sp>
        <p:nvSpPr>
          <p:cNvPr id="8" name="Google Shape;133;p6">
            <a:extLst>
              <a:ext uri="{FF2B5EF4-FFF2-40B4-BE49-F238E27FC236}">
                <a16:creationId xmlns:a16="http://schemas.microsoft.com/office/drawing/2014/main" id="{C323CFBE-1D48-BA28-E490-FEDA85B3E0F5}"/>
              </a:ext>
            </a:extLst>
          </p:cNvPr>
          <p:cNvSpPr/>
          <p:nvPr/>
        </p:nvSpPr>
        <p:spPr>
          <a:xfrm>
            <a:off x="4275608" y="1568710"/>
            <a:ext cx="4582641" cy="430515"/>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404155"/>
              </a:buClr>
              <a:buSzPts val="844"/>
              <a:buFont typeface="Nobile"/>
              <a:buNone/>
            </a:pPr>
            <a:r>
              <a:rPr lang="en-US" sz="843" i="0" u="none" strike="noStrike" cap="none" dirty="0">
                <a:solidFill>
                  <a:srgbClr val="404155"/>
                </a:solidFill>
                <a:latin typeface="DM Sans"/>
                <a:ea typeface="DM Sans"/>
                <a:cs typeface="DM Sans"/>
                <a:sym typeface="DM Sans"/>
              </a:rPr>
              <a:t>Filebeat monitors log files and directories on your servers, tracking file positions and handling log rotation automatically. Minimal resource footprint (~10-50MB RAM) makes it ideal for deployment on every server.</a:t>
            </a:r>
            <a:endParaRPr sz="843" i="0" u="none" strike="noStrike" cap="none" dirty="0">
              <a:latin typeface="DM Sans"/>
              <a:ea typeface="DM Sans"/>
              <a:cs typeface="DM Sans"/>
              <a:sym typeface="DM Sans"/>
            </a:endParaRPr>
          </a:p>
        </p:txBody>
      </p:sp>
      <p:sp>
        <p:nvSpPr>
          <p:cNvPr id="9" name="Google Shape;134;p6">
            <a:extLst>
              <a:ext uri="{FF2B5EF4-FFF2-40B4-BE49-F238E27FC236}">
                <a16:creationId xmlns:a16="http://schemas.microsoft.com/office/drawing/2014/main" id="{3F5B6D18-FE88-58C0-23AD-E8BE0F025553}"/>
              </a:ext>
            </a:extLst>
          </p:cNvPr>
          <p:cNvSpPr/>
          <p:nvPr/>
        </p:nvSpPr>
        <p:spPr>
          <a:xfrm>
            <a:off x="4275608" y="2201563"/>
            <a:ext cx="2345627" cy="266784"/>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1B1B27"/>
              </a:buClr>
              <a:buSzPts val="1250"/>
              <a:buFont typeface="Corben"/>
              <a:buNone/>
            </a:pPr>
            <a:r>
              <a:rPr lang="en-US" sz="1250" b="1" i="0" u="none" strike="noStrike" cap="none" dirty="0">
                <a:solidFill>
                  <a:srgbClr val="1B1B27"/>
                </a:solidFill>
                <a:latin typeface="DM Sans"/>
                <a:ea typeface="DM Sans"/>
                <a:cs typeface="DM Sans"/>
                <a:sym typeface="DM Sans"/>
              </a:rPr>
              <a:t>Reliable Data Delivery</a:t>
            </a:r>
            <a:endParaRPr sz="1250" b="1" i="0" u="none" strike="noStrike" cap="none" dirty="0">
              <a:latin typeface="DM Sans"/>
              <a:ea typeface="DM Sans"/>
              <a:cs typeface="DM Sans"/>
              <a:sym typeface="DM Sans"/>
            </a:endParaRPr>
          </a:p>
        </p:txBody>
      </p:sp>
      <p:sp>
        <p:nvSpPr>
          <p:cNvPr id="10" name="Google Shape;135;p6">
            <a:extLst>
              <a:ext uri="{FF2B5EF4-FFF2-40B4-BE49-F238E27FC236}">
                <a16:creationId xmlns:a16="http://schemas.microsoft.com/office/drawing/2014/main" id="{0AF2FF11-6E8E-1076-5028-61DCE545B8BB}"/>
              </a:ext>
            </a:extLst>
          </p:cNvPr>
          <p:cNvSpPr/>
          <p:nvPr/>
        </p:nvSpPr>
        <p:spPr>
          <a:xfrm>
            <a:off x="4275609" y="2511422"/>
            <a:ext cx="4495800" cy="452735"/>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404155"/>
              </a:buClr>
              <a:buSzPts val="844"/>
              <a:buFont typeface="Nobile"/>
              <a:buNone/>
            </a:pPr>
            <a:r>
              <a:rPr lang="en-US" sz="843" i="0" u="none" strike="noStrike" cap="none" dirty="0">
                <a:solidFill>
                  <a:srgbClr val="404155"/>
                </a:solidFill>
                <a:latin typeface="DM Sans"/>
                <a:ea typeface="DM Sans"/>
                <a:cs typeface="DM Sans"/>
                <a:sym typeface="DM Sans"/>
              </a:rPr>
              <a:t>Built-in backpressure handling ensures logs aren't lost when downstream systems are busy. Filebeat remembers its position in files, resuming seamlessly after crashes or restarts without data loss. It can ship the logs to Logstash or directly to </a:t>
            </a:r>
            <a:r>
              <a:rPr lang="en-US" sz="843" i="0" u="none" strike="noStrike" cap="none" dirty="0" err="1">
                <a:solidFill>
                  <a:srgbClr val="404155"/>
                </a:solidFill>
                <a:latin typeface="DM Sans"/>
                <a:ea typeface="DM Sans"/>
                <a:cs typeface="DM Sans"/>
                <a:sym typeface="DM Sans"/>
              </a:rPr>
              <a:t>ElasticSearch</a:t>
            </a:r>
            <a:r>
              <a:rPr lang="en-US" sz="843" i="0" u="none" strike="noStrike" cap="none" dirty="0">
                <a:solidFill>
                  <a:srgbClr val="404155"/>
                </a:solidFill>
                <a:latin typeface="DM Sans"/>
                <a:ea typeface="DM Sans"/>
                <a:cs typeface="DM Sans"/>
                <a:sym typeface="DM Sans"/>
              </a:rPr>
              <a:t>.</a:t>
            </a:r>
            <a:endParaRPr sz="843" i="0" u="none" strike="noStrike" cap="none" dirty="0">
              <a:latin typeface="DM Sans"/>
              <a:ea typeface="DM Sans"/>
              <a:cs typeface="DM Sans"/>
              <a:sym typeface="DM Sans"/>
            </a:endParaRPr>
          </a:p>
        </p:txBody>
      </p:sp>
      <p:sp>
        <p:nvSpPr>
          <p:cNvPr id="11" name="Google Shape;136;p6">
            <a:extLst>
              <a:ext uri="{FF2B5EF4-FFF2-40B4-BE49-F238E27FC236}">
                <a16:creationId xmlns:a16="http://schemas.microsoft.com/office/drawing/2014/main" id="{6BAEF73E-4694-C3A0-CC45-690A3CE7C76F}"/>
              </a:ext>
            </a:extLst>
          </p:cNvPr>
          <p:cNvSpPr/>
          <p:nvPr/>
        </p:nvSpPr>
        <p:spPr>
          <a:xfrm>
            <a:off x="4275609" y="3094787"/>
            <a:ext cx="1617000" cy="2022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1B1B27"/>
              </a:buClr>
              <a:buSzPts val="1250"/>
              <a:buFont typeface="Corben"/>
              <a:buNone/>
            </a:pPr>
            <a:r>
              <a:rPr lang="en-US" sz="1250" b="1" i="0" u="none" strike="noStrike" cap="none">
                <a:solidFill>
                  <a:srgbClr val="1B1B27"/>
                </a:solidFill>
                <a:latin typeface="DM Sans"/>
                <a:ea typeface="DM Sans"/>
                <a:cs typeface="DM Sans"/>
                <a:sym typeface="DM Sans"/>
              </a:rPr>
              <a:t>Data Enrichment</a:t>
            </a:r>
            <a:endParaRPr sz="1250" b="1" i="0" u="none" strike="noStrike" cap="none">
              <a:latin typeface="DM Sans"/>
              <a:ea typeface="DM Sans"/>
              <a:cs typeface="DM Sans"/>
              <a:sym typeface="DM Sans"/>
            </a:endParaRPr>
          </a:p>
        </p:txBody>
      </p:sp>
      <p:sp>
        <p:nvSpPr>
          <p:cNvPr id="12" name="Google Shape;137;p6">
            <a:extLst>
              <a:ext uri="{FF2B5EF4-FFF2-40B4-BE49-F238E27FC236}">
                <a16:creationId xmlns:a16="http://schemas.microsoft.com/office/drawing/2014/main" id="{C01CA600-CBD3-79D3-AA93-D3A4BF731E9D}"/>
              </a:ext>
            </a:extLst>
          </p:cNvPr>
          <p:cNvSpPr/>
          <p:nvPr/>
        </p:nvSpPr>
        <p:spPr>
          <a:xfrm>
            <a:off x="4275609" y="3404647"/>
            <a:ext cx="4495800" cy="3450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404155"/>
              </a:buClr>
              <a:buSzPts val="844"/>
              <a:buFont typeface="Nobile"/>
              <a:buNone/>
            </a:pPr>
            <a:r>
              <a:rPr lang="en-US" sz="843" i="0" u="none" strike="noStrike" cap="none" dirty="0">
                <a:solidFill>
                  <a:srgbClr val="404155"/>
                </a:solidFill>
                <a:latin typeface="DM Sans"/>
                <a:ea typeface="DM Sans"/>
                <a:cs typeface="DM Sans"/>
                <a:sym typeface="DM Sans"/>
              </a:rPr>
              <a:t>Filter and transform raw data before indexing – add geolocation data, mask sensitive information, or drop irrelevant events.</a:t>
            </a:r>
            <a:endParaRPr sz="843" i="0" u="none" strike="noStrike" cap="none" dirty="0">
              <a:latin typeface="DM Sans"/>
              <a:ea typeface="DM Sans"/>
              <a:cs typeface="DM Sans"/>
              <a:sym typeface="DM Sans"/>
            </a:endParaRPr>
          </a:p>
        </p:txBody>
      </p:sp>
      <p:sp>
        <p:nvSpPr>
          <p:cNvPr id="15" name="Google Shape;140;p6">
            <a:extLst>
              <a:ext uri="{FF2B5EF4-FFF2-40B4-BE49-F238E27FC236}">
                <a16:creationId xmlns:a16="http://schemas.microsoft.com/office/drawing/2014/main" id="{8B616EDE-1B46-8FA0-B262-A6BFD2876430}"/>
              </a:ext>
            </a:extLst>
          </p:cNvPr>
          <p:cNvSpPr/>
          <p:nvPr/>
        </p:nvSpPr>
        <p:spPr>
          <a:xfrm>
            <a:off x="727472" y="4559378"/>
            <a:ext cx="7931400" cy="452735"/>
          </a:xfrm>
          <a:prstGeom prst="rect">
            <a:avLst/>
          </a:prstGeom>
          <a:noFill/>
          <a:ln>
            <a:noFill/>
          </a:ln>
        </p:spPr>
        <p:txBody>
          <a:bodyPr spcFirstLastPara="1" wrap="square" lIns="0" tIns="0" rIns="0" bIns="0" anchor="t" anchorCtr="0">
            <a:noAutofit/>
          </a:bodyPr>
          <a:lstStyle/>
          <a:p>
            <a:pPr marL="0" marR="0" lvl="0" indent="0" algn="l" rtl="0">
              <a:lnSpc>
                <a:spcPct val="159259"/>
              </a:lnSpc>
              <a:spcBef>
                <a:spcPts val="0"/>
              </a:spcBef>
              <a:spcAft>
                <a:spcPts val="0"/>
              </a:spcAft>
              <a:buClr>
                <a:srgbClr val="000000"/>
              </a:buClr>
              <a:buSzPts val="844"/>
              <a:buFont typeface="Nobile"/>
              <a:buNone/>
            </a:pPr>
            <a:r>
              <a:rPr lang="en-US" sz="843" b="1" i="0" u="none" strike="noStrike" cap="none" dirty="0">
                <a:solidFill>
                  <a:srgbClr val="000000"/>
                </a:solidFill>
                <a:latin typeface="DM Sans"/>
                <a:ea typeface="DM Sans"/>
                <a:cs typeface="DM Sans"/>
                <a:sym typeface="DM Sans"/>
              </a:rPr>
              <a:t>Example:</a:t>
            </a:r>
            <a:r>
              <a:rPr lang="en-US" sz="843" i="0" u="none" strike="noStrike" cap="none" dirty="0">
                <a:solidFill>
                  <a:srgbClr val="000000"/>
                </a:solidFill>
                <a:latin typeface="DM Sans"/>
                <a:ea typeface="DM Sans"/>
                <a:cs typeface="DM Sans"/>
                <a:sym typeface="DM Sans"/>
              </a:rPr>
              <a:t> Deploy Filebeat on 100 web servers to collect Nginx access logs. Each Filebeat instance ships logs to a central Logstash server, using only 15MB of memory while processing thousands of requests per second.</a:t>
            </a:r>
            <a:endParaRPr sz="843" i="0" u="none" strike="noStrike" cap="none" dirty="0">
              <a:latin typeface="DM Sans"/>
              <a:ea typeface="DM Sans"/>
              <a:cs typeface="DM Sans"/>
              <a:sym typeface="DM Sans"/>
            </a:endParaRPr>
          </a:p>
        </p:txBody>
      </p:sp>
      <p:sp>
        <p:nvSpPr>
          <p:cNvPr id="17" name="Google Shape;142;p6">
            <a:extLst>
              <a:ext uri="{FF2B5EF4-FFF2-40B4-BE49-F238E27FC236}">
                <a16:creationId xmlns:a16="http://schemas.microsoft.com/office/drawing/2014/main" id="{B4C231C8-D923-4ADD-E57F-0DE8A5F98645}"/>
              </a:ext>
            </a:extLst>
          </p:cNvPr>
          <p:cNvSpPr/>
          <p:nvPr/>
        </p:nvSpPr>
        <p:spPr>
          <a:xfrm>
            <a:off x="326775" y="326750"/>
            <a:ext cx="6360000" cy="402600"/>
          </a:xfrm>
          <a:prstGeom prst="rect">
            <a:avLst/>
          </a:prstGeom>
          <a:noFill/>
          <a:ln>
            <a:noFill/>
          </a:ln>
        </p:spPr>
        <p:txBody>
          <a:bodyPr spcFirstLastPara="1" wrap="square" lIns="0" tIns="0" rIns="0" bIns="0" anchor="t" anchorCtr="0">
            <a:noAutofit/>
          </a:bodyPr>
          <a:lstStyle/>
          <a:p>
            <a:pPr marL="0" marR="0" lvl="0" indent="0" algn="l" rtl="0">
              <a:lnSpc>
                <a:spcPct val="124691"/>
              </a:lnSpc>
              <a:spcBef>
                <a:spcPts val="0"/>
              </a:spcBef>
              <a:spcAft>
                <a:spcPts val="0"/>
              </a:spcAft>
              <a:buClr>
                <a:srgbClr val="1B1B27"/>
              </a:buClr>
              <a:buSzPts val="2531"/>
              <a:buFont typeface="Corben"/>
              <a:buNone/>
            </a:pPr>
            <a:r>
              <a:rPr lang="en-US" sz="2531" b="1" dirty="0">
                <a:solidFill>
                  <a:srgbClr val="1B1B27"/>
                </a:solidFill>
                <a:latin typeface="DM Sans"/>
                <a:ea typeface="DM Sans"/>
                <a:cs typeface="DM Sans"/>
                <a:sym typeface="DM Sans"/>
              </a:rPr>
              <a:t>Filebeat: The Lightweight Shipper</a:t>
            </a:r>
            <a:endParaRPr sz="2531" b="1" dirty="0">
              <a:solidFill>
                <a:srgbClr val="1B1B27"/>
              </a:solidFill>
              <a:latin typeface="DM Sans"/>
              <a:ea typeface="DM Sans"/>
              <a:cs typeface="DM Sans"/>
              <a:sym typeface="DM Sans"/>
            </a:endParaRPr>
          </a:p>
        </p:txBody>
      </p:sp>
      <p:pic>
        <p:nvPicPr>
          <p:cNvPr id="2050" name="Picture 2" descr="Filebeat 8.8.0 error loading template: failed to put data stream: could not  put data stream: 400 Bad Request - Beats - Discuss the Elastic Stack">
            <a:extLst>
              <a:ext uri="{FF2B5EF4-FFF2-40B4-BE49-F238E27FC236}">
                <a16:creationId xmlns:a16="http://schemas.microsoft.com/office/drawing/2014/main" id="{55205A78-0FED-6CA3-EB7E-1E4D040DFB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2591" y="1422282"/>
            <a:ext cx="3414267" cy="20613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77819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33">
          <a:extLst>
            <a:ext uri="{FF2B5EF4-FFF2-40B4-BE49-F238E27FC236}">
              <a16:creationId xmlns:a16="http://schemas.microsoft.com/office/drawing/2014/main" id="{0EC22DD9-EC08-9183-FB88-5E11C5EA440D}"/>
            </a:ext>
          </a:extLst>
        </p:cNvPr>
        <p:cNvGrpSpPr/>
        <p:nvPr/>
      </p:nvGrpSpPr>
      <p:grpSpPr>
        <a:xfrm>
          <a:off x="0" y="0"/>
          <a:ext cx="0" cy="0"/>
          <a:chOff x="0" y="0"/>
          <a:chExt cx="0" cy="0"/>
        </a:xfrm>
      </p:grpSpPr>
      <p:pic>
        <p:nvPicPr>
          <p:cNvPr id="6" name="Google Shape;131;p6" descr="preencoded.png">
            <a:extLst>
              <a:ext uri="{FF2B5EF4-FFF2-40B4-BE49-F238E27FC236}">
                <a16:creationId xmlns:a16="http://schemas.microsoft.com/office/drawing/2014/main" id="{FF8A0919-2E0A-4A0A-1DFB-2146CFB0E1CE}"/>
              </a:ext>
            </a:extLst>
          </p:cNvPr>
          <p:cNvPicPr preferRelativeResize="0"/>
          <p:nvPr/>
        </p:nvPicPr>
        <p:blipFill rotWithShape="1">
          <a:blip r:embed="rId3">
            <a:alphaModFix/>
          </a:blip>
          <a:srcRect/>
          <a:stretch/>
        </p:blipFill>
        <p:spPr>
          <a:xfrm>
            <a:off x="377279" y="916186"/>
            <a:ext cx="3630587" cy="3630587"/>
          </a:xfrm>
          <a:prstGeom prst="rect">
            <a:avLst/>
          </a:prstGeom>
          <a:noFill/>
          <a:ln>
            <a:noFill/>
          </a:ln>
        </p:spPr>
      </p:pic>
      <p:sp>
        <p:nvSpPr>
          <p:cNvPr id="7" name="Google Shape;132;p6">
            <a:extLst>
              <a:ext uri="{FF2B5EF4-FFF2-40B4-BE49-F238E27FC236}">
                <a16:creationId xmlns:a16="http://schemas.microsoft.com/office/drawing/2014/main" id="{5859EEEB-600C-C17C-A7CB-220F8A5832DD}"/>
              </a:ext>
            </a:extLst>
          </p:cNvPr>
          <p:cNvSpPr/>
          <p:nvPr/>
        </p:nvSpPr>
        <p:spPr>
          <a:xfrm>
            <a:off x="4275594" y="1438975"/>
            <a:ext cx="3019800" cy="2022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1B1B27"/>
              </a:buClr>
              <a:buSzPts val="1250"/>
              <a:buFont typeface="Corben"/>
              <a:buNone/>
            </a:pPr>
            <a:r>
              <a:rPr lang="en-US" sz="1250" b="1" i="0" u="none" strike="noStrike" cap="none">
                <a:solidFill>
                  <a:srgbClr val="1B1B27"/>
                </a:solidFill>
                <a:latin typeface="DM Sans"/>
                <a:ea typeface="DM Sans"/>
                <a:cs typeface="DM Sans"/>
                <a:sym typeface="DM Sans"/>
              </a:rPr>
              <a:t>Flexible Data Collection</a:t>
            </a:r>
            <a:endParaRPr sz="1250" b="1" i="0" u="none" strike="noStrike" cap="none">
              <a:latin typeface="DM Sans"/>
              <a:ea typeface="DM Sans"/>
              <a:cs typeface="DM Sans"/>
              <a:sym typeface="DM Sans"/>
            </a:endParaRPr>
          </a:p>
        </p:txBody>
      </p:sp>
      <p:sp>
        <p:nvSpPr>
          <p:cNvPr id="8" name="Google Shape;133;p6">
            <a:extLst>
              <a:ext uri="{FF2B5EF4-FFF2-40B4-BE49-F238E27FC236}">
                <a16:creationId xmlns:a16="http://schemas.microsoft.com/office/drawing/2014/main" id="{38390079-5A60-8AE9-3396-32079A6FA4EC}"/>
              </a:ext>
            </a:extLst>
          </p:cNvPr>
          <p:cNvSpPr/>
          <p:nvPr/>
        </p:nvSpPr>
        <p:spPr>
          <a:xfrm>
            <a:off x="4275609" y="1748827"/>
            <a:ext cx="4495800" cy="3450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404155"/>
              </a:buClr>
              <a:buSzPts val="844"/>
              <a:buFont typeface="Nobile"/>
              <a:buNone/>
            </a:pPr>
            <a:r>
              <a:rPr lang="en-US" sz="843" i="0" u="none" strike="noStrike" cap="none">
                <a:solidFill>
                  <a:srgbClr val="404155"/>
                </a:solidFill>
                <a:latin typeface="DM Sans"/>
                <a:ea typeface="DM Sans"/>
                <a:cs typeface="DM Sans"/>
                <a:sym typeface="DM Sans"/>
              </a:rPr>
              <a:t>Logstash ingests logs from diverse sources including log files, databases, message queues, and APIs. Its plugin architecture supports over 200 input sources.</a:t>
            </a:r>
            <a:endParaRPr sz="843" i="0" u="none" strike="noStrike" cap="none">
              <a:latin typeface="DM Sans"/>
              <a:ea typeface="DM Sans"/>
              <a:cs typeface="DM Sans"/>
              <a:sym typeface="DM Sans"/>
            </a:endParaRPr>
          </a:p>
        </p:txBody>
      </p:sp>
      <p:sp>
        <p:nvSpPr>
          <p:cNvPr id="9" name="Google Shape;134;p6">
            <a:extLst>
              <a:ext uri="{FF2B5EF4-FFF2-40B4-BE49-F238E27FC236}">
                <a16:creationId xmlns:a16="http://schemas.microsoft.com/office/drawing/2014/main" id="{07002A3A-2B4B-9675-3D5A-87D676EB0B4F}"/>
              </a:ext>
            </a:extLst>
          </p:cNvPr>
          <p:cNvSpPr/>
          <p:nvPr/>
        </p:nvSpPr>
        <p:spPr>
          <a:xfrm>
            <a:off x="4275609" y="2201563"/>
            <a:ext cx="1617000" cy="2022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1B1B27"/>
              </a:buClr>
              <a:buSzPts val="1250"/>
              <a:buFont typeface="Corben"/>
              <a:buNone/>
            </a:pPr>
            <a:r>
              <a:rPr lang="en-US" sz="1250" b="1" i="0" u="none" strike="noStrike" cap="none">
                <a:solidFill>
                  <a:srgbClr val="1B1B27"/>
                </a:solidFill>
                <a:latin typeface="DM Sans"/>
                <a:ea typeface="DM Sans"/>
                <a:cs typeface="DM Sans"/>
                <a:sym typeface="DM Sans"/>
              </a:rPr>
              <a:t>Intelligent Parsing</a:t>
            </a:r>
            <a:endParaRPr sz="1250" b="1" i="0" u="none" strike="noStrike" cap="none">
              <a:latin typeface="DM Sans"/>
              <a:ea typeface="DM Sans"/>
              <a:cs typeface="DM Sans"/>
              <a:sym typeface="DM Sans"/>
            </a:endParaRPr>
          </a:p>
        </p:txBody>
      </p:sp>
      <p:sp>
        <p:nvSpPr>
          <p:cNvPr id="10" name="Google Shape;135;p6">
            <a:extLst>
              <a:ext uri="{FF2B5EF4-FFF2-40B4-BE49-F238E27FC236}">
                <a16:creationId xmlns:a16="http://schemas.microsoft.com/office/drawing/2014/main" id="{922CEC51-1707-B982-A39E-6CD066DB0B21}"/>
              </a:ext>
            </a:extLst>
          </p:cNvPr>
          <p:cNvSpPr/>
          <p:nvPr/>
        </p:nvSpPr>
        <p:spPr>
          <a:xfrm>
            <a:off x="4275609" y="2511423"/>
            <a:ext cx="4495800" cy="3450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404155"/>
              </a:buClr>
              <a:buSzPts val="844"/>
              <a:buFont typeface="Nobile"/>
              <a:buNone/>
            </a:pPr>
            <a:r>
              <a:rPr lang="en-US" sz="843" i="0" u="none" strike="noStrike" cap="none">
                <a:solidFill>
                  <a:srgbClr val="404155"/>
                </a:solidFill>
                <a:latin typeface="DM Sans"/>
                <a:ea typeface="DM Sans"/>
                <a:cs typeface="DM Sans"/>
                <a:sym typeface="DM Sans"/>
              </a:rPr>
              <a:t>Extract structured data from unstructured logs using grok patterns, dissecting fields like user IDs, error codes, timestamps, and IP addresses.</a:t>
            </a:r>
            <a:endParaRPr sz="843" i="0" u="none" strike="noStrike" cap="none">
              <a:latin typeface="DM Sans"/>
              <a:ea typeface="DM Sans"/>
              <a:cs typeface="DM Sans"/>
              <a:sym typeface="DM Sans"/>
            </a:endParaRPr>
          </a:p>
        </p:txBody>
      </p:sp>
      <p:sp>
        <p:nvSpPr>
          <p:cNvPr id="11" name="Google Shape;136;p6">
            <a:extLst>
              <a:ext uri="{FF2B5EF4-FFF2-40B4-BE49-F238E27FC236}">
                <a16:creationId xmlns:a16="http://schemas.microsoft.com/office/drawing/2014/main" id="{42A57A3C-083E-45CA-E3D9-E104F17FB0A7}"/>
              </a:ext>
            </a:extLst>
          </p:cNvPr>
          <p:cNvSpPr/>
          <p:nvPr/>
        </p:nvSpPr>
        <p:spPr>
          <a:xfrm>
            <a:off x="4275609" y="2964158"/>
            <a:ext cx="1617000" cy="2022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1B1B27"/>
              </a:buClr>
              <a:buSzPts val="1250"/>
              <a:buFont typeface="Corben"/>
              <a:buNone/>
            </a:pPr>
            <a:r>
              <a:rPr lang="en-US" sz="1250" b="1" i="0" u="none" strike="noStrike" cap="none">
                <a:solidFill>
                  <a:srgbClr val="1B1B27"/>
                </a:solidFill>
                <a:latin typeface="DM Sans"/>
                <a:ea typeface="DM Sans"/>
                <a:cs typeface="DM Sans"/>
                <a:sym typeface="DM Sans"/>
              </a:rPr>
              <a:t>Data Enrichment</a:t>
            </a:r>
            <a:endParaRPr sz="1250" b="1" i="0" u="none" strike="noStrike" cap="none">
              <a:latin typeface="DM Sans"/>
              <a:ea typeface="DM Sans"/>
              <a:cs typeface="DM Sans"/>
              <a:sym typeface="DM Sans"/>
            </a:endParaRPr>
          </a:p>
        </p:txBody>
      </p:sp>
      <p:sp>
        <p:nvSpPr>
          <p:cNvPr id="12" name="Google Shape;137;p6">
            <a:extLst>
              <a:ext uri="{FF2B5EF4-FFF2-40B4-BE49-F238E27FC236}">
                <a16:creationId xmlns:a16="http://schemas.microsoft.com/office/drawing/2014/main" id="{F20E859F-9242-E108-427D-AAD23ED3E51B}"/>
              </a:ext>
            </a:extLst>
          </p:cNvPr>
          <p:cNvSpPr/>
          <p:nvPr/>
        </p:nvSpPr>
        <p:spPr>
          <a:xfrm>
            <a:off x="4275609" y="3274018"/>
            <a:ext cx="4495800" cy="3450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404155"/>
              </a:buClr>
              <a:buSzPts val="844"/>
              <a:buFont typeface="Nobile"/>
              <a:buNone/>
            </a:pPr>
            <a:r>
              <a:rPr lang="en-US" sz="843" i="0" u="none" strike="noStrike" cap="none">
                <a:solidFill>
                  <a:srgbClr val="404155"/>
                </a:solidFill>
                <a:latin typeface="DM Sans"/>
                <a:ea typeface="DM Sans"/>
                <a:cs typeface="DM Sans"/>
                <a:sym typeface="DM Sans"/>
              </a:rPr>
              <a:t>Filter and transform raw data before indexing – add geolocation data, mask sensitive information, or drop irrelevant events.</a:t>
            </a:r>
            <a:endParaRPr sz="843" i="0" u="none" strike="noStrike" cap="none">
              <a:latin typeface="DM Sans"/>
              <a:ea typeface="DM Sans"/>
              <a:cs typeface="DM Sans"/>
              <a:sym typeface="DM Sans"/>
            </a:endParaRPr>
          </a:p>
        </p:txBody>
      </p:sp>
      <p:sp>
        <p:nvSpPr>
          <p:cNvPr id="15" name="Google Shape;140;p6">
            <a:extLst>
              <a:ext uri="{FF2B5EF4-FFF2-40B4-BE49-F238E27FC236}">
                <a16:creationId xmlns:a16="http://schemas.microsoft.com/office/drawing/2014/main" id="{90A2386A-90AA-49BB-A7B9-820A70E21B72}"/>
              </a:ext>
            </a:extLst>
          </p:cNvPr>
          <p:cNvSpPr/>
          <p:nvPr/>
        </p:nvSpPr>
        <p:spPr>
          <a:xfrm>
            <a:off x="727472" y="4559379"/>
            <a:ext cx="7931400" cy="172500"/>
          </a:xfrm>
          <a:prstGeom prst="rect">
            <a:avLst/>
          </a:prstGeom>
          <a:noFill/>
          <a:ln>
            <a:noFill/>
          </a:ln>
        </p:spPr>
        <p:txBody>
          <a:bodyPr spcFirstLastPara="1" wrap="square" lIns="0" tIns="0" rIns="0" bIns="0" anchor="t" anchorCtr="0">
            <a:noAutofit/>
          </a:bodyPr>
          <a:lstStyle/>
          <a:p>
            <a:pPr marL="0" marR="0" lvl="0" indent="0" algn="l" rtl="0">
              <a:lnSpc>
                <a:spcPct val="159259"/>
              </a:lnSpc>
              <a:spcBef>
                <a:spcPts val="0"/>
              </a:spcBef>
              <a:spcAft>
                <a:spcPts val="0"/>
              </a:spcAft>
              <a:buClr>
                <a:srgbClr val="000000"/>
              </a:buClr>
              <a:buSzPts val="844"/>
              <a:buFont typeface="Nobile"/>
              <a:buNone/>
            </a:pPr>
            <a:r>
              <a:rPr lang="en-US" sz="843" b="1" i="0" u="none" strike="noStrike" cap="none">
                <a:solidFill>
                  <a:srgbClr val="000000"/>
                </a:solidFill>
                <a:latin typeface="DM Sans"/>
                <a:ea typeface="DM Sans"/>
                <a:cs typeface="DM Sans"/>
                <a:sym typeface="DM Sans"/>
              </a:rPr>
              <a:t>Example:</a:t>
            </a:r>
            <a:r>
              <a:rPr lang="en-US" sz="843" i="0" u="none" strike="noStrike" cap="none">
                <a:solidFill>
                  <a:srgbClr val="000000"/>
                </a:solidFill>
                <a:latin typeface="DM Sans"/>
                <a:ea typeface="DM Sans"/>
                <a:cs typeface="DM Sans"/>
                <a:sym typeface="DM Sans"/>
              </a:rPr>
              <a:t> Convert an Apache access log line into structured JSON with parsed fields for HTTP method, status code, response time, and user agent.</a:t>
            </a:r>
            <a:endParaRPr sz="843" i="0" u="none" strike="noStrike" cap="none">
              <a:latin typeface="DM Sans"/>
              <a:ea typeface="DM Sans"/>
              <a:cs typeface="DM Sans"/>
              <a:sym typeface="DM Sans"/>
            </a:endParaRPr>
          </a:p>
        </p:txBody>
      </p:sp>
      <p:sp>
        <p:nvSpPr>
          <p:cNvPr id="17" name="Google Shape;142;p6">
            <a:extLst>
              <a:ext uri="{FF2B5EF4-FFF2-40B4-BE49-F238E27FC236}">
                <a16:creationId xmlns:a16="http://schemas.microsoft.com/office/drawing/2014/main" id="{8DFEEBE0-D120-1DE5-F2C8-8632076108A4}"/>
              </a:ext>
            </a:extLst>
          </p:cNvPr>
          <p:cNvSpPr/>
          <p:nvPr/>
        </p:nvSpPr>
        <p:spPr>
          <a:xfrm>
            <a:off x="326775" y="326750"/>
            <a:ext cx="6360000" cy="402600"/>
          </a:xfrm>
          <a:prstGeom prst="rect">
            <a:avLst/>
          </a:prstGeom>
          <a:noFill/>
          <a:ln>
            <a:noFill/>
          </a:ln>
        </p:spPr>
        <p:txBody>
          <a:bodyPr spcFirstLastPara="1" wrap="square" lIns="0" tIns="0" rIns="0" bIns="0" anchor="t" anchorCtr="0">
            <a:noAutofit/>
          </a:bodyPr>
          <a:lstStyle/>
          <a:p>
            <a:pPr marL="0" marR="0" lvl="0" indent="0" algn="l" rtl="0">
              <a:lnSpc>
                <a:spcPct val="124691"/>
              </a:lnSpc>
              <a:spcBef>
                <a:spcPts val="0"/>
              </a:spcBef>
              <a:spcAft>
                <a:spcPts val="0"/>
              </a:spcAft>
              <a:buClr>
                <a:srgbClr val="1B1B27"/>
              </a:buClr>
              <a:buSzPts val="2531"/>
              <a:buFont typeface="Corben"/>
              <a:buNone/>
            </a:pPr>
            <a:r>
              <a:rPr lang="en-US" sz="2531" b="1">
                <a:solidFill>
                  <a:srgbClr val="1B1B27"/>
                </a:solidFill>
                <a:latin typeface="DM Sans"/>
                <a:ea typeface="DM Sans"/>
                <a:cs typeface="DM Sans"/>
                <a:sym typeface="DM Sans"/>
              </a:rPr>
              <a:t>Logstash: The Data Pipeline</a:t>
            </a:r>
            <a:endParaRPr sz="2531" b="1">
              <a:solidFill>
                <a:srgbClr val="1B1B27"/>
              </a:solidFill>
              <a:latin typeface="DM Sans"/>
              <a:ea typeface="DM Sans"/>
              <a:cs typeface="DM Sans"/>
              <a:sym typeface="DM Sans"/>
            </a:endParaRPr>
          </a:p>
        </p:txBody>
      </p:sp>
    </p:spTree>
    <p:extLst>
      <p:ext uri="{BB962C8B-B14F-4D97-AF65-F5344CB8AC3E}">
        <p14:creationId xmlns:p14="http://schemas.microsoft.com/office/powerpoint/2010/main" val="42344293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33">
          <a:extLst>
            <a:ext uri="{FF2B5EF4-FFF2-40B4-BE49-F238E27FC236}">
              <a16:creationId xmlns:a16="http://schemas.microsoft.com/office/drawing/2014/main" id="{3A8FB5CE-8CD5-D320-73E3-407E76591537}"/>
            </a:ext>
          </a:extLst>
        </p:cNvPr>
        <p:cNvGrpSpPr/>
        <p:nvPr/>
      </p:nvGrpSpPr>
      <p:grpSpPr>
        <a:xfrm>
          <a:off x="0" y="0"/>
          <a:ext cx="0" cy="0"/>
          <a:chOff x="0" y="0"/>
          <a:chExt cx="0" cy="0"/>
        </a:xfrm>
      </p:grpSpPr>
      <p:pic>
        <p:nvPicPr>
          <p:cNvPr id="6" name="Google Shape;148;p7" descr="preencoded.png">
            <a:extLst>
              <a:ext uri="{FF2B5EF4-FFF2-40B4-BE49-F238E27FC236}">
                <a16:creationId xmlns:a16="http://schemas.microsoft.com/office/drawing/2014/main" id="{21F6DF92-ACD4-504B-4FB7-2D15FA805917}"/>
              </a:ext>
            </a:extLst>
          </p:cNvPr>
          <p:cNvPicPr preferRelativeResize="0"/>
          <p:nvPr/>
        </p:nvPicPr>
        <p:blipFill rotWithShape="1">
          <a:blip r:embed="rId3">
            <a:alphaModFix/>
          </a:blip>
          <a:srcRect/>
          <a:stretch/>
        </p:blipFill>
        <p:spPr>
          <a:xfrm>
            <a:off x="5877974" y="1375274"/>
            <a:ext cx="2804303" cy="3129225"/>
          </a:xfrm>
          <a:prstGeom prst="rect">
            <a:avLst/>
          </a:prstGeom>
          <a:noFill/>
          <a:ln>
            <a:noFill/>
          </a:ln>
        </p:spPr>
      </p:pic>
      <p:pic>
        <p:nvPicPr>
          <p:cNvPr id="7" name="Google Shape;149;p7" descr="preencoded.png">
            <a:extLst>
              <a:ext uri="{FF2B5EF4-FFF2-40B4-BE49-F238E27FC236}">
                <a16:creationId xmlns:a16="http://schemas.microsoft.com/office/drawing/2014/main" id="{520210DF-D5FC-94F4-F2CC-7F65EB29FCA2}"/>
              </a:ext>
            </a:extLst>
          </p:cNvPr>
          <p:cNvPicPr preferRelativeResize="0"/>
          <p:nvPr/>
        </p:nvPicPr>
        <p:blipFill rotWithShape="1">
          <a:blip r:embed="rId4">
            <a:alphaModFix/>
          </a:blip>
          <a:srcRect/>
          <a:stretch/>
        </p:blipFill>
        <p:spPr>
          <a:xfrm>
            <a:off x="456456" y="1173769"/>
            <a:ext cx="326008" cy="326008"/>
          </a:xfrm>
          <a:prstGeom prst="rect">
            <a:avLst/>
          </a:prstGeom>
          <a:noFill/>
          <a:ln>
            <a:noFill/>
          </a:ln>
        </p:spPr>
      </p:pic>
      <p:sp>
        <p:nvSpPr>
          <p:cNvPr id="8" name="Google Shape;150;p7">
            <a:extLst>
              <a:ext uri="{FF2B5EF4-FFF2-40B4-BE49-F238E27FC236}">
                <a16:creationId xmlns:a16="http://schemas.microsoft.com/office/drawing/2014/main" id="{E250EF7C-8D21-EE80-243F-64F100F0050C}"/>
              </a:ext>
            </a:extLst>
          </p:cNvPr>
          <p:cNvSpPr/>
          <p:nvPr/>
        </p:nvSpPr>
        <p:spPr>
          <a:xfrm>
            <a:off x="945431" y="1251159"/>
            <a:ext cx="1630200" cy="203700"/>
          </a:xfrm>
          <a:prstGeom prst="rect">
            <a:avLst/>
          </a:prstGeom>
          <a:noFill/>
          <a:ln>
            <a:noFill/>
          </a:ln>
        </p:spPr>
        <p:txBody>
          <a:bodyPr spcFirstLastPara="1" wrap="square" lIns="0" tIns="0" rIns="0" bIns="0" anchor="t" anchorCtr="0">
            <a:noAutofit/>
          </a:bodyPr>
          <a:lstStyle/>
          <a:p>
            <a:pPr marL="0" marR="0" lvl="0" indent="0" algn="l" rtl="0">
              <a:lnSpc>
                <a:spcPct val="124390"/>
              </a:lnSpc>
              <a:spcBef>
                <a:spcPts val="0"/>
              </a:spcBef>
              <a:spcAft>
                <a:spcPts val="0"/>
              </a:spcAft>
              <a:buClr>
                <a:srgbClr val="404155"/>
              </a:buClr>
              <a:buSzPts val="1281"/>
              <a:buFont typeface="Corben"/>
              <a:buNone/>
            </a:pPr>
            <a:r>
              <a:rPr lang="en-US" sz="1281" b="1" i="0" u="none" strike="noStrike" cap="none">
                <a:solidFill>
                  <a:srgbClr val="404155"/>
                </a:solidFill>
                <a:latin typeface="DM Sans"/>
                <a:ea typeface="DM Sans"/>
                <a:cs typeface="DM Sans"/>
                <a:sym typeface="DM Sans"/>
              </a:rPr>
              <a:t>Real-Time Search</a:t>
            </a:r>
            <a:endParaRPr sz="1281" b="1" i="0" u="none" strike="noStrike" cap="none">
              <a:latin typeface="DM Sans"/>
              <a:ea typeface="DM Sans"/>
              <a:cs typeface="DM Sans"/>
              <a:sym typeface="DM Sans"/>
            </a:endParaRPr>
          </a:p>
        </p:txBody>
      </p:sp>
      <p:sp>
        <p:nvSpPr>
          <p:cNvPr id="9" name="Google Shape;151;p7">
            <a:extLst>
              <a:ext uri="{FF2B5EF4-FFF2-40B4-BE49-F238E27FC236}">
                <a16:creationId xmlns:a16="http://schemas.microsoft.com/office/drawing/2014/main" id="{6AE573AD-7788-ECCD-B91F-A6BB9C52EEBA}"/>
              </a:ext>
            </a:extLst>
          </p:cNvPr>
          <p:cNvSpPr/>
          <p:nvPr/>
        </p:nvSpPr>
        <p:spPr>
          <a:xfrm>
            <a:off x="945431" y="1533114"/>
            <a:ext cx="4313100" cy="4173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404155"/>
              </a:buClr>
              <a:buSzPts val="1000"/>
              <a:buFont typeface="Nobile"/>
              <a:buNone/>
            </a:pPr>
            <a:r>
              <a:rPr lang="en-US" sz="1000" i="0" u="none" strike="noStrike" cap="none">
                <a:solidFill>
                  <a:srgbClr val="404155"/>
                </a:solidFill>
                <a:latin typeface="DM Sans"/>
                <a:ea typeface="DM Sans"/>
                <a:cs typeface="DM Sans"/>
                <a:sym typeface="DM Sans"/>
              </a:rPr>
              <a:t>Execute full-text searches across billions of log entries with sub-second response times using inverted indices.</a:t>
            </a:r>
            <a:endParaRPr sz="1000" i="0" u="none" strike="noStrike" cap="none">
              <a:latin typeface="DM Sans"/>
              <a:ea typeface="DM Sans"/>
              <a:cs typeface="DM Sans"/>
              <a:sym typeface="DM Sans"/>
            </a:endParaRPr>
          </a:p>
        </p:txBody>
      </p:sp>
      <p:pic>
        <p:nvPicPr>
          <p:cNvPr id="10" name="Google Shape;152;p7" descr="preencoded.png">
            <a:extLst>
              <a:ext uri="{FF2B5EF4-FFF2-40B4-BE49-F238E27FC236}">
                <a16:creationId xmlns:a16="http://schemas.microsoft.com/office/drawing/2014/main" id="{07C85364-E068-1986-EDD4-04B00E5A94CF}"/>
              </a:ext>
            </a:extLst>
          </p:cNvPr>
          <p:cNvPicPr preferRelativeResize="0"/>
          <p:nvPr/>
        </p:nvPicPr>
        <p:blipFill rotWithShape="1">
          <a:blip r:embed="rId5">
            <a:alphaModFix/>
          </a:blip>
          <a:srcRect/>
          <a:stretch/>
        </p:blipFill>
        <p:spPr>
          <a:xfrm>
            <a:off x="456456" y="2211249"/>
            <a:ext cx="326008" cy="326008"/>
          </a:xfrm>
          <a:prstGeom prst="rect">
            <a:avLst/>
          </a:prstGeom>
          <a:noFill/>
          <a:ln>
            <a:noFill/>
          </a:ln>
        </p:spPr>
      </p:pic>
      <p:sp>
        <p:nvSpPr>
          <p:cNvPr id="11" name="Google Shape;153;p7">
            <a:extLst>
              <a:ext uri="{FF2B5EF4-FFF2-40B4-BE49-F238E27FC236}">
                <a16:creationId xmlns:a16="http://schemas.microsoft.com/office/drawing/2014/main" id="{7F616C2D-C83F-5FAE-30E4-4173E006DDF7}"/>
              </a:ext>
            </a:extLst>
          </p:cNvPr>
          <p:cNvSpPr/>
          <p:nvPr/>
        </p:nvSpPr>
        <p:spPr>
          <a:xfrm>
            <a:off x="945423" y="2288650"/>
            <a:ext cx="2560500" cy="203700"/>
          </a:xfrm>
          <a:prstGeom prst="rect">
            <a:avLst/>
          </a:prstGeom>
          <a:noFill/>
          <a:ln>
            <a:noFill/>
          </a:ln>
        </p:spPr>
        <p:txBody>
          <a:bodyPr spcFirstLastPara="1" wrap="square" lIns="0" tIns="0" rIns="0" bIns="0" anchor="t" anchorCtr="0">
            <a:noAutofit/>
          </a:bodyPr>
          <a:lstStyle/>
          <a:p>
            <a:pPr marL="0" marR="0" lvl="0" indent="0" algn="l" rtl="0">
              <a:lnSpc>
                <a:spcPct val="124390"/>
              </a:lnSpc>
              <a:spcBef>
                <a:spcPts val="0"/>
              </a:spcBef>
              <a:spcAft>
                <a:spcPts val="0"/>
              </a:spcAft>
              <a:buClr>
                <a:srgbClr val="404155"/>
              </a:buClr>
              <a:buSzPts val="1281"/>
              <a:buFont typeface="Corben"/>
              <a:buNone/>
            </a:pPr>
            <a:r>
              <a:rPr lang="en-US" sz="1281" b="1" i="0" u="none" strike="noStrike" cap="none">
                <a:solidFill>
                  <a:srgbClr val="404155"/>
                </a:solidFill>
                <a:latin typeface="DM Sans"/>
                <a:ea typeface="DM Sans"/>
                <a:cs typeface="DM Sans"/>
                <a:sym typeface="DM Sans"/>
              </a:rPr>
              <a:t>Distributed Architecture</a:t>
            </a:r>
            <a:endParaRPr sz="1281" b="1" i="0" u="none" strike="noStrike" cap="none">
              <a:latin typeface="DM Sans"/>
              <a:ea typeface="DM Sans"/>
              <a:cs typeface="DM Sans"/>
              <a:sym typeface="DM Sans"/>
            </a:endParaRPr>
          </a:p>
        </p:txBody>
      </p:sp>
      <p:sp>
        <p:nvSpPr>
          <p:cNvPr id="12" name="Google Shape;154;p7">
            <a:extLst>
              <a:ext uri="{FF2B5EF4-FFF2-40B4-BE49-F238E27FC236}">
                <a16:creationId xmlns:a16="http://schemas.microsoft.com/office/drawing/2014/main" id="{0043EA0D-7E3E-FBD7-EFD2-48952553B85C}"/>
              </a:ext>
            </a:extLst>
          </p:cNvPr>
          <p:cNvSpPr/>
          <p:nvPr/>
        </p:nvSpPr>
        <p:spPr>
          <a:xfrm>
            <a:off x="945431" y="2570595"/>
            <a:ext cx="4313100" cy="4173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404155"/>
              </a:buClr>
              <a:buSzPts val="1000"/>
              <a:buFont typeface="Nobile"/>
              <a:buNone/>
            </a:pPr>
            <a:r>
              <a:rPr lang="en-US" sz="1000" i="0" u="none" strike="noStrike" cap="none">
                <a:solidFill>
                  <a:srgbClr val="404155"/>
                </a:solidFill>
                <a:latin typeface="DM Sans"/>
                <a:ea typeface="DM Sans"/>
                <a:cs typeface="DM Sans"/>
                <a:sym typeface="DM Sans"/>
              </a:rPr>
              <a:t>Horizontally scalable across multiple nodes, ensuring high availability and fault tolerance for petabyte-scale data.</a:t>
            </a:r>
            <a:endParaRPr sz="1000" i="0" u="none" strike="noStrike" cap="none">
              <a:latin typeface="DM Sans"/>
              <a:ea typeface="DM Sans"/>
              <a:cs typeface="DM Sans"/>
              <a:sym typeface="DM Sans"/>
            </a:endParaRPr>
          </a:p>
        </p:txBody>
      </p:sp>
      <p:pic>
        <p:nvPicPr>
          <p:cNvPr id="13" name="Google Shape;155;p7" descr="preencoded.png">
            <a:extLst>
              <a:ext uri="{FF2B5EF4-FFF2-40B4-BE49-F238E27FC236}">
                <a16:creationId xmlns:a16="http://schemas.microsoft.com/office/drawing/2014/main" id="{A6F14806-422B-698C-CB91-42BC1AC62F71}"/>
              </a:ext>
            </a:extLst>
          </p:cNvPr>
          <p:cNvPicPr preferRelativeResize="0"/>
          <p:nvPr/>
        </p:nvPicPr>
        <p:blipFill rotWithShape="1">
          <a:blip r:embed="rId6">
            <a:alphaModFix/>
          </a:blip>
          <a:srcRect/>
          <a:stretch/>
        </p:blipFill>
        <p:spPr>
          <a:xfrm>
            <a:off x="456456" y="3248731"/>
            <a:ext cx="326008" cy="326008"/>
          </a:xfrm>
          <a:prstGeom prst="rect">
            <a:avLst/>
          </a:prstGeom>
          <a:noFill/>
          <a:ln>
            <a:noFill/>
          </a:ln>
        </p:spPr>
      </p:pic>
      <p:sp>
        <p:nvSpPr>
          <p:cNvPr id="14" name="Google Shape;156;p7">
            <a:extLst>
              <a:ext uri="{FF2B5EF4-FFF2-40B4-BE49-F238E27FC236}">
                <a16:creationId xmlns:a16="http://schemas.microsoft.com/office/drawing/2014/main" id="{CF1F9376-294E-7491-CDC3-878EB14A857F}"/>
              </a:ext>
            </a:extLst>
          </p:cNvPr>
          <p:cNvSpPr/>
          <p:nvPr/>
        </p:nvSpPr>
        <p:spPr>
          <a:xfrm>
            <a:off x="945431" y="3326121"/>
            <a:ext cx="1630200" cy="203700"/>
          </a:xfrm>
          <a:prstGeom prst="rect">
            <a:avLst/>
          </a:prstGeom>
          <a:noFill/>
          <a:ln>
            <a:noFill/>
          </a:ln>
        </p:spPr>
        <p:txBody>
          <a:bodyPr spcFirstLastPara="1" wrap="square" lIns="0" tIns="0" rIns="0" bIns="0" anchor="t" anchorCtr="0">
            <a:noAutofit/>
          </a:bodyPr>
          <a:lstStyle/>
          <a:p>
            <a:pPr marL="0" marR="0" lvl="0" indent="0" algn="l" rtl="0">
              <a:lnSpc>
                <a:spcPct val="124390"/>
              </a:lnSpc>
              <a:spcBef>
                <a:spcPts val="0"/>
              </a:spcBef>
              <a:spcAft>
                <a:spcPts val="0"/>
              </a:spcAft>
              <a:buClr>
                <a:srgbClr val="404155"/>
              </a:buClr>
              <a:buSzPts val="1281"/>
              <a:buFont typeface="Corben"/>
              <a:buNone/>
            </a:pPr>
            <a:r>
              <a:rPr lang="en-US" sz="1281" b="1" i="0" u="none" strike="noStrike" cap="none">
                <a:solidFill>
                  <a:srgbClr val="404155"/>
                </a:solidFill>
                <a:latin typeface="DM Sans"/>
                <a:ea typeface="DM Sans"/>
                <a:cs typeface="DM Sans"/>
                <a:sym typeface="DM Sans"/>
              </a:rPr>
              <a:t>Advanced Analytics</a:t>
            </a:r>
            <a:endParaRPr sz="1281" b="1" i="0" u="none" strike="noStrike" cap="none">
              <a:latin typeface="DM Sans"/>
              <a:ea typeface="DM Sans"/>
              <a:cs typeface="DM Sans"/>
              <a:sym typeface="DM Sans"/>
            </a:endParaRPr>
          </a:p>
        </p:txBody>
      </p:sp>
      <p:sp>
        <p:nvSpPr>
          <p:cNvPr id="15" name="Google Shape;157;p7">
            <a:extLst>
              <a:ext uri="{FF2B5EF4-FFF2-40B4-BE49-F238E27FC236}">
                <a16:creationId xmlns:a16="http://schemas.microsoft.com/office/drawing/2014/main" id="{5E8B7248-D547-CE85-DBC5-E4DBB781AAC0}"/>
              </a:ext>
            </a:extLst>
          </p:cNvPr>
          <p:cNvSpPr/>
          <p:nvPr/>
        </p:nvSpPr>
        <p:spPr>
          <a:xfrm>
            <a:off x="945431" y="3608076"/>
            <a:ext cx="4313100" cy="4173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404155"/>
              </a:buClr>
              <a:buSzPts val="1000"/>
              <a:buFont typeface="Nobile"/>
              <a:buNone/>
            </a:pPr>
            <a:r>
              <a:rPr lang="en-US" sz="1000" i="0" u="none" strike="noStrike" cap="none">
                <a:solidFill>
                  <a:srgbClr val="404155"/>
                </a:solidFill>
                <a:latin typeface="DM Sans"/>
                <a:ea typeface="DM Sans"/>
                <a:cs typeface="DM Sans"/>
                <a:sym typeface="DM Sans"/>
              </a:rPr>
              <a:t>Perform complex aggregations, filtering, and statistical analysis to uncover patterns and anomalies in your logs.</a:t>
            </a:r>
            <a:endParaRPr sz="1000" i="0" u="none" strike="noStrike" cap="none">
              <a:latin typeface="DM Sans"/>
              <a:ea typeface="DM Sans"/>
              <a:cs typeface="DM Sans"/>
              <a:sym typeface="DM Sans"/>
            </a:endParaRPr>
          </a:p>
        </p:txBody>
      </p:sp>
      <p:sp>
        <p:nvSpPr>
          <p:cNvPr id="16" name="Google Shape;158;p7">
            <a:extLst>
              <a:ext uri="{FF2B5EF4-FFF2-40B4-BE49-F238E27FC236}">
                <a16:creationId xmlns:a16="http://schemas.microsoft.com/office/drawing/2014/main" id="{940FA47F-8861-2525-2494-A74C196D1E85}"/>
              </a:ext>
            </a:extLst>
          </p:cNvPr>
          <p:cNvSpPr/>
          <p:nvPr/>
        </p:nvSpPr>
        <p:spPr>
          <a:xfrm>
            <a:off x="456456" y="4367510"/>
            <a:ext cx="4802100" cy="4173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404155"/>
              </a:buClr>
              <a:buSzPts val="1000"/>
              <a:buFont typeface="Nobile"/>
              <a:buNone/>
            </a:pPr>
            <a:r>
              <a:rPr lang="en-US" sz="1000" b="1" i="0" u="none" strike="noStrike" cap="none">
                <a:solidFill>
                  <a:srgbClr val="404155"/>
                </a:solidFill>
                <a:latin typeface="DM Sans"/>
                <a:ea typeface="DM Sans"/>
                <a:cs typeface="DM Sans"/>
                <a:sym typeface="DM Sans"/>
              </a:rPr>
              <a:t>Example query:</a:t>
            </a:r>
            <a:r>
              <a:rPr lang="en-US" sz="1000" i="0" u="none" strike="noStrike" cap="none">
                <a:solidFill>
                  <a:srgbClr val="404155"/>
                </a:solidFill>
                <a:latin typeface="DM Sans"/>
                <a:ea typeface="DM Sans"/>
                <a:cs typeface="DM Sans"/>
                <a:sym typeface="DM Sans"/>
              </a:rPr>
              <a:t> "Find all HTTP 500 errors in the last 24 hours where response time exceeded 2 seconds, grouped by service name."</a:t>
            </a:r>
            <a:endParaRPr sz="1000" i="0" u="none" strike="noStrike" cap="none">
              <a:latin typeface="DM Sans"/>
              <a:ea typeface="DM Sans"/>
              <a:cs typeface="DM Sans"/>
              <a:sym typeface="DM Sans"/>
            </a:endParaRPr>
          </a:p>
        </p:txBody>
      </p:sp>
      <p:sp>
        <p:nvSpPr>
          <p:cNvPr id="18" name="Google Shape;160;p7">
            <a:extLst>
              <a:ext uri="{FF2B5EF4-FFF2-40B4-BE49-F238E27FC236}">
                <a16:creationId xmlns:a16="http://schemas.microsoft.com/office/drawing/2014/main" id="{0C15915F-9325-13BC-2504-8B8259C8CEE6}"/>
              </a:ext>
            </a:extLst>
          </p:cNvPr>
          <p:cNvSpPr/>
          <p:nvPr/>
        </p:nvSpPr>
        <p:spPr>
          <a:xfrm>
            <a:off x="326775" y="326750"/>
            <a:ext cx="6360000" cy="402600"/>
          </a:xfrm>
          <a:prstGeom prst="rect">
            <a:avLst/>
          </a:prstGeom>
          <a:noFill/>
          <a:ln>
            <a:noFill/>
          </a:ln>
        </p:spPr>
        <p:txBody>
          <a:bodyPr spcFirstLastPara="1" wrap="square" lIns="0" tIns="0" rIns="0" bIns="0" anchor="t" anchorCtr="0">
            <a:noAutofit/>
          </a:bodyPr>
          <a:lstStyle/>
          <a:p>
            <a:pPr marL="0" marR="0" lvl="0" indent="0" algn="l" rtl="0">
              <a:lnSpc>
                <a:spcPct val="124691"/>
              </a:lnSpc>
              <a:spcBef>
                <a:spcPts val="0"/>
              </a:spcBef>
              <a:spcAft>
                <a:spcPts val="0"/>
              </a:spcAft>
              <a:buClr>
                <a:srgbClr val="1B1B27"/>
              </a:buClr>
              <a:buSzPts val="2531"/>
              <a:buFont typeface="Corben"/>
              <a:buNone/>
            </a:pPr>
            <a:r>
              <a:rPr lang="en-US" sz="2531" b="1">
                <a:solidFill>
                  <a:srgbClr val="1B1B27"/>
                </a:solidFill>
                <a:latin typeface="DM Sans"/>
                <a:ea typeface="DM Sans"/>
                <a:cs typeface="DM Sans"/>
                <a:sym typeface="DM Sans"/>
              </a:rPr>
              <a:t>Elasticsearch: The Search Engine</a:t>
            </a:r>
            <a:endParaRPr sz="2531" b="1">
              <a:solidFill>
                <a:srgbClr val="1B1B27"/>
              </a:solidFill>
              <a:latin typeface="DM Sans"/>
              <a:ea typeface="DM Sans"/>
              <a:cs typeface="DM Sans"/>
              <a:sym typeface="DM Sans"/>
            </a:endParaRPr>
          </a:p>
        </p:txBody>
      </p:sp>
    </p:spTree>
    <p:extLst>
      <p:ext uri="{BB962C8B-B14F-4D97-AF65-F5344CB8AC3E}">
        <p14:creationId xmlns:p14="http://schemas.microsoft.com/office/powerpoint/2010/main" val="33808886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33">
          <a:extLst>
            <a:ext uri="{FF2B5EF4-FFF2-40B4-BE49-F238E27FC236}">
              <a16:creationId xmlns:a16="http://schemas.microsoft.com/office/drawing/2014/main" id="{0A59BF4E-F348-54E6-FD61-05CEA82CD31D}"/>
            </a:ext>
          </a:extLst>
        </p:cNvPr>
        <p:cNvGrpSpPr/>
        <p:nvPr/>
      </p:nvGrpSpPr>
      <p:grpSpPr>
        <a:xfrm>
          <a:off x="0" y="0"/>
          <a:ext cx="0" cy="0"/>
          <a:chOff x="0" y="0"/>
          <a:chExt cx="0" cy="0"/>
        </a:xfrm>
      </p:grpSpPr>
      <p:sp>
        <p:nvSpPr>
          <p:cNvPr id="6" name="Google Shape;166;p8">
            <a:extLst>
              <a:ext uri="{FF2B5EF4-FFF2-40B4-BE49-F238E27FC236}">
                <a16:creationId xmlns:a16="http://schemas.microsoft.com/office/drawing/2014/main" id="{036B9428-76A0-F518-3F87-29C520F9D758}"/>
              </a:ext>
            </a:extLst>
          </p:cNvPr>
          <p:cNvSpPr/>
          <p:nvPr/>
        </p:nvSpPr>
        <p:spPr>
          <a:xfrm>
            <a:off x="326778" y="1411600"/>
            <a:ext cx="2776200" cy="2214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404155"/>
              </a:buClr>
              <a:buSzPts val="1375"/>
              <a:buFont typeface="Corben"/>
              <a:buNone/>
            </a:pPr>
            <a:r>
              <a:rPr lang="en-US" sz="1375" b="1" i="0" u="none" strike="noStrike" cap="none">
                <a:solidFill>
                  <a:srgbClr val="404155"/>
                </a:solidFill>
                <a:latin typeface="DM Sans"/>
                <a:ea typeface="DM Sans"/>
                <a:cs typeface="DM Sans"/>
                <a:sym typeface="DM Sans"/>
              </a:rPr>
              <a:t>Real-Time Dashboards</a:t>
            </a:r>
            <a:endParaRPr sz="1375" b="1" i="0" u="none" strike="noStrike" cap="none">
              <a:latin typeface="DM Sans"/>
              <a:ea typeface="DM Sans"/>
              <a:cs typeface="DM Sans"/>
              <a:sym typeface="DM Sans"/>
            </a:endParaRPr>
          </a:p>
        </p:txBody>
      </p:sp>
      <p:sp>
        <p:nvSpPr>
          <p:cNvPr id="7" name="Google Shape;167;p8">
            <a:extLst>
              <a:ext uri="{FF2B5EF4-FFF2-40B4-BE49-F238E27FC236}">
                <a16:creationId xmlns:a16="http://schemas.microsoft.com/office/drawing/2014/main" id="{01A41027-1075-20E4-FA88-0F6FD2387A24}"/>
              </a:ext>
            </a:extLst>
          </p:cNvPr>
          <p:cNvSpPr/>
          <p:nvPr/>
        </p:nvSpPr>
        <p:spPr>
          <a:xfrm>
            <a:off x="326769" y="1718100"/>
            <a:ext cx="2599200" cy="9072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404155"/>
              </a:buClr>
              <a:buSzPts val="1094"/>
              <a:buFont typeface="Nobile"/>
              <a:buNone/>
            </a:pPr>
            <a:r>
              <a:rPr lang="en-US" sz="1093" i="0" u="none" strike="noStrike" cap="none">
                <a:solidFill>
                  <a:srgbClr val="404155"/>
                </a:solidFill>
                <a:latin typeface="DM Sans"/>
                <a:ea typeface="DM Sans"/>
                <a:cs typeface="DM Sans"/>
                <a:sym typeface="DM Sans"/>
              </a:rPr>
              <a:t>Build custom dashboards monitoring error rates, latency trends, user activity, and business metrics with automatic refresh.</a:t>
            </a:r>
            <a:endParaRPr sz="1093" i="0" u="none" strike="noStrike" cap="none">
              <a:latin typeface="DM Sans"/>
              <a:ea typeface="DM Sans"/>
              <a:cs typeface="DM Sans"/>
              <a:sym typeface="DM Sans"/>
            </a:endParaRPr>
          </a:p>
        </p:txBody>
      </p:sp>
      <p:sp>
        <p:nvSpPr>
          <p:cNvPr id="8" name="Google Shape;168;p8">
            <a:extLst>
              <a:ext uri="{FF2B5EF4-FFF2-40B4-BE49-F238E27FC236}">
                <a16:creationId xmlns:a16="http://schemas.microsoft.com/office/drawing/2014/main" id="{56519418-B496-7465-ADC8-5A3D9274BFB7}"/>
              </a:ext>
            </a:extLst>
          </p:cNvPr>
          <p:cNvSpPr/>
          <p:nvPr/>
        </p:nvSpPr>
        <p:spPr>
          <a:xfrm>
            <a:off x="3103072" y="1411600"/>
            <a:ext cx="2914500" cy="2214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404155"/>
              </a:buClr>
              <a:buSzPts val="1375"/>
              <a:buFont typeface="Corben"/>
              <a:buNone/>
            </a:pPr>
            <a:r>
              <a:rPr lang="en-US" sz="1375" b="1" i="0" u="none" strike="noStrike" cap="none">
                <a:solidFill>
                  <a:srgbClr val="404155"/>
                </a:solidFill>
                <a:latin typeface="DM Sans"/>
                <a:ea typeface="DM Sans"/>
                <a:cs typeface="DM Sans"/>
                <a:sym typeface="DM Sans"/>
              </a:rPr>
              <a:t>Powerful Search Queries</a:t>
            </a:r>
            <a:endParaRPr sz="1375" b="1" i="0" u="none" strike="noStrike" cap="none">
              <a:latin typeface="DM Sans"/>
              <a:ea typeface="DM Sans"/>
              <a:cs typeface="DM Sans"/>
              <a:sym typeface="DM Sans"/>
            </a:endParaRPr>
          </a:p>
        </p:txBody>
      </p:sp>
      <p:sp>
        <p:nvSpPr>
          <p:cNvPr id="9" name="Google Shape;169;p8">
            <a:extLst>
              <a:ext uri="{FF2B5EF4-FFF2-40B4-BE49-F238E27FC236}">
                <a16:creationId xmlns:a16="http://schemas.microsoft.com/office/drawing/2014/main" id="{535DB6AF-6586-5E31-DBC0-A85A10DB1218}"/>
              </a:ext>
            </a:extLst>
          </p:cNvPr>
          <p:cNvSpPr/>
          <p:nvPr/>
        </p:nvSpPr>
        <p:spPr>
          <a:xfrm>
            <a:off x="3103083" y="1718100"/>
            <a:ext cx="2599200" cy="9072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404155"/>
              </a:buClr>
              <a:buSzPts val="1094"/>
              <a:buFont typeface="Nobile"/>
              <a:buNone/>
            </a:pPr>
            <a:r>
              <a:rPr lang="en-US" sz="1093" i="0" u="none" strike="noStrike" cap="none">
                <a:solidFill>
                  <a:srgbClr val="404155"/>
                </a:solidFill>
                <a:latin typeface="DM Sans"/>
                <a:ea typeface="DM Sans"/>
                <a:cs typeface="DM Sans"/>
                <a:sym typeface="DM Sans"/>
              </a:rPr>
              <a:t>Construct complex queries using Kibana Query Language (KQL) to filter logs by any field, timeframe, or pattern.</a:t>
            </a:r>
            <a:endParaRPr sz="1093" i="0" u="none" strike="noStrike" cap="none">
              <a:latin typeface="DM Sans"/>
              <a:ea typeface="DM Sans"/>
              <a:cs typeface="DM Sans"/>
              <a:sym typeface="DM Sans"/>
            </a:endParaRPr>
          </a:p>
        </p:txBody>
      </p:sp>
      <p:sp>
        <p:nvSpPr>
          <p:cNvPr id="10" name="Google Shape;170;p8">
            <a:extLst>
              <a:ext uri="{FF2B5EF4-FFF2-40B4-BE49-F238E27FC236}">
                <a16:creationId xmlns:a16="http://schemas.microsoft.com/office/drawing/2014/main" id="{27AFFF1B-CC74-4D62-279C-F3BFD0134F83}"/>
              </a:ext>
            </a:extLst>
          </p:cNvPr>
          <p:cNvSpPr/>
          <p:nvPr/>
        </p:nvSpPr>
        <p:spPr>
          <a:xfrm>
            <a:off x="5879397" y="1411589"/>
            <a:ext cx="1772100" cy="2214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404155"/>
              </a:buClr>
              <a:buSzPts val="1375"/>
              <a:buFont typeface="Corben"/>
              <a:buNone/>
            </a:pPr>
            <a:r>
              <a:rPr lang="en-US" sz="1375" b="1" i="0" u="none" strike="noStrike" cap="none">
                <a:solidFill>
                  <a:srgbClr val="404155"/>
                </a:solidFill>
                <a:latin typeface="DM Sans"/>
                <a:ea typeface="DM Sans"/>
                <a:cs typeface="DM Sans"/>
                <a:sym typeface="DM Sans"/>
              </a:rPr>
              <a:t>Drill-Down Analysis</a:t>
            </a:r>
            <a:endParaRPr sz="1375" b="1" i="0" u="none" strike="noStrike" cap="none">
              <a:latin typeface="DM Sans"/>
              <a:ea typeface="DM Sans"/>
              <a:cs typeface="DM Sans"/>
              <a:sym typeface="DM Sans"/>
            </a:endParaRPr>
          </a:p>
        </p:txBody>
      </p:sp>
      <p:sp>
        <p:nvSpPr>
          <p:cNvPr id="11" name="Google Shape;171;p8">
            <a:extLst>
              <a:ext uri="{FF2B5EF4-FFF2-40B4-BE49-F238E27FC236}">
                <a16:creationId xmlns:a16="http://schemas.microsoft.com/office/drawing/2014/main" id="{604A8071-83E3-9BA0-4F79-3D46367916F1}"/>
              </a:ext>
            </a:extLst>
          </p:cNvPr>
          <p:cNvSpPr/>
          <p:nvPr/>
        </p:nvSpPr>
        <p:spPr>
          <a:xfrm>
            <a:off x="5879397" y="1718100"/>
            <a:ext cx="2599200" cy="9072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404155"/>
              </a:buClr>
              <a:buSzPts val="1094"/>
              <a:buFont typeface="Nobile"/>
              <a:buNone/>
            </a:pPr>
            <a:r>
              <a:rPr lang="en-US" sz="1093" i="0" u="none" strike="noStrike" cap="none">
                <a:solidFill>
                  <a:srgbClr val="404155"/>
                </a:solidFill>
                <a:latin typeface="DM Sans"/>
                <a:ea typeface="DM Sans"/>
                <a:cs typeface="DM Sans"/>
                <a:sym typeface="DM Sans"/>
              </a:rPr>
              <a:t>Click through visualisations to examine specific log events, trace requests across services, and identify root causes.</a:t>
            </a:r>
            <a:endParaRPr sz="1093" i="0" u="none" strike="noStrike" cap="none">
              <a:latin typeface="DM Sans"/>
              <a:ea typeface="DM Sans"/>
              <a:cs typeface="DM Sans"/>
              <a:sym typeface="DM Sans"/>
            </a:endParaRPr>
          </a:p>
        </p:txBody>
      </p:sp>
      <p:sp>
        <p:nvSpPr>
          <p:cNvPr id="12" name="Google Shape;172;p8">
            <a:extLst>
              <a:ext uri="{FF2B5EF4-FFF2-40B4-BE49-F238E27FC236}">
                <a16:creationId xmlns:a16="http://schemas.microsoft.com/office/drawing/2014/main" id="{12D94830-FAF0-A3A1-0C41-7B1CF06EC420}"/>
              </a:ext>
            </a:extLst>
          </p:cNvPr>
          <p:cNvSpPr/>
          <p:nvPr/>
        </p:nvSpPr>
        <p:spPr>
          <a:xfrm>
            <a:off x="326769" y="3309401"/>
            <a:ext cx="8151900" cy="829200"/>
          </a:xfrm>
          <a:prstGeom prst="roundRect">
            <a:avLst>
              <a:gd name="adj" fmla="val 7181"/>
            </a:avLst>
          </a:prstGeom>
          <a:solidFill>
            <a:srgbClr val="FFF5F6"/>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13" name="Google Shape;173;p8" descr="preencoded.png">
            <a:extLst>
              <a:ext uri="{FF2B5EF4-FFF2-40B4-BE49-F238E27FC236}">
                <a16:creationId xmlns:a16="http://schemas.microsoft.com/office/drawing/2014/main" id="{27C326E2-8ADA-F0BF-67CC-DC90C9F20882}"/>
              </a:ext>
            </a:extLst>
          </p:cNvPr>
          <p:cNvPicPr preferRelativeResize="0"/>
          <p:nvPr/>
        </p:nvPicPr>
        <p:blipFill rotWithShape="1">
          <a:blip r:embed="rId3">
            <a:alphaModFix/>
          </a:blip>
          <a:srcRect/>
          <a:stretch/>
        </p:blipFill>
        <p:spPr>
          <a:xfrm>
            <a:off x="468527" y="3514932"/>
            <a:ext cx="177180" cy="141759"/>
          </a:xfrm>
          <a:prstGeom prst="rect">
            <a:avLst/>
          </a:prstGeom>
          <a:noFill/>
          <a:ln>
            <a:noFill/>
          </a:ln>
        </p:spPr>
      </p:pic>
      <p:sp>
        <p:nvSpPr>
          <p:cNvPr id="14" name="Google Shape;174;p8">
            <a:extLst>
              <a:ext uri="{FF2B5EF4-FFF2-40B4-BE49-F238E27FC236}">
                <a16:creationId xmlns:a16="http://schemas.microsoft.com/office/drawing/2014/main" id="{225845EC-4BF3-6311-D3EA-A6F981F7F9A6}"/>
              </a:ext>
            </a:extLst>
          </p:cNvPr>
          <p:cNvSpPr/>
          <p:nvPr/>
        </p:nvSpPr>
        <p:spPr>
          <a:xfrm>
            <a:off x="787466" y="3486581"/>
            <a:ext cx="7549200" cy="453600"/>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000000"/>
              </a:buClr>
              <a:buSzPts val="1094"/>
              <a:buFont typeface="Nobile"/>
              <a:buNone/>
            </a:pPr>
            <a:r>
              <a:rPr lang="en-US" sz="1093" b="1" i="0" u="none" strike="noStrike" cap="none">
                <a:solidFill>
                  <a:srgbClr val="000000"/>
                </a:solidFill>
                <a:latin typeface="Nobile"/>
                <a:ea typeface="Nobile"/>
                <a:cs typeface="Nobile"/>
                <a:sym typeface="Nobile"/>
              </a:rPr>
              <a:t>Security use case:</a:t>
            </a:r>
            <a:r>
              <a:rPr lang="en-US" sz="1093" b="0" i="0" u="none" strike="noStrike" cap="none">
                <a:solidFill>
                  <a:srgbClr val="000000"/>
                </a:solidFill>
                <a:latin typeface="Nobile"/>
                <a:ea typeface="Nobile"/>
                <a:cs typeface="Nobile"/>
                <a:sym typeface="Nobile"/>
              </a:rPr>
              <a:t> Detect suspicious patterns such as repeated login failures from the same IP address, indicating a potential brute-force attack.</a:t>
            </a:r>
            <a:endParaRPr sz="1093" b="0" i="0" u="none" strike="noStrike" cap="none"/>
          </a:p>
        </p:txBody>
      </p:sp>
      <p:sp>
        <p:nvSpPr>
          <p:cNvPr id="16" name="Google Shape;176;p8">
            <a:extLst>
              <a:ext uri="{FF2B5EF4-FFF2-40B4-BE49-F238E27FC236}">
                <a16:creationId xmlns:a16="http://schemas.microsoft.com/office/drawing/2014/main" id="{9DEE85E2-ED66-5950-A525-3CE4ED45A0A6}"/>
              </a:ext>
            </a:extLst>
          </p:cNvPr>
          <p:cNvSpPr/>
          <p:nvPr/>
        </p:nvSpPr>
        <p:spPr>
          <a:xfrm>
            <a:off x="326775" y="326750"/>
            <a:ext cx="6360000" cy="402600"/>
          </a:xfrm>
          <a:prstGeom prst="rect">
            <a:avLst/>
          </a:prstGeom>
          <a:noFill/>
          <a:ln>
            <a:noFill/>
          </a:ln>
        </p:spPr>
        <p:txBody>
          <a:bodyPr spcFirstLastPara="1" wrap="square" lIns="0" tIns="0" rIns="0" bIns="0" anchor="t" anchorCtr="0">
            <a:noAutofit/>
          </a:bodyPr>
          <a:lstStyle/>
          <a:p>
            <a:pPr marL="0" marR="0" lvl="0" indent="0" algn="l" rtl="0">
              <a:lnSpc>
                <a:spcPct val="124691"/>
              </a:lnSpc>
              <a:spcBef>
                <a:spcPts val="0"/>
              </a:spcBef>
              <a:spcAft>
                <a:spcPts val="0"/>
              </a:spcAft>
              <a:buClr>
                <a:srgbClr val="1B1B27"/>
              </a:buClr>
              <a:buSzPts val="2531"/>
              <a:buFont typeface="Corben"/>
              <a:buNone/>
            </a:pPr>
            <a:r>
              <a:rPr lang="en-US" sz="2531" b="1">
                <a:solidFill>
                  <a:srgbClr val="1B1B27"/>
                </a:solidFill>
                <a:latin typeface="DM Sans"/>
                <a:ea typeface="DM Sans"/>
                <a:cs typeface="DM Sans"/>
                <a:sym typeface="DM Sans"/>
              </a:rPr>
              <a:t>Kibana: Visualisation &amp; Dashboards</a:t>
            </a:r>
            <a:endParaRPr sz="2531" b="1">
              <a:solidFill>
                <a:srgbClr val="1B1B27"/>
              </a:solidFill>
              <a:latin typeface="DM Sans"/>
              <a:ea typeface="DM Sans"/>
              <a:cs typeface="DM Sans"/>
              <a:sym typeface="DM Sans"/>
            </a:endParaRPr>
          </a:p>
        </p:txBody>
      </p:sp>
    </p:spTree>
    <p:extLst>
      <p:ext uri="{BB962C8B-B14F-4D97-AF65-F5344CB8AC3E}">
        <p14:creationId xmlns:p14="http://schemas.microsoft.com/office/powerpoint/2010/main" val="38668750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33">
          <a:extLst>
            <a:ext uri="{FF2B5EF4-FFF2-40B4-BE49-F238E27FC236}">
              <a16:creationId xmlns:a16="http://schemas.microsoft.com/office/drawing/2014/main" id="{21A66F28-A0DA-7CFF-52B4-58DCD9EEC75B}"/>
            </a:ext>
          </a:extLst>
        </p:cNvPr>
        <p:cNvGrpSpPr/>
        <p:nvPr/>
      </p:nvGrpSpPr>
      <p:grpSpPr>
        <a:xfrm>
          <a:off x="0" y="0"/>
          <a:ext cx="0" cy="0"/>
          <a:chOff x="0" y="0"/>
          <a:chExt cx="0" cy="0"/>
        </a:xfrm>
      </p:grpSpPr>
      <p:sp>
        <p:nvSpPr>
          <p:cNvPr id="334" name="Google Shape;334;p58">
            <a:extLst>
              <a:ext uri="{FF2B5EF4-FFF2-40B4-BE49-F238E27FC236}">
                <a16:creationId xmlns:a16="http://schemas.microsoft.com/office/drawing/2014/main" id="{24ACA4AA-8F90-D053-12BB-D2A835F7EA93}"/>
              </a:ext>
            </a:extLst>
          </p:cNvPr>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r>
              <a:rPr lang="en-IN" dirty="0"/>
              <a:t>Installation Steps</a:t>
            </a:r>
          </a:p>
        </p:txBody>
      </p:sp>
      <p:sp>
        <p:nvSpPr>
          <p:cNvPr id="335" name="Google Shape;335;p58">
            <a:extLst>
              <a:ext uri="{FF2B5EF4-FFF2-40B4-BE49-F238E27FC236}">
                <a16:creationId xmlns:a16="http://schemas.microsoft.com/office/drawing/2014/main" id="{8FE9FD67-0450-51E9-6D74-942895C28F8A}"/>
              </a:ext>
            </a:extLst>
          </p:cNvPr>
          <p:cNvSpPr txBox="1">
            <a:spLocks noGrp="1"/>
          </p:cNvSpPr>
          <p:nvPr>
            <p:ph type="body" idx="1"/>
          </p:nvPr>
        </p:nvSpPr>
        <p:spPr>
          <a:xfrm>
            <a:off x="311701" y="1171675"/>
            <a:ext cx="8293457" cy="722439"/>
          </a:xfrm>
          <a:prstGeom prst="rect">
            <a:avLst/>
          </a:prstGeom>
        </p:spPr>
        <p:txBody>
          <a:bodyPr spcFirstLastPara="1" wrap="square" lIns="91425" tIns="91425" rIns="91425" bIns="91425" anchor="t" anchorCtr="0">
            <a:noAutofit/>
          </a:bodyPr>
          <a:lstStyle/>
          <a:p>
            <a:pPr marL="139700" indent="0">
              <a:buNone/>
            </a:pPr>
            <a:r>
              <a:rPr lang="en-US" sz="1600" dirty="0">
                <a:latin typeface="Arial"/>
                <a:cs typeface="Arial"/>
              </a:rPr>
              <a:t>Navigate to elk-installation-guide.md in the shared git repo</a:t>
            </a:r>
            <a:endParaRPr lang="en-IN" sz="1600" dirty="0">
              <a:latin typeface="Arial"/>
              <a:cs typeface="Arial"/>
            </a:endParaRPr>
          </a:p>
        </p:txBody>
      </p:sp>
    </p:spTree>
    <p:extLst>
      <p:ext uri="{BB962C8B-B14F-4D97-AF65-F5344CB8AC3E}">
        <p14:creationId xmlns:p14="http://schemas.microsoft.com/office/powerpoint/2010/main" val="94195653"/>
      </p:ext>
    </p:extLst>
  </p:cSld>
  <p:clrMapOvr>
    <a:masterClrMapping/>
  </p:clrMapOvr>
</p:sld>
</file>

<file path=ppt/theme/theme1.xml><?xml version="1.0" encoding="utf-8"?>
<a:theme xmlns:a="http://schemas.openxmlformats.org/drawingml/2006/main"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2249</TotalTime>
  <Words>666</Words>
  <Application>Microsoft Office PowerPoint</Application>
  <PresentationFormat>On-screen Show (16:9)</PresentationFormat>
  <Paragraphs>60</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Nobile</vt:lpstr>
      <vt:lpstr>Corben</vt:lpstr>
      <vt:lpstr>Old Standard TT</vt:lpstr>
      <vt:lpstr>Arial</vt:lpstr>
      <vt:lpstr>DM Sans</vt:lpstr>
      <vt:lpstr>Paperback</vt:lpstr>
      <vt:lpstr>Elastic Stack for Logs Monitoring</vt:lpstr>
      <vt:lpstr>Agenda</vt:lpstr>
      <vt:lpstr>PowerPoint Presentation</vt:lpstr>
      <vt:lpstr>PowerPoint Presentation</vt:lpstr>
      <vt:lpstr>PowerPoint Presentation</vt:lpstr>
      <vt:lpstr>PowerPoint Presentation</vt:lpstr>
      <vt:lpstr>PowerPoint Presentation</vt:lpstr>
      <vt:lpstr>PowerPoint Presentation</vt:lpstr>
      <vt:lpstr>Installation Steps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KubeCraft Technologies</cp:lastModifiedBy>
  <cp:revision>88</cp:revision>
  <dcterms:modified xsi:type="dcterms:W3CDTF">2026-01-24T12:44:41Z</dcterms:modified>
</cp:coreProperties>
</file>