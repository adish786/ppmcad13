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3" r:id="rId3"/>
    <p:sldId id="295" r:id="rId4"/>
    <p:sldId id="282" r:id="rId5"/>
    <p:sldId id="286" r:id="rId6"/>
    <p:sldId id="324" r:id="rId7"/>
    <p:sldId id="287" r:id="rId8"/>
    <p:sldId id="310" r:id="rId9"/>
    <p:sldId id="325" r:id="rId10"/>
    <p:sldId id="329" r:id="rId11"/>
    <p:sldId id="330" r:id="rId12"/>
    <p:sldId id="326" r:id="rId13"/>
    <p:sldId id="331" r:id="rId14"/>
    <p:sldId id="327" r:id="rId15"/>
    <p:sldId id="32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AD19-BCF0-C094-4CDD-E794F225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9C8C8-31B0-EF9C-2D3E-BFFFD0F9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3AC4A-64DE-7991-386D-D4C007FED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4249B-FD95-22A5-65C2-DADA1147A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417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E56B4-4631-38CF-92CA-B7464956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0FE94-9D60-B57C-E0B2-FC47EC81A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3E6B2-D61E-F145-9598-DAD3203CB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77257-A696-D610-54E3-22FFFE82D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73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aws-audit@company.com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Multi-Account Governance &amp; AWS </a:t>
            </a: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Control Tower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2559-4030-008D-445A-366C8662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9ABD87-BF18-5F16-450F-ECC297BEF4F0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Multi-Account Strategy - Why It Matters</a:t>
            </a:r>
            <a:endParaRPr sz="36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FE265F-F26F-8508-AF3E-2E9A029D6E5B}"/>
              </a:ext>
            </a:extLst>
          </p:cNvPr>
          <p:cNvGrpSpPr/>
          <p:nvPr/>
        </p:nvGrpSpPr>
        <p:grpSpPr>
          <a:xfrm>
            <a:off x="558581" y="1346105"/>
            <a:ext cx="3284076" cy="5237573"/>
            <a:chOff x="558581" y="1346106"/>
            <a:chExt cx="3326691" cy="47536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41EDF22-4B73-B5F9-E832-DEAB82E6D47D}"/>
                </a:ext>
              </a:extLst>
            </p:cNvPr>
            <p:cNvSpPr/>
            <p:nvPr/>
          </p:nvSpPr>
          <p:spPr>
            <a:xfrm>
              <a:off x="558581" y="1346106"/>
              <a:ext cx="3326691" cy="489600"/>
            </a:xfrm>
            <a:custGeom>
              <a:avLst/>
              <a:gdLst>
                <a:gd name="csX0" fmla="*/ 0 w 3326691"/>
                <a:gd name="csY0" fmla="*/ 0 h 489600"/>
                <a:gd name="csX1" fmla="*/ 3326691 w 3326691"/>
                <a:gd name="csY1" fmla="*/ 0 h 489600"/>
                <a:gd name="csX2" fmla="*/ 3326691 w 3326691"/>
                <a:gd name="csY2" fmla="*/ 489600 h 489600"/>
                <a:gd name="csX3" fmla="*/ 0 w 3326691"/>
                <a:gd name="csY3" fmla="*/ 489600 h 489600"/>
                <a:gd name="csX4" fmla="*/ 0 w 3326691"/>
                <a:gd name="csY4" fmla="*/ 0 h 48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6691" h="489600">
                  <a:moveTo>
                    <a:pt x="0" y="0"/>
                  </a:moveTo>
                  <a:lnTo>
                    <a:pt x="3326691" y="0"/>
                  </a:lnTo>
                  <a:lnTo>
                    <a:pt x="3326691" y="489600"/>
                  </a:lnTo>
                  <a:lnTo>
                    <a:pt x="0" y="489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700" b="1" kern="1200">
                  <a:solidFill>
                    <a:schemeClr val="tx1"/>
                  </a:solidFill>
                </a:rPr>
                <a:t>The Problem</a:t>
              </a:r>
              <a:endParaRPr lang="en-IN" sz="1700" kern="120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B1ADEC9-8DA4-755C-8C44-0B2CE2C3C9AD}"/>
                </a:ext>
              </a:extLst>
            </p:cNvPr>
            <p:cNvSpPr/>
            <p:nvPr/>
          </p:nvSpPr>
          <p:spPr>
            <a:xfrm>
              <a:off x="558581" y="1835706"/>
              <a:ext cx="3326691" cy="4264014"/>
            </a:xfrm>
            <a:custGeom>
              <a:avLst/>
              <a:gdLst>
                <a:gd name="csX0" fmla="*/ 0 w 3326691"/>
                <a:gd name="csY0" fmla="*/ 0 h 4264014"/>
                <a:gd name="csX1" fmla="*/ 3326691 w 3326691"/>
                <a:gd name="csY1" fmla="*/ 0 h 4264014"/>
                <a:gd name="csX2" fmla="*/ 3326691 w 3326691"/>
                <a:gd name="csY2" fmla="*/ 4264014 h 4264014"/>
                <a:gd name="csX3" fmla="*/ 0 w 3326691"/>
                <a:gd name="csY3" fmla="*/ 4264014 h 4264014"/>
                <a:gd name="csX4" fmla="*/ 0 w 3326691"/>
                <a:gd name="csY4" fmla="*/ 0 h 426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6691" h="4264014">
                  <a:moveTo>
                    <a:pt x="0" y="0"/>
                  </a:moveTo>
                  <a:lnTo>
                    <a:pt x="3326691" y="0"/>
                  </a:lnTo>
                  <a:lnTo>
                    <a:pt x="3326691" y="4264014"/>
                  </a:lnTo>
                  <a:lnTo>
                    <a:pt x="0" y="426401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0678" tIns="90678" rIns="120904" bIns="136017" numCol="1" spcCol="1270" anchor="t" anchorCtr="0">
              <a:noAutofit/>
            </a:bodyPr>
            <a:lstStyle/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b="1" kern="1200" dirty="0">
                  <a:solidFill>
                    <a:schemeClr val="tx1"/>
                  </a:solidFill>
                </a:rPr>
                <a:t>Single Account at Scale</a:t>
              </a: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Everything in One AWS Account: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628650" lvl="2" indent="-171450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Production + Development + Testing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628650" lvl="2" indent="-171450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Engineering + Data Science + Marketing teams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All resources mixed</a:t>
              </a:r>
              <a:endParaRPr lang="en-IN" sz="14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819238-2EF1-51AB-0758-9C42E021A7C1}"/>
              </a:ext>
            </a:extLst>
          </p:cNvPr>
          <p:cNvGrpSpPr/>
          <p:nvPr/>
        </p:nvGrpSpPr>
        <p:grpSpPr>
          <a:xfrm>
            <a:off x="4082143" y="1346106"/>
            <a:ext cx="3646714" cy="5237572"/>
            <a:chOff x="4351010" y="1346106"/>
            <a:chExt cx="3326691" cy="4753614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552B8-28C8-876C-A080-8E5DAA888DBE}"/>
                </a:ext>
              </a:extLst>
            </p:cNvPr>
            <p:cNvSpPr/>
            <p:nvPr/>
          </p:nvSpPr>
          <p:spPr>
            <a:xfrm>
              <a:off x="4351010" y="1346106"/>
              <a:ext cx="3326691" cy="489600"/>
            </a:xfrm>
            <a:custGeom>
              <a:avLst/>
              <a:gdLst>
                <a:gd name="csX0" fmla="*/ 0 w 3326691"/>
                <a:gd name="csY0" fmla="*/ 0 h 489600"/>
                <a:gd name="csX1" fmla="*/ 3326691 w 3326691"/>
                <a:gd name="csY1" fmla="*/ 0 h 489600"/>
                <a:gd name="csX2" fmla="*/ 3326691 w 3326691"/>
                <a:gd name="csY2" fmla="*/ 489600 h 489600"/>
                <a:gd name="csX3" fmla="*/ 0 w 3326691"/>
                <a:gd name="csY3" fmla="*/ 489600 h 489600"/>
                <a:gd name="csX4" fmla="*/ 0 w 3326691"/>
                <a:gd name="csY4" fmla="*/ 0 h 48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6691" h="489600">
                  <a:moveTo>
                    <a:pt x="0" y="0"/>
                  </a:moveTo>
                  <a:lnTo>
                    <a:pt x="3326691" y="0"/>
                  </a:lnTo>
                  <a:lnTo>
                    <a:pt x="3326691" y="489600"/>
                  </a:lnTo>
                  <a:lnTo>
                    <a:pt x="0" y="489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2">
                <a:hueOff val="3221807"/>
                <a:satOff val="-9246"/>
                <a:lumOff val="-14805"/>
                <a:alphaOff val="0"/>
              </a:schemeClr>
            </a:lnRef>
            <a:fillRef idx="1">
              <a:schemeClr val="accent2">
                <a:hueOff val="3221807"/>
                <a:satOff val="-9246"/>
                <a:lumOff val="-14805"/>
                <a:alphaOff val="0"/>
              </a:schemeClr>
            </a:fillRef>
            <a:effectRef idx="1">
              <a:schemeClr val="accent2">
                <a:hueOff val="3221807"/>
                <a:satOff val="-9246"/>
                <a:lumOff val="-1480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kern="1200" dirty="0">
                  <a:solidFill>
                    <a:schemeClr val="tx1"/>
                  </a:solidFill>
                </a:rPr>
                <a:t>Consequences</a:t>
              </a:r>
              <a:endParaRPr lang="en-IN" sz="1700" kern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6DB8DDF-5E05-083A-F935-689E21004346}"/>
                </a:ext>
              </a:extLst>
            </p:cNvPr>
            <p:cNvSpPr/>
            <p:nvPr/>
          </p:nvSpPr>
          <p:spPr>
            <a:xfrm>
              <a:off x="4351010" y="1835706"/>
              <a:ext cx="3326691" cy="4264014"/>
            </a:xfrm>
            <a:custGeom>
              <a:avLst/>
              <a:gdLst>
                <a:gd name="csX0" fmla="*/ 0 w 3326691"/>
                <a:gd name="csY0" fmla="*/ 0 h 4264014"/>
                <a:gd name="csX1" fmla="*/ 3326691 w 3326691"/>
                <a:gd name="csY1" fmla="*/ 0 h 4264014"/>
                <a:gd name="csX2" fmla="*/ 3326691 w 3326691"/>
                <a:gd name="csY2" fmla="*/ 4264014 h 4264014"/>
                <a:gd name="csX3" fmla="*/ 0 w 3326691"/>
                <a:gd name="csY3" fmla="*/ 4264014 h 4264014"/>
                <a:gd name="csX4" fmla="*/ 0 w 3326691"/>
                <a:gd name="csY4" fmla="*/ 0 h 426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6691" h="4264014">
                  <a:moveTo>
                    <a:pt x="0" y="0"/>
                  </a:moveTo>
                  <a:lnTo>
                    <a:pt x="3326691" y="0"/>
                  </a:lnTo>
                  <a:lnTo>
                    <a:pt x="3326691" y="4264014"/>
                  </a:lnTo>
                  <a:lnTo>
                    <a:pt x="0" y="426401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2">
                <a:tint val="40000"/>
                <a:alpha val="90000"/>
                <a:hueOff val="3367359"/>
                <a:satOff val="-31116"/>
                <a:lumOff val="-3508"/>
                <a:alphaOff val="0"/>
              </a:schemeClr>
            </a:lnRef>
            <a:fillRef idx="1">
              <a:schemeClr val="accent2">
                <a:tint val="40000"/>
                <a:alpha val="90000"/>
                <a:hueOff val="3367359"/>
                <a:satOff val="-31116"/>
                <a:lumOff val="-3508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3367359"/>
                <a:satOff val="-31116"/>
                <a:lumOff val="-3508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0678" tIns="90678" rIns="120904" bIns="136017" numCol="1" spcCol="1270" anchor="t" anchorCtr="0">
              <a:noAutofit/>
            </a:bodyPr>
            <a:lstStyle/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400" b="1" kern="1200" dirty="0">
                  <a:solidFill>
                    <a:schemeClr val="tx1"/>
                  </a:solidFill>
                </a:rPr>
                <a:t>Security blast radius:</a:t>
              </a:r>
              <a:r>
                <a:rPr lang="en-IN" sz="1400" kern="1200" dirty="0">
                  <a:solidFill>
                    <a:schemeClr val="tx1"/>
                  </a:solidFill>
                </a:rPr>
                <a:t> One breach = everything compromised</a:t>
              </a: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400" b="1" kern="1200" dirty="0">
                  <a:solidFill>
                    <a:schemeClr val="tx1"/>
                  </a:solidFill>
                </a:rPr>
                <a:t>Complexity in cost accountability:</a:t>
              </a:r>
              <a:r>
                <a:rPr lang="en-IN" sz="1400" kern="1200" dirty="0">
                  <a:solidFill>
                    <a:schemeClr val="tx1"/>
                  </a:solidFill>
                </a:rPr>
                <a:t> Who spent $5K last month for the un-tagged resources?</a:t>
              </a: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400" b="1" kern="1200" dirty="0">
                  <a:solidFill>
                    <a:schemeClr val="tx1"/>
                  </a:solidFill>
                </a:rPr>
                <a:t>Cannot enforce different policies:</a:t>
              </a:r>
              <a:r>
                <a:rPr lang="en-IN" sz="1400" kern="1200" dirty="0">
                  <a:solidFill>
                    <a:schemeClr val="tx1"/>
                  </a:solidFill>
                </a:rPr>
                <a:t> Production needs strict controls, Dev needs flexibility</a:t>
              </a: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400" b="1" kern="1200" dirty="0">
                  <a:solidFill>
                    <a:schemeClr val="tx1"/>
                  </a:solidFill>
                </a:rPr>
                <a:t>Compliance nightmare:</a:t>
              </a:r>
              <a:r>
                <a:rPr lang="en-IN" sz="1400" kern="1200" dirty="0">
                  <a:solidFill>
                    <a:schemeClr val="tx1"/>
                  </a:solidFill>
                </a:rPr>
                <a:t> Auditors can't separate production from test data</a:t>
              </a: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400" b="1" kern="1200" dirty="0">
                  <a:solidFill>
                    <a:schemeClr val="tx1"/>
                  </a:solidFill>
                </a:rPr>
                <a:t>Human errors propagate:</a:t>
              </a:r>
              <a:r>
                <a:rPr lang="en-IN" sz="1400" kern="1200" dirty="0">
                  <a:solidFill>
                    <a:schemeClr val="tx1"/>
                  </a:solidFill>
                </a:rPr>
                <a:t> Delete production database by accident</a:t>
              </a: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400" b="1" kern="1200" dirty="0">
                  <a:solidFill>
                    <a:schemeClr val="tx1"/>
                  </a:solidFill>
                </a:rPr>
                <a:t>Team conflicts:</a:t>
              </a:r>
              <a:r>
                <a:rPr lang="en-IN" sz="1400" kern="1200" dirty="0">
                  <a:solidFill>
                    <a:schemeClr val="tx1"/>
                  </a:solidFill>
                </a:rPr>
                <a:t> Dev team changes break production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E99845C-02EB-F72B-2AB1-B01925A0825F}"/>
              </a:ext>
            </a:extLst>
          </p:cNvPr>
          <p:cNvGrpSpPr/>
          <p:nvPr/>
        </p:nvGrpSpPr>
        <p:grpSpPr>
          <a:xfrm>
            <a:off x="7968343" y="1346106"/>
            <a:ext cx="3784819" cy="5237572"/>
            <a:chOff x="8143438" y="1346106"/>
            <a:chExt cx="3326691" cy="4753614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CD87C0-42BE-F88C-B12E-5E9AAC6CC01E}"/>
                </a:ext>
              </a:extLst>
            </p:cNvPr>
            <p:cNvSpPr/>
            <p:nvPr/>
          </p:nvSpPr>
          <p:spPr>
            <a:xfrm>
              <a:off x="8143438" y="1346106"/>
              <a:ext cx="3326691" cy="489600"/>
            </a:xfrm>
            <a:custGeom>
              <a:avLst/>
              <a:gdLst>
                <a:gd name="csX0" fmla="*/ 0 w 3326691"/>
                <a:gd name="csY0" fmla="*/ 0 h 489600"/>
                <a:gd name="csX1" fmla="*/ 3326691 w 3326691"/>
                <a:gd name="csY1" fmla="*/ 0 h 489600"/>
                <a:gd name="csX2" fmla="*/ 3326691 w 3326691"/>
                <a:gd name="csY2" fmla="*/ 489600 h 489600"/>
                <a:gd name="csX3" fmla="*/ 0 w 3326691"/>
                <a:gd name="csY3" fmla="*/ 489600 h 489600"/>
                <a:gd name="csX4" fmla="*/ 0 w 3326691"/>
                <a:gd name="csY4" fmla="*/ 0 h 489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6691" h="489600">
                  <a:moveTo>
                    <a:pt x="0" y="0"/>
                  </a:moveTo>
                  <a:lnTo>
                    <a:pt x="3326691" y="0"/>
                  </a:lnTo>
                  <a:lnTo>
                    <a:pt x="3326691" y="489600"/>
                  </a:lnTo>
                  <a:lnTo>
                    <a:pt x="0" y="4896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2">
                <a:hueOff val="6443614"/>
                <a:satOff val="-18493"/>
                <a:lumOff val="-29609"/>
                <a:alphaOff val="0"/>
              </a:schemeClr>
            </a:lnRef>
            <a:fillRef idx="1">
              <a:schemeClr val="accent2">
                <a:hueOff val="6443614"/>
                <a:satOff val="-18493"/>
                <a:lumOff val="-29609"/>
                <a:alphaOff val="0"/>
              </a:schemeClr>
            </a:fillRef>
            <a:effectRef idx="1">
              <a:schemeClr val="accent2">
                <a:hueOff val="6443614"/>
                <a:satOff val="-18493"/>
                <a:lumOff val="-2960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kern="1200" dirty="0">
                  <a:solidFill>
                    <a:schemeClr val="tx1"/>
                  </a:solidFill>
                </a:rPr>
                <a:t>The Solution</a:t>
              </a:r>
              <a:endParaRPr lang="en-IN" sz="1700" kern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048C309-4F3A-49B4-6AA1-4E9517847378}"/>
                </a:ext>
              </a:extLst>
            </p:cNvPr>
            <p:cNvSpPr/>
            <p:nvPr/>
          </p:nvSpPr>
          <p:spPr>
            <a:xfrm>
              <a:off x="8143438" y="1835706"/>
              <a:ext cx="3326691" cy="4264014"/>
            </a:xfrm>
            <a:custGeom>
              <a:avLst/>
              <a:gdLst>
                <a:gd name="csX0" fmla="*/ 0 w 3326691"/>
                <a:gd name="csY0" fmla="*/ 0 h 4264014"/>
                <a:gd name="csX1" fmla="*/ 3326691 w 3326691"/>
                <a:gd name="csY1" fmla="*/ 0 h 4264014"/>
                <a:gd name="csX2" fmla="*/ 3326691 w 3326691"/>
                <a:gd name="csY2" fmla="*/ 4264014 h 4264014"/>
                <a:gd name="csX3" fmla="*/ 0 w 3326691"/>
                <a:gd name="csY3" fmla="*/ 4264014 h 4264014"/>
                <a:gd name="csX4" fmla="*/ 0 w 3326691"/>
                <a:gd name="csY4" fmla="*/ 0 h 4264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6691" h="4264014">
                  <a:moveTo>
                    <a:pt x="0" y="0"/>
                  </a:moveTo>
                  <a:lnTo>
                    <a:pt x="3326691" y="0"/>
                  </a:lnTo>
                  <a:lnTo>
                    <a:pt x="3326691" y="4264014"/>
                  </a:lnTo>
                  <a:lnTo>
                    <a:pt x="0" y="426401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hemeClr val="accent2">
                <a:tint val="40000"/>
                <a:alpha val="90000"/>
                <a:hueOff val="6734718"/>
                <a:satOff val="-62232"/>
                <a:lumOff val="-7015"/>
                <a:alphaOff val="0"/>
              </a:schemeClr>
            </a:lnRef>
            <a:fillRef idx="1">
              <a:schemeClr val="accent2">
                <a:tint val="40000"/>
                <a:alpha val="90000"/>
                <a:hueOff val="6734718"/>
                <a:satOff val="-62232"/>
                <a:lumOff val="-7015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6734718"/>
                <a:satOff val="-62232"/>
                <a:lumOff val="-7015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0678" tIns="90678" rIns="120904" bIns="136017" numCol="1" spcCol="1270" anchor="t" anchorCtr="0">
              <a:noAutofit/>
            </a:bodyPr>
            <a:lstStyle/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1400" b="1" kern="1200" dirty="0">
                  <a:solidFill>
                    <a:schemeClr val="tx1"/>
                  </a:solidFill>
                </a:rPr>
                <a:t>Multi-Account Strategy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171450" lvl="1" indent="-17145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b="1" kern="1200" dirty="0">
                  <a:solidFill>
                    <a:schemeClr val="tx1"/>
                  </a:solidFill>
                </a:rPr>
                <a:t>Separate AWS Accounts for: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628650" lvl="2" indent="-171450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Production Account (strict controls)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628650" lvl="2" indent="-171450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Development Account (relaxed for experimentation)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628650" lvl="2" indent="-171450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Testing/Staging Account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628650" lvl="2" indent="-171450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Team-specific accounts (Engineering, Data Science, etc.)</a:t>
              </a:r>
              <a:endParaRPr lang="en-IN" sz="1400" kern="1200" dirty="0">
                <a:solidFill>
                  <a:schemeClr val="tx1"/>
                </a:solidFill>
              </a:endParaRPr>
            </a:p>
            <a:p>
              <a:pPr marL="628650" lvl="2" indent="-171450" defTabSz="755650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Security/Audit Account (centralized logging)</a:t>
              </a:r>
              <a:endParaRPr lang="en-IN" sz="1400" kern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519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27B8-A623-EE6B-75E0-6CA7DF38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157DEC-7681-F64B-23CA-8FF196193BEF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Multi-Account Strategy - </a:t>
            </a:r>
            <a:r>
              <a:rPr lang="en-IN" sz="3600" b="1" dirty="0"/>
              <a:t>Key Benefits</a:t>
            </a:r>
            <a:endParaRPr sz="3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8C40C8E-D1B7-04CB-5537-3B305EB16C5D}"/>
              </a:ext>
            </a:extLst>
          </p:cNvPr>
          <p:cNvGrpSpPr/>
          <p:nvPr/>
        </p:nvGrpSpPr>
        <p:grpSpPr>
          <a:xfrm>
            <a:off x="696685" y="3918857"/>
            <a:ext cx="5116286" cy="2724513"/>
            <a:chOff x="818131" y="1077329"/>
            <a:chExt cx="4031275" cy="2520220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D4AC2BA-80A7-E33B-0EE8-E9F515A11307}"/>
                </a:ext>
              </a:extLst>
            </p:cNvPr>
            <p:cNvSpPr/>
            <p:nvPr/>
          </p:nvSpPr>
          <p:spPr>
            <a:xfrm>
              <a:off x="818131" y="1480457"/>
              <a:ext cx="4031275" cy="2117092"/>
            </a:xfrm>
            <a:custGeom>
              <a:avLst/>
              <a:gdLst>
                <a:gd name="csX0" fmla="*/ 0 w 4031275"/>
                <a:gd name="csY0" fmla="*/ 0 h 2418765"/>
                <a:gd name="csX1" fmla="*/ 4031275 w 4031275"/>
                <a:gd name="csY1" fmla="*/ 0 h 2418765"/>
                <a:gd name="csX2" fmla="*/ 4031275 w 4031275"/>
                <a:gd name="csY2" fmla="*/ 2418765 h 2418765"/>
                <a:gd name="csX3" fmla="*/ 0 w 4031275"/>
                <a:gd name="csY3" fmla="*/ 2418765 h 2418765"/>
                <a:gd name="csX4" fmla="*/ 0 w 4031275"/>
                <a:gd name="csY4" fmla="*/ 0 h 241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31275" h="2418765">
                  <a:moveTo>
                    <a:pt x="0" y="0"/>
                  </a:moveTo>
                  <a:lnTo>
                    <a:pt x="4031275" y="0"/>
                  </a:lnTo>
                  <a:lnTo>
                    <a:pt x="4031275" y="2418765"/>
                  </a:lnTo>
                  <a:lnTo>
                    <a:pt x="0" y="241876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tx1"/>
                  </a:solidFill>
                </a:rPr>
                <a:t>Same compliance rules across all the services and workloads</a:t>
              </a:r>
            </a:p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IN" sz="1400" dirty="0">
                  <a:solidFill>
                    <a:schemeClr val="tx1"/>
                  </a:solidFill>
                </a:rPr>
                <a:t>After (Multi-Account)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Production Account: Strict encryption enforced, MFA required for all access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Development Account: Relaxed controls for experimentation, Data not subject to compliance</a:t>
              </a:r>
            </a:p>
            <a:p>
              <a:pPr lvl="1" defTabSz="800100">
                <a:spcBef>
                  <a:spcPts val="600"/>
                </a:spcBef>
              </a:pPr>
              <a:endParaRPr lang="en-US" sz="14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45F0F0-8353-2046-7236-CCA20E493428}"/>
                </a:ext>
              </a:extLst>
            </p:cNvPr>
            <p:cNvSpPr/>
            <p:nvPr/>
          </p:nvSpPr>
          <p:spPr>
            <a:xfrm>
              <a:off x="818131" y="1077329"/>
              <a:ext cx="4031275" cy="435785"/>
            </a:xfrm>
            <a:prstGeom prst="rect">
              <a:avLst/>
            </a:prstGeom>
            <a:grpFill/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3. Compliance &amp; Auditing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0D7578-E0DC-D9E4-066B-64BA1226F22B}"/>
              </a:ext>
            </a:extLst>
          </p:cNvPr>
          <p:cNvGrpSpPr/>
          <p:nvPr/>
        </p:nvGrpSpPr>
        <p:grpSpPr>
          <a:xfrm>
            <a:off x="696685" y="1120872"/>
            <a:ext cx="5116286" cy="2591156"/>
            <a:chOff x="818131" y="1077329"/>
            <a:chExt cx="4031275" cy="25202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F40797-3922-E2CF-32FC-999BECD567CB}"/>
                </a:ext>
              </a:extLst>
            </p:cNvPr>
            <p:cNvSpPr/>
            <p:nvPr/>
          </p:nvSpPr>
          <p:spPr>
            <a:xfrm>
              <a:off x="818131" y="1480457"/>
              <a:ext cx="4031275" cy="2117092"/>
            </a:xfrm>
            <a:custGeom>
              <a:avLst/>
              <a:gdLst>
                <a:gd name="csX0" fmla="*/ 0 w 4031275"/>
                <a:gd name="csY0" fmla="*/ 0 h 2418765"/>
                <a:gd name="csX1" fmla="*/ 4031275 w 4031275"/>
                <a:gd name="csY1" fmla="*/ 0 h 2418765"/>
                <a:gd name="csX2" fmla="*/ 4031275 w 4031275"/>
                <a:gd name="csY2" fmla="*/ 2418765 h 2418765"/>
                <a:gd name="csX3" fmla="*/ 0 w 4031275"/>
                <a:gd name="csY3" fmla="*/ 2418765 h 2418765"/>
                <a:gd name="csX4" fmla="*/ 0 w 4031275"/>
                <a:gd name="csY4" fmla="*/ 0 h 241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31275" h="2418765">
                  <a:moveTo>
                    <a:pt x="0" y="0"/>
                  </a:moveTo>
                  <a:lnTo>
                    <a:pt x="4031275" y="0"/>
                  </a:lnTo>
                  <a:lnTo>
                    <a:pt x="4031275" y="2418765"/>
                  </a:lnTo>
                  <a:lnTo>
                    <a:pt x="0" y="241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IN" sz="1400" kern="1200" dirty="0">
                  <a:solidFill>
                    <a:schemeClr val="tx1"/>
                  </a:solidFill>
                </a:rPr>
                <a:t>Single Account Compromised put everything at risk</a:t>
              </a:r>
            </a:p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IN" sz="1400" kern="1200" dirty="0">
                  <a:solidFill>
                    <a:schemeClr val="tx1"/>
                  </a:solidFill>
                </a:rPr>
                <a:t>After (Multi-Account)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IN" sz="1400" dirty="0">
                  <a:solidFill>
                    <a:schemeClr val="tx1"/>
                  </a:solidFill>
                </a:rPr>
                <a:t>If 1 Account is compromised, other accounts remain </a:t>
              </a:r>
              <a:r>
                <a:rPr lang="en-IN" sz="1400" kern="1200" dirty="0">
                  <a:solidFill>
                    <a:schemeClr val="tx1"/>
                  </a:solidFill>
                </a:rPr>
                <a:t>unaffected. E.g.: dev compromised even then test and prod does not have any effect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8F66EE-FC00-4141-1D92-86848D27674A}"/>
                </a:ext>
              </a:extLst>
            </p:cNvPr>
            <p:cNvSpPr/>
            <p:nvPr/>
          </p:nvSpPr>
          <p:spPr>
            <a:xfrm>
              <a:off x="818131" y="1077329"/>
              <a:ext cx="4031275" cy="435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1. Security Isolation (Blast Radius Containment)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F3BF72-F0D1-8C89-5A86-18AB865F35E1}"/>
              </a:ext>
            </a:extLst>
          </p:cNvPr>
          <p:cNvGrpSpPr/>
          <p:nvPr/>
        </p:nvGrpSpPr>
        <p:grpSpPr>
          <a:xfrm>
            <a:off x="6226628" y="1120871"/>
            <a:ext cx="5246913" cy="2591157"/>
            <a:chOff x="818131" y="1077329"/>
            <a:chExt cx="4031275" cy="2520220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D643B90-9089-19C4-7A65-529FA075A5D3}"/>
                </a:ext>
              </a:extLst>
            </p:cNvPr>
            <p:cNvSpPr/>
            <p:nvPr/>
          </p:nvSpPr>
          <p:spPr>
            <a:xfrm>
              <a:off x="818131" y="1480457"/>
              <a:ext cx="4031275" cy="2117092"/>
            </a:xfrm>
            <a:custGeom>
              <a:avLst/>
              <a:gdLst>
                <a:gd name="csX0" fmla="*/ 0 w 4031275"/>
                <a:gd name="csY0" fmla="*/ 0 h 2418765"/>
                <a:gd name="csX1" fmla="*/ 4031275 w 4031275"/>
                <a:gd name="csY1" fmla="*/ 0 h 2418765"/>
                <a:gd name="csX2" fmla="*/ 4031275 w 4031275"/>
                <a:gd name="csY2" fmla="*/ 2418765 h 2418765"/>
                <a:gd name="csX3" fmla="*/ 0 w 4031275"/>
                <a:gd name="csY3" fmla="*/ 2418765 h 2418765"/>
                <a:gd name="csX4" fmla="*/ 0 w 4031275"/>
                <a:gd name="csY4" fmla="*/ 0 h 241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31275" h="2418765">
                  <a:moveTo>
                    <a:pt x="0" y="0"/>
                  </a:moveTo>
                  <a:lnTo>
                    <a:pt x="4031275" y="0"/>
                  </a:lnTo>
                  <a:lnTo>
                    <a:pt x="4031275" y="2418765"/>
                  </a:lnTo>
                  <a:lnTo>
                    <a:pt x="0" y="241876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Single Account shows consolidated billing</a:t>
              </a:r>
              <a:endParaRPr lang="en-US" sz="1400" kern="1200" dirty="0">
                <a:solidFill>
                  <a:schemeClr val="tx1"/>
                </a:solidFill>
              </a:endParaRPr>
            </a:p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After (Multi-Account):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Engineering-Prod Account: $45,000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Data-Science Account: $30,000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Engineering-Dev Account: $15,000</a:t>
              </a:r>
            </a:p>
            <a:p>
              <a:pPr marL="28575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Clear ownership -&gt; Chargeback -&gt; Budget control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C220FEC-51CD-4DD3-9CAD-0BA230D12B1F}"/>
                </a:ext>
              </a:extLst>
            </p:cNvPr>
            <p:cNvSpPr/>
            <p:nvPr/>
          </p:nvSpPr>
          <p:spPr>
            <a:xfrm>
              <a:off x="818131" y="1077329"/>
              <a:ext cx="4031275" cy="435785"/>
            </a:xfrm>
            <a:prstGeom prst="rect">
              <a:avLst/>
            </a:prstGeom>
            <a:grpFill/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2. Cost Visibility &amp; Accountability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23E326-D4A6-167D-7E55-00A6EBFB145A}"/>
              </a:ext>
            </a:extLst>
          </p:cNvPr>
          <p:cNvGrpSpPr/>
          <p:nvPr/>
        </p:nvGrpSpPr>
        <p:grpSpPr>
          <a:xfrm>
            <a:off x="6226628" y="3918856"/>
            <a:ext cx="5246913" cy="2724513"/>
            <a:chOff x="818131" y="1077329"/>
            <a:chExt cx="4031275" cy="2520220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08989B0-62D1-AB79-40C3-EE06EAC28303}"/>
                </a:ext>
              </a:extLst>
            </p:cNvPr>
            <p:cNvSpPr/>
            <p:nvPr/>
          </p:nvSpPr>
          <p:spPr>
            <a:xfrm>
              <a:off x="818131" y="1480457"/>
              <a:ext cx="4031275" cy="2117092"/>
            </a:xfrm>
            <a:custGeom>
              <a:avLst/>
              <a:gdLst>
                <a:gd name="csX0" fmla="*/ 0 w 4031275"/>
                <a:gd name="csY0" fmla="*/ 0 h 2418765"/>
                <a:gd name="csX1" fmla="*/ 4031275 w 4031275"/>
                <a:gd name="csY1" fmla="*/ 0 h 2418765"/>
                <a:gd name="csX2" fmla="*/ 4031275 w 4031275"/>
                <a:gd name="csY2" fmla="*/ 2418765 h 2418765"/>
                <a:gd name="csX3" fmla="*/ 0 w 4031275"/>
                <a:gd name="csY3" fmla="*/ 2418765 h 2418765"/>
                <a:gd name="csX4" fmla="*/ 0 w 4031275"/>
                <a:gd name="csY4" fmla="*/ 0 h 2418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31275" h="2418765">
                  <a:moveTo>
                    <a:pt x="0" y="0"/>
                  </a:moveTo>
                  <a:lnTo>
                    <a:pt x="4031275" y="0"/>
                  </a:lnTo>
                  <a:lnTo>
                    <a:pt x="4031275" y="2418765"/>
                  </a:lnTo>
                  <a:lnTo>
                    <a:pt x="0" y="241876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8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400" kern="1200" dirty="0">
                  <a:solidFill>
                    <a:schemeClr val="tx1"/>
                  </a:solidFill>
                </a:rPr>
                <a:t>Same Policies for all the services and workloads</a:t>
              </a:r>
            </a:p>
            <a:p>
              <a:pPr marL="285750" lvl="0" indent="-285750" defTabSz="80010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After (Multi-Account)</a:t>
              </a:r>
              <a:endParaRPr lang="en-US" sz="1400" kern="1200" dirty="0">
                <a:solidFill>
                  <a:schemeClr val="tx1"/>
                </a:solidFill>
              </a:endParaRP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Production Account: Cannot disable CloudTrail, Cannot make S3 buckets public, Require MFA for all actions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Development Account: Experimentation allowed, Try new AWS services, Cost alerts (prevent runaway spending)</a:t>
              </a:r>
            </a:p>
            <a:p>
              <a:pPr marL="742950" lvl="1" indent="-285750" defTabSz="800100">
                <a:spcBef>
                  <a:spcPts val="600"/>
                </a:spcBef>
                <a:buFont typeface="Wingdings" panose="05000000000000000000" pitchFamily="2" charset="2"/>
                <a:buChar char="Ø"/>
              </a:pPr>
              <a:r>
                <a:rPr lang="en-US" sz="1400" kern="1200" dirty="0">
                  <a:solidFill>
                    <a:schemeClr val="tx1"/>
                  </a:solidFill>
                </a:rPr>
                <a:t>Sandbox Account: Total freedom to learn, Auto-delete resources after 7 days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0CB9F78-1C15-0B06-0402-6F14F1C61594}"/>
                </a:ext>
              </a:extLst>
            </p:cNvPr>
            <p:cNvSpPr/>
            <p:nvPr/>
          </p:nvSpPr>
          <p:spPr>
            <a:xfrm>
              <a:off x="818131" y="1077329"/>
              <a:ext cx="4031275" cy="435785"/>
            </a:xfrm>
            <a:prstGeom prst="rect">
              <a:avLst/>
            </a:prstGeom>
            <a:grpFill/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4. Different Policies for Different Environments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1275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4594-5EBA-0C07-6641-A9E82DB7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DBDE-F89E-D3C5-0BBB-C8E4B0E3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96" y="227767"/>
            <a:ext cx="10480004" cy="705394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232F3E"/>
                </a:solidFill>
              </a:rPr>
              <a:t>Real-World Statistics </a:t>
            </a:r>
            <a:endParaRPr lang="en-IN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B99CAC3-3BA2-0987-FB6B-87D09CDC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595" y="1120896"/>
            <a:ext cx="8716519" cy="5356104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1" dirty="0"/>
              <a:t>Typical number of account in different size of organizations: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Small enterprise: </a:t>
            </a:r>
            <a:r>
              <a:rPr lang="en-US" sz="1400" b="1" dirty="0"/>
              <a:t>10-50 accounts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Medium level enterprise: </a:t>
            </a:r>
            <a:r>
              <a:rPr lang="en-US" sz="1400" b="1" dirty="0"/>
              <a:t>50-200 accounts</a:t>
            </a:r>
            <a:endParaRPr lang="en-US" sz="1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Large enterprises: </a:t>
            </a:r>
            <a:r>
              <a:rPr lang="en-US" sz="1400" b="1" dirty="0"/>
              <a:t>500-1000+ accounts</a:t>
            </a: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400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1" dirty="0"/>
              <a:t>Key Principle: Accounts are free, breaches are expensive.</a:t>
            </a:r>
            <a:endParaRPr lang="en-US" sz="1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No cost to create AWS accounts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Only pay for resources used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Isolation = security + compliance + clarity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dirty="0"/>
              <a:t>Best practice: </a:t>
            </a:r>
            <a:r>
              <a:rPr lang="en-US" sz="1400" b="1" dirty="0"/>
              <a:t>1 account per environment per team/application</a:t>
            </a:r>
            <a:endParaRPr lang="en-US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400" b="1" dirty="0"/>
              <a:t>Benefits Reported:</a:t>
            </a:r>
            <a:endParaRPr lang="en-US" sz="1400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b="1" dirty="0"/>
              <a:t>60% reduction</a:t>
            </a:r>
            <a:r>
              <a:rPr lang="en-US" sz="1400" dirty="0"/>
              <a:t> in security incidents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b="1" dirty="0"/>
              <a:t>40% improvement</a:t>
            </a:r>
            <a:r>
              <a:rPr lang="en-US" sz="1400" dirty="0"/>
              <a:t> in cost visibility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b="1" dirty="0"/>
              <a:t>70% faster</a:t>
            </a:r>
            <a:r>
              <a:rPr lang="en-US" sz="1400" dirty="0"/>
              <a:t> environment provisioning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b="1" dirty="0"/>
              <a:t>90% easier</a:t>
            </a:r>
            <a:r>
              <a:rPr lang="en-US" sz="1400" dirty="0"/>
              <a:t> compliance audits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623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1" y="274321"/>
            <a:ext cx="10559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Multi-Account Management - </a:t>
            </a:r>
            <a:r>
              <a:rPr sz="3600" dirty="0"/>
              <a:t>AWS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1" y="1097280"/>
            <a:ext cx="10798628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🏢 What is AWS Organizations?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 service that lets you </a:t>
            </a:r>
            <a:r>
              <a:rPr lang="en-US" sz="1400" b="1" dirty="0"/>
              <a:t>centrally manage multiple AWS accounts</a:t>
            </a:r>
            <a:r>
              <a:rPr lang="en-US" sz="1400" dirty="0"/>
              <a:t> under one unified structure.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Organizations is created and managed from a designated </a:t>
            </a:r>
            <a:r>
              <a:rPr lang="en-US" sz="1400" b="1" dirty="0"/>
              <a:t>Management Account</a:t>
            </a:r>
            <a:r>
              <a:rPr lang="en-US" sz="1400" dirty="0"/>
              <a:t>. This account should only </a:t>
            </a:r>
            <a:r>
              <a:rPr lang="en-US" sz="1400" b="1" dirty="0"/>
              <a:t>handle billing and governance </a:t>
            </a:r>
            <a:r>
              <a:rPr lang="en-US" sz="1400" dirty="0"/>
              <a:t>and never run production workloads.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400" b="1" dirty="0"/>
              <a:t>AWS Organizations = Account Management + Billing Consolidation + Basic Policies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Key Benefits: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Consolidated Billing: </a:t>
            </a:r>
            <a:r>
              <a:rPr lang="en-US" sz="1400" dirty="0"/>
              <a:t>Single bill, shared discounts (Savings Plans, RI sharing)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Hierarchical Account Structure: 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Organize accounts by business unit, environment, or function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Organizational Units (OUs): Logical containers to group accounts and apply policies consistently</a:t>
            </a:r>
            <a:endParaRPr lang="en-US" sz="14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Centralized Governance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Apply </a:t>
            </a:r>
            <a:r>
              <a:rPr lang="en-US" sz="1400" b="1" dirty="0"/>
              <a:t>SCPs (Service Control Policies)</a:t>
            </a:r>
            <a:r>
              <a:rPr lang="en-US" sz="1400" dirty="0"/>
              <a:t> across accounts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Enforce guardrails (no unapproved services, mandatory MFA,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Environment Separation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Isolate </a:t>
            </a:r>
            <a:r>
              <a:rPr lang="en-US" sz="1400" b="1" dirty="0"/>
              <a:t>dev / staging / prod</a:t>
            </a:r>
            <a:r>
              <a:rPr lang="en-US" sz="1400" dirty="0"/>
              <a:t> to reduce blast radius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400" dirty="0"/>
              <a:t>Easier security, compliance, &amp; auditing per environment</a:t>
            </a:r>
          </a:p>
          <a:p>
            <a:pPr>
              <a:spcBef>
                <a:spcPts val="600"/>
              </a:spcBef>
            </a:pPr>
            <a:br>
              <a:rPr lang="en-US" sz="1400" dirty="0"/>
            </a:br>
            <a:r>
              <a:rPr lang="en-US" sz="1400" b="1" dirty="0"/>
              <a:t>Best Practice:</a:t>
            </a:r>
            <a:r>
              <a:rPr lang="en-US" sz="1400" dirty="0"/>
              <a:t> 1 account per environment per team/application- then manage them centrally using Organizations + OUs + SCPs.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E570-737F-F905-7321-C628238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36AF0-854B-E868-D13A-2E26259F1AC5}"/>
              </a:ext>
            </a:extLst>
          </p:cNvPr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/>
              <a:t>Organizational Units (OUs)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5FC40-7E43-2DD5-915C-0B2AD0E9C90B}"/>
              </a:ext>
            </a:extLst>
          </p:cNvPr>
          <p:cNvSpPr txBox="1"/>
          <p:nvPr/>
        </p:nvSpPr>
        <p:spPr>
          <a:xfrm>
            <a:off x="762001" y="1097280"/>
            <a:ext cx="610688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🗂️ What Are Organizational Units?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 way to </a:t>
            </a:r>
            <a:r>
              <a:rPr lang="en-US" sz="1400" b="1" dirty="0"/>
              <a:t>group multiple AWS accounts</a:t>
            </a:r>
            <a:r>
              <a:rPr lang="en-US" sz="1400" dirty="0"/>
              <a:t> inside AWS Organizations to apply governance, structure, and consistent security controls.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Why Use OUs?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Apply policies at scale: </a:t>
            </a:r>
            <a:r>
              <a:rPr lang="en-US" sz="1400" dirty="0"/>
              <a:t>Attach </a:t>
            </a:r>
            <a:r>
              <a:rPr lang="en-US" sz="1400" b="1" dirty="0"/>
              <a:t>SCPs</a:t>
            </a:r>
            <a:r>
              <a:rPr lang="en-US" sz="1400" dirty="0"/>
              <a:t> to an OU -&gt; every account under it inherits the guardrails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Logical grouping: </a:t>
            </a:r>
            <a:r>
              <a:rPr lang="en-US" sz="1400" dirty="0"/>
              <a:t>Organize accounts by </a:t>
            </a:r>
            <a:r>
              <a:rPr lang="en-US" sz="1400" b="1" dirty="0"/>
              <a:t>environment, workload, business unit, or compliance level</a:t>
            </a:r>
            <a:endParaRPr lang="en-US" sz="1400" dirty="0"/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Best Practices for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</a:t>
            </a:r>
            <a:r>
              <a:rPr lang="en-US" sz="1400" b="1" dirty="0"/>
              <a:t>separate OUs per environment</a:t>
            </a:r>
            <a:r>
              <a:rPr lang="en-US" sz="1400" dirty="0"/>
              <a:t> (Prod, Dev, Sandbox)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Move </a:t>
            </a:r>
            <a:r>
              <a:rPr lang="en-US" sz="1400" b="1" dirty="0"/>
              <a:t>security accounts</a:t>
            </a:r>
            <a:r>
              <a:rPr lang="en-US" sz="1400" dirty="0"/>
              <a:t> (Logging, Audit, IAM Identity) into a dedicated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Apply </a:t>
            </a:r>
            <a:r>
              <a:rPr lang="en-US" sz="1400" b="1" dirty="0"/>
              <a:t>strong SCPs</a:t>
            </a:r>
            <a:r>
              <a:rPr lang="en-US" sz="1400" dirty="0"/>
              <a:t> at the root –&gt; loosen as needed at lower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Keep the hierarchy </a:t>
            </a:r>
            <a:r>
              <a:rPr lang="en-US" sz="1400" b="1" dirty="0"/>
              <a:t>simple and predictable</a:t>
            </a:r>
            <a:r>
              <a:rPr lang="en-US" sz="1400" dirty="0"/>
              <a:t> (avoid over-nesting)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 </a:t>
            </a:r>
            <a:r>
              <a:rPr lang="en-US" sz="1400" b="1" dirty="0"/>
              <a:t>naming conventions</a:t>
            </a:r>
            <a:r>
              <a:rPr lang="en-US" sz="1400" dirty="0"/>
              <a:t> for OUs and accounts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4BF33-87D1-271D-91A7-DB8C8098F54B}"/>
              </a:ext>
            </a:extLst>
          </p:cNvPr>
          <p:cNvSpPr txBox="1"/>
          <p:nvPr/>
        </p:nvSpPr>
        <p:spPr>
          <a:xfrm>
            <a:off x="7554685" y="1328057"/>
            <a:ext cx="406037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/>
              <a:t>OU Structure Example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Root Org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├── Production OU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      ├── prod-app-account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      └── prod-data-account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├── Development OU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      ├── dev-app-account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      └── dev-test-account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├── Security OU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      ├── logging-account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      └── audit-account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└── Sandbox OU</a:t>
            </a:r>
          </a:p>
          <a:p>
            <a:pPr>
              <a:spcBef>
                <a:spcPts val="600"/>
              </a:spcBef>
            </a:pPr>
            <a:r>
              <a:rPr lang="en-US" sz="1200" dirty="0"/>
              <a:t>          └── experimental accounts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68610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175" y="1097280"/>
            <a:ext cx="10654711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🛡️ What Are SCPs?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Permission guardrails</a:t>
            </a:r>
            <a:r>
              <a:rPr lang="en-US" sz="1400" dirty="0"/>
              <a:t> that set the </a:t>
            </a:r>
            <a:r>
              <a:rPr lang="en-US" sz="1400" i="1" dirty="0"/>
              <a:t>maximum allowed permissions</a:t>
            </a:r>
            <a:r>
              <a:rPr lang="en-US" sz="1400" dirty="0"/>
              <a:t> for AWS accounts within an Organization.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Key Characteristics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Do NOT grant permissions</a:t>
            </a:r>
            <a:r>
              <a:rPr lang="en-US" sz="1400" dirty="0"/>
              <a:t> - they only </a:t>
            </a:r>
            <a:r>
              <a:rPr lang="en-US" sz="1400" b="1" dirty="0"/>
              <a:t>limit</a:t>
            </a:r>
            <a:r>
              <a:rPr lang="en-US" sz="1400" dirty="0"/>
              <a:t> what IAM users/roles </a:t>
            </a:r>
            <a:r>
              <a:rPr lang="en-US" sz="1400" i="1" dirty="0"/>
              <a:t>could</a:t>
            </a:r>
            <a:r>
              <a:rPr lang="en-US" sz="1400" dirty="0"/>
              <a:t> be granted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Applied at the </a:t>
            </a:r>
            <a:r>
              <a:rPr lang="en-US" sz="1400" b="1" dirty="0"/>
              <a:t>Organization Root</a:t>
            </a:r>
            <a:r>
              <a:rPr lang="en-US" sz="1400" dirty="0"/>
              <a:t>, </a:t>
            </a:r>
            <a:r>
              <a:rPr lang="en-US" sz="1400" b="1" dirty="0"/>
              <a:t>OU</a:t>
            </a:r>
            <a:r>
              <a:rPr lang="en-US" sz="1400" dirty="0"/>
              <a:t>, or </a:t>
            </a:r>
            <a:r>
              <a:rPr lang="en-US" sz="1400" b="1" dirty="0"/>
              <a:t>individual accounts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Root user is also restricted</a:t>
            </a:r>
            <a:r>
              <a:rPr lang="en-US" sz="1400" dirty="0"/>
              <a:t> by SCPs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Enforced across all accounts under the targeted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Works together with IAM policies (IAM decides </a:t>
            </a:r>
            <a:r>
              <a:rPr lang="en-US" sz="1400" i="1" dirty="0"/>
              <a:t>who</a:t>
            </a:r>
            <a:r>
              <a:rPr lang="en-US" sz="1400" dirty="0"/>
              <a:t>, SCPs decide </a:t>
            </a:r>
            <a:r>
              <a:rPr lang="en-US" sz="1400" i="1" dirty="0"/>
              <a:t>what’s allowed at all</a:t>
            </a:r>
            <a:r>
              <a:rPr lang="en-US" sz="1400" dirty="0"/>
              <a:t>)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Common Use Cases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Region Restrictions: </a:t>
            </a:r>
            <a:r>
              <a:rPr lang="en-US" sz="1400" dirty="0"/>
              <a:t>Block use of non-approved AWS regions (e.g., only allow eu-west-1)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Security Enforcement: </a:t>
            </a:r>
            <a:r>
              <a:rPr lang="en-US" sz="1400" dirty="0"/>
              <a:t>Prevent disabling CloudTrail, </a:t>
            </a:r>
            <a:r>
              <a:rPr lang="en-US" sz="1400" dirty="0" err="1"/>
              <a:t>GuardDuty</a:t>
            </a:r>
            <a:r>
              <a:rPr lang="en-US" sz="1400" dirty="0"/>
              <a:t>, or Config, Require encryption for S3, EBS, RDS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Cost Control: </a:t>
            </a:r>
            <a:r>
              <a:rPr lang="en-US" sz="1400" dirty="0"/>
              <a:t>Restrict specific EC2 instance types, Prevent creation of expensive GPU instances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Best Practice: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Use SCPs as </a:t>
            </a:r>
            <a:r>
              <a:rPr lang="en-US" sz="1400" b="1" dirty="0"/>
              <a:t>organization-wide guardrails</a:t>
            </a:r>
            <a:r>
              <a:rPr lang="en-US" sz="1400" dirty="0"/>
              <a:t>, and IAM policies for </a:t>
            </a:r>
            <a:r>
              <a:rPr lang="en-US" sz="1400" b="1" dirty="0"/>
              <a:t>fine-grained permissions</a:t>
            </a:r>
            <a:r>
              <a:rPr lang="en-US" sz="1400" dirty="0"/>
              <a:t> within accounts.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D131-D1D1-5E5D-E034-2ECF27EE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486BC-8AF6-A339-6908-3A7041B1C5FA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  <a:r>
              <a:rPr lang="en-IN" sz="3600" dirty="0"/>
              <a:t> Example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5310C-AD81-A6CD-731C-4EB6478BECB9}"/>
              </a:ext>
            </a:extLst>
          </p:cNvPr>
          <p:cNvSpPr txBox="1"/>
          <p:nvPr/>
        </p:nvSpPr>
        <p:spPr>
          <a:xfrm>
            <a:off x="653143" y="1097280"/>
            <a:ext cx="5268686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1️⃣ Prevents accounts from operating in any region </a:t>
            </a:r>
            <a:r>
              <a:rPr lang="en-US" sz="1400" i="1" dirty="0"/>
              <a:t>except</a:t>
            </a:r>
            <a:r>
              <a:rPr lang="en-US" sz="1400" dirty="0"/>
              <a:t> the ones explicitly allowed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IN" sz="1200" dirty="0"/>
              <a:t>{</a:t>
            </a:r>
          </a:p>
          <a:p>
            <a:r>
              <a:rPr lang="en-IN" sz="1200" dirty="0"/>
              <a:t>  "Version": "2012-10-17",</a:t>
            </a:r>
          </a:p>
          <a:p>
            <a:r>
              <a:rPr lang="en-IN" sz="1200" dirty="0"/>
              <a:t>  "Statement": [</a:t>
            </a:r>
          </a:p>
          <a:p>
            <a:r>
              <a:rPr lang="en-IN" sz="1200" dirty="0"/>
              <a:t>    {</a:t>
            </a:r>
          </a:p>
          <a:p>
            <a:r>
              <a:rPr lang="en-IN" sz="1200" dirty="0"/>
              <a:t>      "Effect": "Deny",</a:t>
            </a:r>
          </a:p>
          <a:p>
            <a:r>
              <a:rPr lang="en-IN" sz="1200" dirty="0"/>
              <a:t>      "Action": "*",</a:t>
            </a:r>
          </a:p>
          <a:p>
            <a:r>
              <a:rPr lang="en-IN" sz="1200" dirty="0"/>
              <a:t>      "Resource": "*",</a:t>
            </a:r>
          </a:p>
          <a:p>
            <a:r>
              <a:rPr lang="en-IN" sz="1200" dirty="0"/>
              <a:t>      "Condition": {</a:t>
            </a:r>
          </a:p>
          <a:p>
            <a:r>
              <a:rPr lang="en-IN" sz="1200" dirty="0"/>
              <a:t>        "</a:t>
            </a:r>
            <a:r>
              <a:rPr lang="en-IN" sz="1200" dirty="0" err="1"/>
              <a:t>StringNotEquals</a:t>
            </a:r>
            <a:r>
              <a:rPr lang="en-IN" sz="1200" dirty="0"/>
              <a:t>": {</a:t>
            </a:r>
          </a:p>
          <a:p>
            <a:r>
              <a:rPr lang="en-IN" sz="1200" dirty="0"/>
              <a:t>          "</a:t>
            </a:r>
            <a:r>
              <a:rPr lang="en-IN" sz="1200" dirty="0" err="1"/>
              <a:t>aws:RequestedRegion</a:t>
            </a:r>
            <a:r>
              <a:rPr lang="en-IN" sz="1200" dirty="0"/>
              <a:t>": [</a:t>
            </a:r>
          </a:p>
          <a:p>
            <a:r>
              <a:rPr lang="en-IN" sz="1200" dirty="0"/>
              <a:t>            "us-east-1",</a:t>
            </a:r>
          </a:p>
          <a:p>
            <a:r>
              <a:rPr lang="en-IN" sz="1200" dirty="0"/>
              <a:t>            "eu-west-1"</a:t>
            </a:r>
          </a:p>
          <a:p>
            <a:r>
              <a:rPr lang="en-IN" sz="1200" dirty="0"/>
              <a:t>          ]</a:t>
            </a:r>
          </a:p>
          <a:p>
            <a:r>
              <a:rPr lang="en-IN" sz="1200" dirty="0"/>
              <a:t>        }</a:t>
            </a:r>
          </a:p>
          <a:p>
            <a:r>
              <a:rPr lang="en-IN" sz="1200" dirty="0"/>
              <a:t>      }</a:t>
            </a:r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  ]</a:t>
            </a:r>
          </a:p>
          <a:p>
            <a:r>
              <a:rPr lang="en-IN" sz="1200" dirty="0"/>
              <a:t>}</a:t>
            </a:r>
          </a:p>
          <a:p>
            <a:endParaRPr lang="en-IN" sz="1200" dirty="0"/>
          </a:p>
          <a:p>
            <a:r>
              <a:rPr lang="en-US" sz="1200" b="1" dirty="0"/>
              <a:t>Use Case: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Enforce compliance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Avoid accidental deployments in costly or unsupported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Maintain latency control</a:t>
            </a: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043D-54F0-A5FD-0537-B7F1493F2F1C}"/>
              </a:ext>
            </a:extLst>
          </p:cNvPr>
          <p:cNvSpPr txBox="1"/>
          <p:nvPr/>
        </p:nvSpPr>
        <p:spPr>
          <a:xfrm>
            <a:off x="6923314" y="1092646"/>
            <a:ext cx="496388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2️⃣ </a:t>
            </a:r>
            <a:r>
              <a:rPr lang="en-US" sz="1400" dirty="0"/>
              <a:t>Ensures CloudTrail logging can </a:t>
            </a:r>
            <a:r>
              <a:rPr lang="en-US" sz="1400" b="1" dirty="0"/>
              <a:t>never</a:t>
            </a:r>
            <a:r>
              <a:rPr lang="en-US" sz="1400" dirty="0"/>
              <a:t> be turned off</a:t>
            </a:r>
            <a:endParaRPr lang="en-IN" sz="1400" dirty="0"/>
          </a:p>
          <a:p>
            <a:endParaRPr lang="en-IN" sz="1200" dirty="0"/>
          </a:p>
          <a:p>
            <a:r>
              <a:rPr lang="en-IN" sz="1200" dirty="0"/>
              <a:t>{</a:t>
            </a:r>
          </a:p>
          <a:p>
            <a:r>
              <a:rPr lang="en-IN" sz="1200" dirty="0"/>
              <a:t>  "Version": "2012-10-17",</a:t>
            </a:r>
          </a:p>
          <a:p>
            <a:r>
              <a:rPr lang="en-IN" sz="1200" dirty="0"/>
              <a:t>  "Statement": [</a:t>
            </a:r>
          </a:p>
          <a:p>
            <a:r>
              <a:rPr lang="en-IN" sz="1200" dirty="0"/>
              <a:t>    {</a:t>
            </a:r>
          </a:p>
          <a:p>
            <a:r>
              <a:rPr lang="en-IN" sz="1200" dirty="0"/>
              <a:t>      "Effect": "Deny",</a:t>
            </a:r>
          </a:p>
          <a:p>
            <a:r>
              <a:rPr lang="en-IN" sz="1200" dirty="0"/>
              <a:t>      "Action": [</a:t>
            </a:r>
          </a:p>
          <a:p>
            <a:r>
              <a:rPr lang="en-IN" sz="1200" dirty="0"/>
              <a:t>        "</a:t>
            </a:r>
            <a:r>
              <a:rPr lang="en-IN" sz="1200" dirty="0" err="1"/>
              <a:t>cloudtrail:StopLogging</a:t>
            </a:r>
            <a:r>
              <a:rPr lang="en-IN" sz="1200" dirty="0"/>
              <a:t>",</a:t>
            </a:r>
          </a:p>
          <a:p>
            <a:r>
              <a:rPr lang="en-IN" sz="1200" dirty="0"/>
              <a:t>        "</a:t>
            </a:r>
            <a:r>
              <a:rPr lang="en-IN" sz="1200" dirty="0" err="1"/>
              <a:t>cloudtrail:DeleteTrail</a:t>
            </a:r>
            <a:r>
              <a:rPr lang="en-IN" sz="1200" dirty="0"/>
              <a:t>"</a:t>
            </a:r>
          </a:p>
          <a:p>
            <a:r>
              <a:rPr lang="en-IN" sz="1200" dirty="0"/>
              <a:t>      ],</a:t>
            </a:r>
          </a:p>
          <a:p>
            <a:r>
              <a:rPr lang="en-IN" sz="1200" dirty="0"/>
              <a:t>      "Resource": "*"</a:t>
            </a:r>
          </a:p>
          <a:p>
            <a:r>
              <a:rPr lang="en-IN" sz="1200" dirty="0"/>
              <a:t>    }</a:t>
            </a:r>
          </a:p>
          <a:p>
            <a:r>
              <a:rPr lang="en-IN" sz="1200" dirty="0"/>
              <a:t>  ]</a:t>
            </a:r>
          </a:p>
          <a:p>
            <a:r>
              <a:rPr lang="en-IN" sz="1200" dirty="0"/>
              <a:t>}</a:t>
            </a:r>
          </a:p>
          <a:p>
            <a:endParaRPr lang="en-IN" sz="1600" dirty="0"/>
          </a:p>
          <a:p>
            <a:r>
              <a:rPr lang="en-US" sz="1200" b="1" dirty="0"/>
              <a:t>Use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Mandatory audit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Compliance frameworks (SOC 2, ISO 27001, PCI-DSS)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Prevent insider threats or accidental disablement</a:t>
            </a:r>
            <a:br>
              <a:rPr lang="en-IN" sz="1200" b="1" dirty="0"/>
            </a:b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405395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B221-CCD5-A998-3A75-B0E202F9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43EE1-E581-EA09-34FC-0334C673B30C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Introducing AWS Control Tower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A44239-CCC3-8C5A-FC38-DB94FEF67FA5}"/>
              </a:ext>
            </a:extLst>
          </p:cNvPr>
          <p:cNvSpPr txBox="1"/>
          <p:nvPr/>
        </p:nvSpPr>
        <p:spPr>
          <a:xfrm>
            <a:off x="786176" y="1097280"/>
            <a:ext cx="4493396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🎯 We've learned so far: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Multi-account strategy is essential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Organizations manages accounts centrally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OUs group accounts logically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SCPs enforce guardrails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But here's the problem:</a:t>
            </a:r>
            <a:r>
              <a:rPr lang="en-US" sz="1400" dirty="0"/>
              <a:t> Setting all this up manually is complex and time-consuming. 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You need to: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 accounts one by one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Configure OUs and SCPs manually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Set up logging, security, and compliance from scratch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Ensure consistency across all accounts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76A776-6440-D0D1-EDFB-16C50C17CD73}"/>
              </a:ext>
            </a:extLst>
          </p:cNvPr>
          <p:cNvSpPr txBox="1"/>
          <p:nvPr/>
        </p:nvSpPr>
        <p:spPr>
          <a:xfrm>
            <a:off x="5998029" y="1028343"/>
            <a:ext cx="568234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400" b="1" dirty="0"/>
              <a:t>💡 Enter AWS Control Tower</a:t>
            </a:r>
            <a:r>
              <a:rPr lang="en-US" sz="1400" dirty="0"/>
              <a:t>: </a:t>
            </a:r>
            <a:r>
              <a:rPr lang="en-US" sz="1400" b="1" dirty="0"/>
              <a:t>A service that simplifies setting up and governing a secure, compliant, multi-account AWS environment, also known as a "landing zone," based on best practices.</a:t>
            </a:r>
          </a:p>
          <a:p>
            <a:pPr>
              <a:spcBef>
                <a:spcPts val="600"/>
              </a:spcBef>
              <a:buNone/>
            </a:pPr>
            <a:endParaRPr lang="en-US" sz="1400" dirty="0"/>
          </a:p>
          <a:p>
            <a:pPr>
              <a:spcBef>
                <a:spcPts val="600"/>
              </a:spcBef>
              <a:buNone/>
            </a:pPr>
            <a:r>
              <a:rPr lang="en-US" sz="1400" dirty="0"/>
              <a:t>AWS Control Tower = </a:t>
            </a:r>
            <a:r>
              <a:rPr lang="en-US" sz="1400" b="1" dirty="0"/>
              <a:t>AWS Organizations + Automated Account Setup + Pre-built Guardrails + Compliance Dashboard + Account Factory + Centralized Logging</a:t>
            </a:r>
          </a:p>
          <a:p>
            <a:pPr>
              <a:spcBef>
                <a:spcPts val="600"/>
              </a:spcBef>
              <a:buNone/>
            </a:pPr>
            <a:endParaRPr lang="en-US" sz="1400" b="1" dirty="0"/>
          </a:p>
          <a:p>
            <a:pPr>
              <a:spcBef>
                <a:spcPts val="600"/>
              </a:spcBef>
              <a:buNone/>
            </a:pPr>
            <a:r>
              <a:rPr lang="en-US" sz="1400" b="1" dirty="0"/>
              <a:t>How Control Tower orchestrates various AWS services: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Organizations -&gt; Multi-account structure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Service Catalog -&gt; Powers Account Factory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IAM Identity Center -&gt; Centralized access management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CloudTrail -&gt; Comprehensive auditing and logging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Config -&gt; Compliance monitoring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AWS Backup -&gt; Resource protection (optional)</a:t>
            </a:r>
          </a:p>
        </p:txBody>
      </p:sp>
    </p:spTree>
    <p:extLst>
      <p:ext uri="{BB962C8B-B14F-4D97-AF65-F5344CB8AC3E}">
        <p14:creationId xmlns:p14="http://schemas.microsoft.com/office/powerpoint/2010/main" val="3014869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A182-D88B-AF56-5D22-BC984431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FE2BE4-3107-B486-A283-3FE3FCD44063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How AWS Control Tower Works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E3A1A-C50B-3FFE-2C46-A694D63AA7A4}"/>
              </a:ext>
            </a:extLst>
          </p:cNvPr>
          <p:cNvSpPr txBox="1"/>
          <p:nvPr/>
        </p:nvSpPr>
        <p:spPr>
          <a:xfrm>
            <a:off x="786176" y="1097280"/>
            <a:ext cx="5636396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What is a Landing Zone?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A landing zone is a well-architected, multi-account AWS environment based on security and compliance best practices. It's your enterprise-wide container that holds all organizational units (OUs), accounts, and resources subject to governance.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Two Ways to Set Up Control Tower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Option 1: Launch in Existing Organization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You already have AWS Organizations set up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Control Tower adds governance to your existing structure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Uses your current Management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Creates 2 new foundational accounts (Log Archive, Audit)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Your existing OUs and accounts remain unchanged (until registered)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Option 2: Launch in New Organization (Greenfield)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Starting fresh without existing AWS Organizations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Control Tower creates everything from scratch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Sets up Management Account, foundational accounts,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Ideal for new AWS environments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5A8C1-C7E2-BC53-9609-A57A331EC7EF}"/>
              </a:ext>
            </a:extLst>
          </p:cNvPr>
          <p:cNvSpPr txBox="1"/>
          <p:nvPr/>
        </p:nvSpPr>
        <p:spPr>
          <a:xfrm>
            <a:off x="6977743" y="1001486"/>
            <a:ext cx="4702628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Critical Setup Considerations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Home Region Selection: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Choose your primary AWS region during setup (e.g., us-east-1, eu-west-1)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This region becomes your Control Tower "home region"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CANNOT be changed later without completely decommissioning Control Tower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Choose carefully based on compliance, latency, and organizational needs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Email Requirements: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Need 2 unique email addresses for foundational accounts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Must be collaborative inboxes (shared team emails, not personal)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Pro Tip: Use email aliases (e.g., aws-team+logarchive@company.com)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/>
              <a:t>Time to Deploy: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b="1" dirty="0"/>
              <a:t>30-60 minutes for full automated setup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manual intervention required during deployment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88810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EB56C-992D-9B43-2F2A-F81011B6F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D5BFD6-6C38-48A0-DE45-D74BCDAC39E7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Foundational Accounts &amp; Security OU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1441FE-911B-CB10-5A53-7A6EA36DCD39}"/>
              </a:ext>
            </a:extLst>
          </p:cNvPr>
          <p:cNvSpPr txBox="1"/>
          <p:nvPr/>
        </p:nvSpPr>
        <p:spPr>
          <a:xfrm>
            <a:off x="786176" y="1097280"/>
            <a:ext cx="563639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/>
              <a:t>When you enable Control Tower, it automatically creates two critical accounts and an OU:</a:t>
            </a:r>
          </a:p>
          <a:p>
            <a:pPr>
              <a:spcBef>
                <a:spcPts val="600"/>
              </a:spcBef>
            </a:pP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1.) Log Archive Account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Purpose: </a:t>
            </a:r>
            <a:r>
              <a:rPr lang="en-US" sz="1200" dirty="0"/>
              <a:t>Centralized, read-only repository for all organizational logs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What it stores: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CloudTrail logs (all API activity across every account)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AWS Config logs (resource configuration history)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VPC Flow Logs, S3 access logs, and more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Why it matters: </a:t>
            </a:r>
            <a:r>
              <a:rPr lang="en-US" sz="1200" dirty="0"/>
              <a:t>Required for compliance audits and security analysis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Email: </a:t>
            </a:r>
            <a:r>
              <a:rPr lang="en-US" sz="1200" dirty="0"/>
              <a:t>You provide during setup (e.g., aws-logarchive@company.com)</a:t>
            </a:r>
          </a:p>
          <a:p>
            <a:pPr>
              <a:spcBef>
                <a:spcPts val="600"/>
              </a:spcBef>
            </a:pP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2.) Audit Account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Purpose: </a:t>
            </a:r>
            <a:r>
              <a:rPr lang="en-US" sz="1200" dirty="0"/>
              <a:t>Security and compliance monitoring hub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What can run here: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AWS Config aggregator (cross-account compliance view)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AWS Security Hub (centralized security findings)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AWS </a:t>
            </a:r>
            <a:r>
              <a:rPr lang="en-US" sz="1200" dirty="0" err="1"/>
              <a:t>GuardDuty</a:t>
            </a:r>
            <a:r>
              <a:rPr lang="en-US" sz="1200" dirty="0"/>
              <a:t> (threat detection)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Who uses it: </a:t>
            </a:r>
            <a:r>
              <a:rPr lang="en-US" sz="1200" dirty="0"/>
              <a:t>Security teams, compliance officers, auditors</a:t>
            </a:r>
          </a:p>
          <a:p>
            <a:pPr>
              <a:spcBef>
                <a:spcPts val="600"/>
              </a:spcBef>
            </a:pPr>
            <a:r>
              <a:rPr lang="en-US" sz="1200" b="1" dirty="0"/>
              <a:t>Email: </a:t>
            </a:r>
            <a:r>
              <a:rPr lang="en-US" sz="1200" dirty="0"/>
              <a:t>You provide during setup (e.g., </a:t>
            </a:r>
            <a:r>
              <a:rPr lang="en-US" sz="1200" dirty="0">
                <a:hlinkClick r:id="rId2"/>
              </a:rPr>
              <a:t>aws-audit@company.com</a:t>
            </a:r>
            <a:r>
              <a:rPr lang="en-US" sz="1200" dirty="0"/>
              <a:t>)</a:t>
            </a:r>
          </a:p>
          <a:p>
            <a:pPr>
              <a:spcBef>
                <a:spcPts val="600"/>
              </a:spcBef>
            </a:pPr>
            <a:endParaRPr lang="en-US" sz="1200" b="1" dirty="0"/>
          </a:p>
          <a:p>
            <a:pPr>
              <a:spcBef>
                <a:spcPts val="600"/>
              </a:spcBef>
            </a:pPr>
            <a:r>
              <a:rPr lang="en-US" sz="1200" b="1" dirty="0"/>
              <a:t>Important: These accounts are permanent for the life of your landing zone.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F3944-A377-4653-6701-3FAB298BB8DE}"/>
              </a:ext>
            </a:extLst>
          </p:cNvPr>
          <p:cNvSpPr txBox="1"/>
          <p:nvPr/>
        </p:nvSpPr>
        <p:spPr>
          <a:xfrm>
            <a:off x="6977743" y="1001486"/>
            <a:ext cx="470262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3.) Security OU</a:t>
            </a:r>
          </a:p>
          <a:p>
            <a:pPr>
              <a:spcBef>
                <a:spcPts val="600"/>
              </a:spcBef>
            </a:pPr>
            <a:r>
              <a:rPr lang="en-US" sz="1400" b="1" dirty="0"/>
              <a:t>Purpose: </a:t>
            </a:r>
            <a:r>
              <a:rPr lang="en-US" sz="1400" dirty="0"/>
              <a:t>Control Tower creates a dedicated Security OU to house these accounts.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Security OU Structure: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Root Organization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└── Security OU (Control Tower managed)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   ├── Log Archive 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   └── Audit Account</a:t>
            </a:r>
          </a:p>
          <a:p>
            <a:pPr>
              <a:spcBef>
                <a:spcPts val="600"/>
              </a:spcBef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b="1" dirty="0"/>
              <a:t>Controls Applied: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Prevent CloudTrail from being stopped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Prevent AWS Config from being disabled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Prevent deletion of log data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Restrict modifications to security resources</a:t>
            </a:r>
          </a:p>
        </p:txBody>
      </p:sp>
    </p:spTree>
    <p:extLst>
      <p:ext uri="{BB962C8B-B14F-4D97-AF65-F5344CB8AC3E}">
        <p14:creationId xmlns:p14="http://schemas.microsoft.com/office/powerpoint/2010/main" val="3840617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205C6-E3E8-B822-343D-9B3ED26D7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57A3E-6D70-F79D-B48F-98B743026471}"/>
              </a:ext>
            </a:extLst>
          </p:cNvPr>
          <p:cNvSpPr txBox="1"/>
          <p:nvPr/>
        </p:nvSpPr>
        <p:spPr>
          <a:xfrm>
            <a:off x="655546" y="252549"/>
            <a:ext cx="11329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Recommended OU Structure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EE36A-46C3-A6CA-6549-5C854546F4EE}"/>
              </a:ext>
            </a:extLst>
          </p:cNvPr>
          <p:cNvSpPr txBox="1"/>
          <p:nvPr/>
        </p:nvSpPr>
        <p:spPr>
          <a:xfrm>
            <a:off x="786175" y="1097280"/>
            <a:ext cx="4765539" cy="561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What You Should Create After Control Tower Setup</a:t>
            </a:r>
          </a:p>
          <a:p>
            <a:endParaRPr lang="en-US" sz="1400" b="1" dirty="0"/>
          </a:p>
          <a:p>
            <a:r>
              <a:rPr lang="en-US" sz="1400" dirty="0"/>
              <a:t>AWS recommends creating at least one Additional OU beyond the Security OU for your workloads.</a:t>
            </a:r>
          </a:p>
          <a:p>
            <a:endParaRPr lang="en-US" sz="1400" b="1" dirty="0"/>
          </a:p>
          <a:p>
            <a:r>
              <a:rPr lang="en-US" sz="1400" b="1" dirty="0"/>
              <a:t>Recommended Landing Zone Structure:</a:t>
            </a:r>
          </a:p>
          <a:p>
            <a:endParaRPr lang="en-US" sz="1200" dirty="0"/>
          </a:p>
          <a:p>
            <a:r>
              <a:rPr lang="en-US" sz="1050" dirty="0"/>
              <a:t>Root Organization (Management Account)</a:t>
            </a:r>
          </a:p>
          <a:p>
            <a:r>
              <a:rPr lang="en-US" sz="1050" dirty="0"/>
              <a:t> │</a:t>
            </a:r>
          </a:p>
          <a:p>
            <a:r>
              <a:rPr lang="en-US" sz="1050" dirty="0"/>
              <a:t> ├── Security OU (Control Tower created)</a:t>
            </a:r>
          </a:p>
          <a:p>
            <a:r>
              <a:rPr lang="en-US" sz="1050" dirty="0"/>
              <a:t> │   ├── Log Archive Account</a:t>
            </a:r>
          </a:p>
          <a:p>
            <a:r>
              <a:rPr lang="en-US" sz="1050" dirty="0"/>
              <a:t> │   └── Audit Account</a:t>
            </a:r>
          </a:p>
          <a:p>
            <a:r>
              <a:rPr lang="en-US" sz="1050" dirty="0"/>
              <a:t> │</a:t>
            </a:r>
          </a:p>
          <a:p>
            <a:r>
              <a:rPr lang="en-US" sz="1050" dirty="0"/>
              <a:t> ├── Sandbox OU (Strongly Recommended)</a:t>
            </a:r>
          </a:p>
          <a:p>
            <a:r>
              <a:rPr lang="en-US" sz="1050" dirty="0"/>
              <a:t> │   └── Experimental/development accounts</a:t>
            </a:r>
          </a:p>
          <a:p>
            <a:r>
              <a:rPr lang="en-US" sz="1050" dirty="0"/>
              <a:t> │   └── Lenient controls for innovation</a:t>
            </a:r>
          </a:p>
          <a:p>
            <a:r>
              <a:rPr lang="en-US" sz="1050" dirty="0"/>
              <a:t> │</a:t>
            </a:r>
          </a:p>
          <a:p>
            <a:r>
              <a:rPr lang="en-US" sz="1050" dirty="0"/>
              <a:t> ├── Development OU (You create)</a:t>
            </a:r>
          </a:p>
          <a:p>
            <a:r>
              <a:rPr lang="en-US" sz="1050" dirty="0"/>
              <a:t> │   ├── dev-app-account</a:t>
            </a:r>
          </a:p>
          <a:p>
            <a:r>
              <a:rPr lang="en-US" sz="1050" dirty="0"/>
              <a:t> │   ├── dev-data-account</a:t>
            </a:r>
          </a:p>
          <a:p>
            <a:r>
              <a:rPr lang="en-US" sz="1050" dirty="0"/>
              <a:t> │   └── dev-test-account</a:t>
            </a:r>
          </a:p>
          <a:p>
            <a:r>
              <a:rPr lang="en-US" sz="1050" dirty="0"/>
              <a:t> │</a:t>
            </a:r>
          </a:p>
          <a:p>
            <a:r>
              <a:rPr lang="en-US" sz="1050" dirty="0"/>
              <a:t> ├── Staging OU (You create)</a:t>
            </a:r>
          </a:p>
          <a:p>
            <a:r>
              <a:rPr lang="en-US" sz="1050" dirty="0"/>
              <a:t> │   ├── staging-app-account</a:t>
            </a:r>
          </a:p>
          <a:p>
            <a:r>
              <a:rPr lang="en-US" sz="1050" dirty="0"/>
              <a:t> │   └── staging-integration-account</a:t>
            </a:r>
          </a:p>
          <a:p>
            <a:r>
              <a:rPr lang="en-US" sz="1050" dirty="0"/>
              <a:t> │</a:t>
            </a:r>
          </a:p>
          <a:p>
            <a:r>
              <a:rPr lang="en-US" sz="1050" dirty="0"/>
              <a:t> └── Production OU (You create)</a:t>
            </a:r>
          </a:p>
          <a:p>
            <a:r>
              <a:rPr lang="en-US" sz="1050" dirty="0"/>
              <a:t>     ├── prod-app-account</a:t>
            </a:r>
          </a:p>
          <a:p>
            <a:r>
              <a:rPr lang="en-US" sz="1050" dirty="0"/>
              <a:t>     ├── prod-data-account</a:t>
            </a:r>
          </a:p>
          <a:p>
            <a:r>
              <a:rPr lang="en-US" sz="1050" dirty="0"/>
              <a:t>     └── prod-analytics-account</a:t>
            </a:r>
          </a:p>
          <a:p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B3445-512D-F058-06DB-87CF72E12B57}"/>
              </a:ext>
            </a:extLst>
          </p:cNvPr>
          <p:cNvSpPr txBox="1"/>
          <p:nvPr/>
        </p:nvSpPr>
        <p:spPr>
          <a:xfrm>
            <a:off x="6509657" y="1097280"/>
            <a:ext cx="513805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OU Strategy Guidelines </a:t>
            </a:r>
          </a:p>
          <a:p>
            <a:endParaRPr lang="en-US" sz="1400" b="1" dirty="0"/>
          </a:p>
          <a:p>
            <a:r>
              <a:rPr lang="en-US" sz="1400" b="1" dirty="0"/>
              <a:t>Sandbox OU: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experimentation and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Developers can try new services safely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production data ever touches this OU Workload OUs </a:t>
            </a:r>
          </a:p>
          <a:p>
            <a:endParaRPr lang="en-US" sz="1400" dirty="0"/>
          </a:p>
          <a:p>
            <a:r>
              <a:rPr lang="en-US" sz="1400" b="1" dirty="0"/>
              <a:t>Environment-based: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Development OU: Lenient controls, frequent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Staging OU: Medium controls, pre-production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Production OU: Strict controls, change management required </a:t>
            </a:r>
          </a:p>
          <a:p>
            <a:endParaRPr lang="en-US" sz="1400" dirty="0"/>
          </a:p>
          <a:p>
            <a:r>
              <a:rPr lang="en-US" sz="1400" b="1" dirty="0"/>
              <a:t>Best Practices: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Apply controls at OU level -&gt; all accounts inherit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Start with strict controls at root -&gt; relax at lower OUs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Keep hierarchy simple (2-3 levels maximum)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 consistent naming conventions (env-team-purpose)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94910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EEB3-2488-A65A-D907-5943A50C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D0256A-9893-21B4-957C-0E4ABF7FBE85}"/>
              </a:ext>
            </a:extLst>
          </p:cNvPr>
          <p:cNvSpPr txBox="1"/>
          <p:nvPr/>
        </p:nvSpPr>
        <p:spPr>
          <a:xfrm>
            <a:off x="655546" y="252549"/>
            <a:ext cx="11329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CT Features: Automated Account Factory (AFT)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83CA2-8E22-4D0C-E92F-275617FC30FC}"/>
              </a:ext>
            </a:extLst>
          </p:cNvPr>
          <p:cNvSpPr txBox="1"/>
          <p:nvPr/>
        </p:nvSpPr>
        <p:spPr>
          <a:xfrm>
            <a:off x="786175" y="1097280"/>
            <a:ext cx="102301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A configurable account template built on AWS Service Catalog that standardizes and automates the provisioning of new AWS accounts with pre-approved configurations.</a:t>
            </a:r>
          </a:p>
          <a:p>
            <a:endParaRPr lang="en-US" sz="1600" b="1" i="1" dirty="0"/>
          </a:p>
          <a:p>
            <a:r>
              <a:rPr lang="en-US" sz="1400" b="1" dirty="0"/>
              <a:t>Without AFT:</a:t>
            </a:r>
          </a:p>
          <a:p>
            <a:r>
              <a:rPr lang="en-US" sz="1400" dirty="0"/>
              <a:t>IT Request: "Need new AWS account"</a:t>
            </a:r>
          </a:p>
          <a:p>
            <a:r>
              <a:rPr lang="en-US" sz="1400" dirty="0"/>
              <a:t>Process: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 account via console/API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Manual checklist: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 Enable CloudTrail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 Setup AWS Config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 Create VPC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 Configure IAM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Apply 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Test everything </a:t>
            </a:r>
          </a:p>
          <a:p>
            <a:endParaRPr lang="en-US" sz="1400" dirty="0"/>
          </a:p>
          <a:p>
            <a:r>
              <a:rPr lang="en-IN" sz="1400" b="1" dirty="0"/>
              <a:t>With AFT:</a:t>
            </a:r>
          </a:p>
          <a:p>
            <a:r>
              <a:rPr lang="en-US" sz="1400" dirty="0"/>
              <a:t>User Request: Fill form</a:t>
            </a:r>
          </a:p>
          <a:p>
            <a:r>
              <a:rPr lang="en-US" sz="1400" dirty="0"/>
              <a:t>Control Tower: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Creates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Applies all security baselines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Enables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Creates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Configures IAM/SSO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Applies guardrails</a:t>
            </a:r>
          </a:p>
        </p:txBody>
      </p:sp>
    </p:spTree>
    <p:extLst>
      <p:ext uri="{BB962C8B-B14F-4D97-AF65-F5344CB8AC3E}">
        <p14:creationId xmlns:p14="http://schemas.microsoft.com/office/powerpoint/2010/main" val="675932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4F5C-3EBF-250A-0FCA-97BCDD06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9642D-5256-5E95-7E3F-6D16E83022AD}"/>
              </a:ext>
            </a:extLst>
          </p:cNvPr>
          <p:cNvSpPr txBox="1"/>
          <p:nvPr/>
        </p:nvSpPr>
        <p:spPr>
          <a:xfrm>
            <a:off x="655546" y="252549"/>
            <a:ext cx="11329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CT Features: </a:t>
            </a:r>
            <a:r>
              <a:rPr lang="en-IN" sz="3600" b="1" dirty="0"/>
              <a:t>IAM Identity Center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59FFB-DF8D-8EF8-E7D6-263909E03D15}"/>
              </a:ext>
            </a:extLst>
          </p:cNvPr>
          <p:cNvSpPr txBox="1"/>
          <p:nvPr/>
        </p:nvSpPr>
        <p:spPr>
          <a:xfrm>
            <a:off x="731746" y="1165231"/>
            <a:ext cx="10230167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dirty="0"/>
              <a:t>AWS IAM Identity Center (formerly AWS SSO) Automatically Configured with Control Tower IAM Identity Center is integrated and configured during Control Tower setup no manual configuration needed.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The Identity Challenge:</a:t>
            </a:r>
            <a:endParaRPr lang="en-US" sz="14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Users need separate logins for each AWS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Password sprawl: 10 accounts = 10 passwords to remember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Access management nightmare: Manually create IAM users in each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Security risk: Hard to revoke access when someone leaves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unified audit trail across accounts</a:t>
            </a:r>
          </a:p>
          <a:p>
            <a:pPr>
              <a:spcBef>
                <a:spcPts val="600"/>
              </a:spcBef>
            </a:pPr>
            <a:endParaRPr lang="en-US" sz="1400" b="1" dirty="0"/>
          </a:p>
          <a:p>
            <a:pPr>
              <a:spcBef>
                <a:spcPts val="600"/>
              </a:spcBef>
            </a:pPr>
            <a:r>
              <a:rPr lang="en-US" sz="1400" b="1" dirty="0"/>
              <a:t>IAM Identity Center Solution: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Users log in once -&gt; access all authorized AWS accounts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One portal, one password, one MFA setup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Access AWS Console or CLI seamlessly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No credential sharing or password sprawl</a:t>
            </a:r>
          </a:p>
        </p:txBody>
      </p:sp>
    </p:spTree>
    <p:extLst>
      <p:ext uri="{BB962C8B-B14F-4D97-AF65-F5344CB8AC3E}">
        <p14:creationId xmlns:p14="http://schemas.microsoft.com/office/powerpoint/2010/main" val="313735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14027-93F5-EED5-3AA5-6AC0DBD35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435BF-81D0-A5C2-A862-DD4C0A41728A}"/>
              </a:ext>
            </a:extLst>
          </p:cNvPr>
          <p:cNvSpPr txBox="1"/>
          <p:nvPr/>
        </p:nvSpPr>
        <p:spPr>
          <a:xfrm>
            <a:off x="655546" y="252549"/>
            <a:ext cx="11329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US" sz="3600" b="1" dirty="0"/>
              <a:t>CT Features: </a:t>
            </a:r>
            <a:r>
              <a:rPr lang="en-IN" sz="3600" b="1" dirty="0"/>
              <a:t>Control </a:t>
            </a:r>
            <a:r>
              <a:rPr lang="en-IN" sz="3600" b="1" dirty="0" err="1"/>
              <a:t>Catalog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5A058-9F6F-7CD2-1114-7E3595A176CD}"/>
              </a:ext>
            </a:extLst>
          </p:cNvPr>
          <p:cNvSpPr txBox="1"/>
          <p:nvPr/>
        </p:nvSpPr>
        <p:spPr>
          <a:xfrm>
            <a:off x="764403" y="1089031"/>
            <a:ext cx="1023016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Control </a:t>
            </a:r>
            <a:r>
              <a:rPr lang="en-US" sz="1400" b="1"/>
              <a:t>Catalog</a:t>
            </a:r>
            <a:r>
              <a:rPr lang="en-US" sz="1400"/>
              <a:t> - </a:t>
            </a:r>
            <a:r>
              <a:rPr lang="en-US" sz="1400" dirty="0"/>
              <a:t>1,218+ AWS-Managed Controls.</a:t>
            </a:r>
          </a:p>
          <a:p>
            <a:endParaRPr lang="en-US" sz="1400" dirty="0"/>
          </a:p>
          <a:p>
            <a:r>
              <a:rPr lang="en-US" sz="1400" dirty="0"/>
              <a:t>A comprehensive library of pre-packaged controls that help enforce policies and detect violations across your organization. </a:t>
            </a:r>
          </a:p>
          <a:p>
            <a:endParaRPr lang="en-US" sz="1400" dirty="0"/>
          </a:p>
          <a:p>
            <a:r>
              <a:rPr lang="en-US" sz="1400" b="1" dirty="0"/>
              <a:t>Note:</a:t>
            </a:r>
            <a:r>
              <a:rPr lang="en-US" sz="1400" dirty="0"/>
              <a:t> Controls are sometimes called "guardrails" in AWS documentation. You can explore the Control Catalog before enabling Control Tower.</a:t>
            </a:r>
          </a:p>
          <a:p>
            <a:endParaRPr lang="en-US" sz="1400" b="1" dirty="0"/>
          </a:p>
          <a:p>
            <a:r>
              <a:rPr lang="en-US" sz="1400" b="1" dirty="0"/>
              <a:t>Types of Controls:</a:t>
            </a:r>
            <a:endParaRPr lang="en-US" sz="1400" dirty="0"/>
          </a:p>
          <a:p>
            <a:r>
              <a:rPr lang="en-US" sz="1400" b="1" dirty="0"/>
              <a:t>1.) Preventive Controls (69): </a:t>
            </a:r>
            <a:r>
              <a:rPr lang="en-US" sz="1400" dirty="0"/>
              <a:t>Use SCPs to block actions before they happen</a:t>
            </a:r>
          </a:p>
          <a:p>
            <a:r>
              <a:rPr lang="en-US" sz="1400" b="1" dirty="0"/>
              <a:t>Examples: </a:t>
            </a:r>
            <a:r>
              <a:rPr lang="en-US" sz="1400" dirty="0"/>
              <a:t>Prevent turning off CloudTrail, Restrict regions (e.g., only US/EU), Block unencrypted S3 buckets</a:t>
            </a:r>
          </a:p>
          <a:p>
            <a:r>
              <a:rPr lang="en-US" sz="1400" b="1" dirty="0"/>
              <a:t>Result:</a:t>
            </a:r>
            <a:r>
              <a:rPr lang="en-US" sz="1400" dirty="0"/>
              <a:t> Action is denied immediately</a:t>
            </a:r>
          </a:p>
          <a:p>
            <a:endParaRPr lang="en-US" sz="1400" dirty="0"/>
          </a:p>
          <a:p>
            <a:r>
              <a:rPr lang="en-US" sz="1400" b="1" dirty="0"/>
              <a:t>2.) Detective Controls (914): </a:t>
            </a:r>
            <a:r>
              <a:rPr lang="en-US" sz="1400" dirty="0"/>
              <a:t>Use AWS Config Rules to monitor and alert on violations</a:t>
            </a:r>
          </a:p>
          <a:p>
            <a:r>
              <a:rPr lang="en-US" sz="1400" b="1" dirty="0"/>
              <a:t>Examples:</a:t>
            </a:r>
            <a:r>
              <a:rPr lang="en-US" sz="1400" dirty="0"/>
              <a:t> Detect unencrypted EBS volumes, Flag overly permissive security groups, Identify resources without required tags</a:t>
            </a:r>
          </a:p>
          <a:p>
            <a:r>
              <a:rPr lang="en-US" sz="1400" b="1" dirty="0"/>
              <a:t>Result:</a:t>
            </a:r>
            <a:r>
              <a:rPr lang="en-US" sz="1400" dirty="0"/>
              <a:t> Violation logged; notification sent</a:t>
            </a:r>
          </a:p>
          <a:p>
            <a:endParaRPr lang="en-US" sz="1400" dirty="0"/>
          </a:p>
          <a:p>
            <a:r>
              <a:rPr lang="en-US" sz="1400" b="1" dirty="0"/>
              <a:t>3.) Proactive Controls (235)</a:t>
            </a:r>
            <a:endParaRPr lang="en-US" sz="1400" dirty="0"/>
          </a:p>
          <a:p>
            <a:r>
              <a:rPr lang="en-US" sz="1400" b="1" dirty="0"/>
              <a:t>How they work:</a:t>
            </a:r>
            <a:r>
              <a:rPr lang="en-US" sz="1400" dirty="0"/>
              <a:t> Validate resources before deployment</a:t>
            </a:r>
          </a:p>
          <a:p>
            <a:r>
              <a:rPr lang="en-US" sz="1400" b="1" dirty="0"/>
              <a:t>Examples: </a:t>
            </a:r>
            <a:r>
              <a:rPr lang="en-US" sz="1400" dirty="0"/>
              <a:t>Ensure resources meet encryption requirements at deployment time, Ensure resources meet compliance standards at deployment time</a:t>
            </a:r>
          </a:p>
          <a:p>
            <a:r>
              <a:rPr lang="en-US" sz="1400" b="1" dirty="0"/>
              <a:t>Result:</a:t>
            </a:r>
            <a:r>
              <a:rPr lang="en-US" sz="1400" dirty="0"/>
              <a:t> Non-compliant deployments blocked</a:t>
            </a:r>
          </a:p>
          <a:p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Choose from preventive, detective, or proactive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Controls apply to all accounts in that OU automatically</a:t>
            </a:r>
          </a:p>
        </p:txBody>
      </p:sp>
    </p:spTree>
    <p:extLst>
      <p:ext uri="{BB962C8B-B14F-4D97-AF65-F5344CB8AC3E}">
        <p14:creationId xmlns:p14="http://schemas.microsoft.com/office/powerpoint/2010/main" val="3036958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2484</Words>
  <Application>Microsoft Office PowerPoint</Application>
  <PresentationFormat>Widescreen</PresentationFormat>
  <Paragraphs>381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Wingdings</vt:lpstr>
      <vt:lpstr>Office Theme</vt:lpstr>
      <vt:lpstr>Multi-Account Governance &amp; AWS Control Tower</vt:lpstr>
      <vt:lpstr>PowerPoint Presentation</vt:lpstr>
      <vt:lpstr>PowerPoint Presentation</vt:lpstr>
      <vt:lpstr>Real-World Statistics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178</cp:revision>
  <dcterms:created xsi:type="dcterms:W3CDTF">2025-11-27T20:35:07Z</dcterms:created>
  <dcterms:modified xsi:type="dcterms:W3CDTF">2025-12-14T06:31:49Z</dcterms:modified>
</cp:coreProperties>
</file>