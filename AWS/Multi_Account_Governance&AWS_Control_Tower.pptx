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63" r:id="rId3"/>
    <p:sldId id="295" r:id="rId4"/>
    <p:sldId id="282" r:id="rId5"/>
    <p:sldId id="286" r:id="rId6"/>
    <p:sldId id="324" r:id="rId7"/>
    <p:sldId id="287" r:id="rId8"/>
    <p:sldId id="310" r:id="rId9"/>
    <p:sldId id="332" r:id="rId10"/>
    <p:sldId id="333" r:id="rId11"/>
    <p:sldId id="334" r:id="rId12"/>
    <p:sldId id="325" r:id="rId13"/>
    <p:sldId id="329" r:id="rId14"/>
    <p:sldId id="330" r:id="rId15"/>
    <p:sldId id="326" r:id="rId16"/>
    <p:sldId id="335" r:id="rId17"/>
    <p:sldId id="327" r:id="rId18"/>
    <p:sldId id="336" r:id="rId19"/>
    <p:sldId id="328" r:id="rId20"/>
    <p:sldId id="337" r:id="rId21"/>
    <p:sldId id="338" r:id="rId22"/>
    <p:sldId id="339" r:id="rId23"/>
    <p:sldId id="344" r:id="rId24"/>
    <p:sldId id="340" r:id="rId25"/>
    <p:sldId id="345" r:id="rId26"/>
    <p:sldId id="346" r:id="rId27"/>
    <p:sldId id="341" r:id="rId28"/>
    <p:sldId id="34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>
        <p:scale>
          <a:sx n="60" d="100"/>
          <a:sy n="60" d="100"/>
        </p:scale>
        <p:origin x="784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307C2-D910-4122-9388-FE9DC4B9E077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111B5C-0485-4D3A-8470-D55704130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7773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8AD19-BCF0-C094-4CDD-E794F225E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9C8C8-31B0-EF9C-2D3E-BFFFD0F92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3AC4A-64DE-7991-386D-D4C007FED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4249B-FD95-22A5-65C2-DADA1147A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3417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E56B4-4631-38CF-92CA-B7464956E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80FE94-9D60-B57C-E0B2-FC47EC81A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3E6B2-D61E-F145-9598-DAD3203CB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77257-A696-D610-54E3-22FFFE82D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0739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F87B5-AB3C-6853-3020-8499E51E9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90C760-601E-C01A-83EB-B6F59015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F9CFD-76DF-6EDE-0574-10C8AFFE8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BC349-EC93-3345-E79F-01D534DE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3533E-01D7-E5BF-0584-FFC7CC6FB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034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AB090-87E1-CCF9-6475-B8847162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9B680-C86A-1B9F-83AD-36EC89E63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D04CF-B360-A13E-2209-2F3DA4D4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D3FA-50BB-5ADF-DF76-E02F8907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23D35-A12B-08B7-E41C-40024C9F7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97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A02C4-968D-1AFE-5974-AD015A04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DB0EF-A72D-603A-596F-892520DBA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E268F-0D68-B085-00CD-18E9F8452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37CDF-B5F7-857A-E6C5-AB98DF7C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C37E3-A2FC-D19D-1A1C-004D03C1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4774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F4844-A2DB-FC70-F7D9-9EAA0748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AD34C-A81C-6791-BFF7-52891BA9C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06BF7-69DD-D7BF-35E2-3209B44C1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71C55-4FB2-C431-6A44-266A64272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C4614-A653-A51E-8737-80865E974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4FCDBC-251C-83B2-B970-F2BAE4C0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762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30A67-A38A-F132-F66F-8AD9EB830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7CD0A-75F4-92E0-AD22-C46DB2AC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43F6C-3D5D-E867-8F8D-93B1B76C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5A1DA4-6607-1D5D-4C91-C38CD2DD37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CCFBC-5B82-395F-66DB-B91CB8424D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9338F0-E2D5-431E-CF92-079D064AB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E660B8-4C9B-7283-B2BC-4993DC3B2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5BCA5-77A5-F52B-7DF6-DB6A2517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80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BCE92-4D52-DB9D-4183-4CB4FC410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CFFBB-6B8F-595A-11FF-B14CA05B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9E9C03-DF04-FA0F-4F98-F4EAA0B00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A12BEC-790F-BF6E-35D7-E22F1A90E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537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A0185-DC9B-4F35-B193-63B53E81E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8876B6-0581-8C27-94C6-4A70E737C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ED17D-92E7-FF8F-0436-917621026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93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32E36-5D48-6E19-2A80-57AE6ADC4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D5833-2DDA-39DF-1B95-12B60A8F9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93F8A1-3DE6-E79D-F31B-3EB59399D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15CBF-38CB-85CD-88E1-E2483D62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D3BF7-8E2E-76E7-0CDE-172BF6AB1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932BF-5FD9-118C-9422-D177E9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79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FFB4E-3F56-1CCE-7E0A-0F10FFF4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31140-9012-BA27-B2DD-21193138F6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E3669-D5B4-D6EE-FD65-1C1499098C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86B2D-3478-2904-F778-34B5D9FC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E8670-C314-09D4-8397-F904486CC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F84F0-ED14-9F17-4188-850429CDE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5869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B4A7-2EF5-4A22-DCB3-BDE1BB7C8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789C9B-211C-DA9D-ACE2-907197D5C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9D562-5F50-A1E9-A0F3-288E2D26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BC7DB-BC0A-20E2-91FA-5325B8F3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09156-5965-FB52-AF4A-5E7A2D04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FABFD9-D75E-1C78-7078-CF86DDAEB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594D4E-AC9E-415C-FE11-AD708D49F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1B691-C120-7EE8-B061-1E9DF04C2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C1710-EC21-4160-8E3B-32635D81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12294-4701-3F0D-635F-8158E74F3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5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E275D0-4C49-5220-9340-21B7ACF0E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9D230-D813-A0D2-DE18-887B50D3D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142A6-BE30-D2B9-25F4-383EFB8A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B77DFC-8711-4557-8CA1-4C836922276B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033E5-920A-98B4-A35B-FB316DF00E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C48F-10B5-A34D-9F2B-696595BA34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581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ws-ia/terraform-aws-control_tower_account_factory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9" name="Google Shape;59;p13"/>
          <p:cNvSpPr txBox="1">
            <a:spLocks noGrp="1"/>
          </p:cNvSpPr>
          <p:nvPr>
            <p:ph type="ctrTitle" idx="4294967295"/>
          </p:nvPr>
        </p:nvSpPr>
        <p:spPr>
          <a:xfrm>
            <a:off x="2188029" y="2068973"/>
            <a:ext cx="8893628" cy="313439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r>
              <a:rPr lang="en-US" sz="8000" dirty="0">
                <a:solidFill>
                  <a:srgbClr val="FFFFFF"/>
                </a:solidFill>
              </a:rPr>
              <a:t>Multi-Account Governance &amp; AWS </a:t>
            </a:r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Control Tower</a:t>
            </a:r>
          </a:p>
        </p:txBody>
      </p:sp>
      <p:sp>
        <p:nvSpPr>
          <p:cNvPr id="7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0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1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6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8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12559-4030-008D-445A-366C86624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9ABD87-BF18-5F16-450F-ECC297BEF4F0}"/>
              </a:ext>
            </a:extLst>
          </p:cNvPr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Multi-Account Strategy - Why It Matters</a:t>
            </a:r>
            <a:endParaRPr sz="36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CFE265F-F26F-8508-AF3E-2E9A029D6E5B}"/>
              </a:ext>
            </a:extLst>
          </p:cNvPr>
          <p:cNvGrpSpPr/>
          <p:nvPr/>
        </p:nvGrpSpPr>
        <p:grpSpPr>
          <a:xfrm>
            <a:off x="558581" y="1346105"/>
            <a:ext cx="3284076" cy="5237573"/>
            <a:chOff x="558581" y="1346106"/>
            <a:chExt cx="3326691" cy="47536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41EDF22-4B73-B5F9-E832-DEAB82E6D47D}"/>
                </a:ext>
              </a:extLst>
            </p:cNvPr>
            <p:cNvSpPr/>
            <p:nvPr/>
          </p:nvSpPr>
          <p:spPr>
            <a:xfrm>
              <a:off x="558581" y="1346106"/>
              <a:ext cx="3326691" cy="489600"/>
            </a:xfrm>
            <a:custGeom>
              <a:avLst/>
              <a:gdLst>
                <a:gd name="csX0" fmla="*/ 0 w 3326691"/>
                <a:gd name="csY0" fmla="*/ 0 h 489600"/>
                <a:gd name="csX1" fmla="*/ 3326691 w 3326691"/>
                <a:gd name="csY1" fmla="*/ 0 h 489600"/>
                <a:gd name="csX2" fmla="*/ 3326691 w 3326691"/>
                <a:gd name="csY2" fmla="*/ 489600 h 489600"/>
                <a:gd name="csX3" fmla="*/ 0 w 3326691"/>
                <a:gd name="csY3" fmla="*/ 489600 h 489600"/>
                <a:gd name="csX4" fmla="*/ 0 w 3326691"/>
                <a:gd name="csY4" fmla="*/ 0 h 48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26691" h="489600">
                  <a:moveTo>
                    <a:pt x="0" y="0"/>
                  </a:moveTo>
                  <a:lnTo>
                    <a:pt x="3326691" y="0"/>
                  </a:lnTo>
                  <a:lnTo>
                    <a:pt x="3326691" y="489600"/>
                  </a:lnTo>
                  <a:lnTo>
                    <a:pt x="0" y="4896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20904" tIns="69088" rIns="120904" bIns="69088" numCol="1" spcCol="1270" anchor="ctr" anchorCtr="0">
              <a:noAutofit/>
            </a:bodyPr>
            <a:lstStyle/>
            <a:p>
              <a:pPr marL="0" lvl="0" indent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700" b="1" kern="1200">
                  <a:solidFill>
                    <a:schemeClr val="tx1"/>
                  </a:solidFill>
                </a:rPr>
                <a:t>The Problem</a:t>
              </a:r>
              <a:endParaRPr lang="en-IN" sz="1700" kern="1200">
                <a:solidFill>
                  <a:schemeClr val="tx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1ADEC9-8DA4-755C-8C44-0B2CE2C3C9AD}"/>
                </a:ext>
              </a:extLst>
            </p:cNvPr>
            <p:cNvSpPr/>
            <p:nvPr/>
          </p:nvSpPr>
          <p:spPr>
            <a:xfrm>
              <a:off x="558581" y="1835706"/>
              <a:ext cx="3326691" cy="4264014"/>
            </a:xfrm>
            <a:custGeom>
              <a:avLst/>
              <a:gdLst>
                <a:gd name="csX0" fmla="*/ 0 w 3326691"/>
                <a:gd name="csY0" fmla="*/ 0 h 4264014"/>
                <a:gd name="csX1" fmla="*/ 3326691 w 3326691"/>
                <a:gd name="csY1" fmla="*/ 0 h 4264014"/>
                <a:gd name="csX2" fmla="*/ 3326691 w 3326691"/>
                <a:gd name="csY2" fmla="*/ 4264014 h 4264014"/>
                <a:gd name="csX3" fmla="*/ 0 w 3326691"/>
                <a:gd name="csY3" fmla="*/ 4264014 h 4264014"/>
                <a:gd name="csX4" fmla="*/ 0 w 3326691"/>
                <a:gd name="csY4" fmla="*/ 0 h 426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26691" h="4264014">
                  <a:moveTo>
                    <a:pt x="0" y="0"/>
                  </a:moveTo>
                  <a:lnTo>
                    <a:pt x="3326691" y="0"/>
                  </a:lnTo>
                  <a:lnTo>
                    <a:pt x="3326691" y="4264014"/>
                  </a:lnTo>
                  <a:lnTo>
                    <a:pt x="0" y="4264014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1">
                  <a:alpha val="90000"/>
                </a:schemeClr>
              </a:solidFill>
            </a:ln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0678" tIns="90678" rIns="120904" bIns="136017" numCol="1" spcCol="1270" anchor="t" anchorCtr="0">
              <a:noAutofit/>
            </a:bodyPr>
            <a:lstStyle/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b="1" kern="1200" dirty="0">
                  <a:solidFill>
                    <a:schemeClr val="tx1"/>
                  </a:solidFill>
                </a:rPr>
                <a:t>Single Account at Scale</a:t>
              </a: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Everything in One AWS Account: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Production + Development + Testing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Engineering + Data Science + Marketing teams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All resources mixed</a:t>
              </a:r>
              <a:endParaRPr lang="en-IN" sz="1400" kern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C819238-2EF1-51AB-0758-9C42E021A7C1}"/>
              </a:ext>
            </a:extLst>
          </p:cNvPr>
          <p:cNvGrpSpPr/>
          <p:nvPr/>
        </p:nvGrpSpPr>
        <p:grpSpPr>
          <a:xfrm>
            <a:off x="4082143" y="1346106"/>
            <a:ext cx="3646714" cy="5237572"/>
            <a:chOff x="4351010" y="1346106"/>
            <a:chExt cx="3326691" cy="4753614"/>
          </a:xfrm>
          <a:solidFill>
            <a:schemeClr val="bg1"/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A4552B8-28C8-876C-A080-8E5DAA888DBE}"/>
                </a:ext>
              </a:extLst>
            </p:cNvPr>
            <p:cNvSpPr/>
            <p:nvPr/>
          </p:nvSpPr>
          <p:spPr>
            <a:xfrm>
              <a:off x="4351010" y="1346106"/>
              <a:ext cx="3326691" cy="489600"/>
            </a:xfrm>
            <a:custGeom>
              <a:avLst/>
              <a:gdLst>
                <a:gd name="csX0" fmla="*/ 0 w 3326691"/>
                <a:gd name="csY0" fmla="*/ 0 h 489600"/>
                <a:gd name="csX1" fmla="*/ 3326691 w 3326691"/>
                <a:gd name="csY1" fmla="*/ 0 h 489600"/>
                <a:gd name="csX2" fmla="*/ 3326691 w 3326691"/>
                <a:gd name="csY2" fmla="*/ 489600 h 489600"/>
                <a:gd name="csX3" fmla="*/ 0 w 3326691"/>
                <a:gd name="csY3" fmla="*/ 489600 h 489600"/>
                <a:gd name="csX4" fmla="*/ 0 w 3326691"/>
                <a:gd name="csY4" fmla="*/ 0 h 48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26691" h="489600">
                  <a:moveTo>
                    <a:pt x="0" y="0"/>
                  </a:moveTo>
                  <a:lnTo>
                    <a:pt x="3326691" y="0"/>
                  </a:lnTo>
                  <a:lnTo>
                    <a:pt x="3326691" y="489600"/>
                  </a:lnTo>
                  <a:lnTo>
                    <a:pt x="0" y="4896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accent2">
                <a:hueOff val="3221807"/>
                <a:satOff val="-9246"/>
                <a:lumOff val="-14805"/>
                <a:alphaOff val="0"/>
              </a:schemeClr>
            </a:lnRef>
            <a:fillRef idx="1">
              <a:schemeClr val="accent2">
                <a:hueOff val="3221807"/>
                <a:satOff val="-9246"/>
                <a:lumOff val="-14805"/>
                <a:alphaOff val="0"/>
              </a:schemeClr>
            </a:fillRef>
            <a:effectRef idx="1">
              <a:schemeClr val="accent2">
                <a:hueOff val="3221807"/>
                <a:satOff val="-9246"/>
                <a:lumOff val="-1480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20904" tIns="69088" rIns="120904" bIns="69088" numCol="1" spcCol="1270" anchor="ctr" anchorCtr="0">
              <a:noAutofit/>
            </a:bodyPr>
            <a:lstStyle/>
            <a:p>
              <a:pPr marL="0" lvl="0" indent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700" b="1" kern="1200" dirty="0">
                  <a:solidFill>
                    <a:schemeClr val="tx1"/>
                  </a:solidFill>
                </a:rPr>
                <a:t>Consequences</a:t>
              </a:r>
              <a:endParaRPr lang="en-IN" sz="1700" kern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6DB8DDF-5E05-083A-F935-689E21004346}"/>
                </a:ext>
              </a:extLst>
            </p:cNvPr>
            <p:cNvSpPr/>
            <p:nvPr/>
          </p:nvSpPr>
          <p:spPr>
            <a:xfrm>
              <a:off x="4351010" y="1835706"/>
              <a:ext cx="3326691" cy="4264014"/>
            </a:xfrm>
            <a:custGeom>
              <a:avLst/>
              <a:gdLst>
                <a:gd name="csX0" fmla="*/ 0 w 3326691"/>
                <a:gd name="csY0" fmla="*/ 0 h 4264014"/>
                <a:gd name="csX1" fmla="*/ 3326691 w 3326691"/>
                <a:gd name="csY1" fmla="*/ 0 h 4264014"/>
                <a:gd name="csX2" fmla="*/ 3326691 w 3326691"/>
                <a:gd name="csY2" fmla="*/ 4264014 h 4264014"/>
                <a:gd name="csX3" fmla="*/ 0 w 3326691"/>
                <a:gd name="csY3" fmla="*/ 4264014 h 4264014"/>
                <a:gd name="csX4" fmla="*/ 0 w 3326691"/>
                <a:gd name="csY4" fmla="*/ 0 h 426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26691" h="4264014">
                  <a:moveTo>
                    <a:pt x="0" y="0"/>
                  </a:moveTo>
                  <a:lnTo>
                    <a:pt x="3326691" y="0"/>
                  </a:lnTo>
                  <a:lnTo>
                    <a:pt x="3326691" y="4264014"/>
                  </a:lnTo>
                  <a:lnTo>
                    <a:pt x="0" y="4264014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1">
                  <a:alpha val="90000"/>
                </a:schemeClr>
              </a:solidFill>
            </a:ln>
          </p:spPr>
          <p:style>
            <a:lnRef idx="2">
              <a:schemeClr val="accent2">
                <a:tint val="40000"/>
                <a:alpha val="90000"/>
                <a:hueOff val="3367359"/>
                <a:satOff val="-31116"/>
                <a:lumOff val="-3508"/>
                <a:alphaOff val="0"/>
              </a:schemeClr>
            </a:lnRef>
            <a:fillRef idx="1">
              <a:schemeClr val="accent2">
                <a:tint val="40000"/>
                <a:alpha val="90000"/>
                <a:hueOff val="3367359"/>
                <a:satOff val="-31116"/>
                <a:lumOff val="-3508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3367359"/>
                <a:satOff val="-31116"/>
                <a:lumOff val="-3508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0678" tIns="90678" rIns="120904" bIns="136017" numCol="1" spcCol="1270" anchor="t" anchorCtr="0">
              <a:noAutofit/>
            </a:bodyPr>
            <a:lstStyle/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Security blast radius:</a:t>
              </a:r>
              <a:r>
                <a:rPr lang="en-IN" sz="1400" kern="1200" dirty="0">
                  <a:solidFill>
                    <a:schemeClr val="tx1"/>
                  </a:solidFill>
                </a:rPr>
                <a:t> One breach = everything compromised</a:t>
              </a: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Complexity in cost accountability:</a:t>
              </a:r>
              <a:r>
                <a:rPr lang="en-IN" sz="1400" kern="1200" dirty="0">
                  <a:solidFill>
                    <a:schemeClr val="tx1"/>
                  </a:solidFill>
                </a:rPr>
                <a:t> Who spent $5K last month for the un-tagged resources?</a:t>
              </a: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Cannot enforce different policies:</a:t>
              </a:r>
              <a:r>
                <a:rPr lang="en-IN" sz="1400" kern="1200" dirty="0">
                  <a:solidFill>
                    <a:schemeClr val="tx1"/>
                  </a:solidFill>
                </a:rPr>
                <a:t> Production needs strict controls, Dev needs flexibility</a:t>
              </a: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Compliance nightmare:</a:t>
              </a:r>
              <a:r>
                <a:rPr lang="en-IN" sz="1400" kern="1200" dirty="0">
                  <a:solidFill>
                    <a:schemeClr val="tx1"/>
                  </a:solidFill>
                </a:rPr>
                <a:t> Auditors can't separate production from test data</a:t>
              </a: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Human errors propagate:</a:t>
              </a:r>
              <a:r>
                <a:rPr lang="en-IN" sz="1400" kern="1200" dirty="0">
                  <a:solidFill>
                    <a:schemeClr val="tx1"/>
                  </a:solidFill>
                </a:rPr>
                <a:t> Delete production database by accident</a:t>
              </a: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Team conflicts:</a:t>
              </a:r>
              <a:r>
                <a:rPr lang="en-IN" sz="1400" kern="1200" dirty="0">
                  <a:solidFill>
                    <a:schemeClr val="tx1"/>
                  </a:solidFill>
                </a:rPr>
                <a:t> Dev team changes break production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E99845C-02EB-F72B-2AB1-B01925A0825F}"/>
              </a:ext>
            </a:extLst>
          </p:cNvPr>
          <p:cNvGrpSpPr/>
          <p:nvPr/>
        </p:nvGrpSpPr>
        <p:grpSpPr>
          <a:xfrm>
            <a:off x="7968343" y="1346106"/>
            <a:ext cx="3784819" cy="5237572"/>
            <a:chOff x="8143438" y="1346106"/>
            <a:chExt cx="3326691" cy="4753614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ACD87C0-42BE-F88C-B12E-5E9AAC6CC01E}"/>
                </a:ext>
              </a:extLst>
            </p:cNvPr>
            <p:cNvSpPr/>
            <p:nvPr/>
          </p:nvSpPr>
          <p:spPr>
            <a:xfrm>
              <a:off x="8143438" y="1346106"/>
              <a:ext cx="3326691" cy="489600"/>
            </a:xfrm>
            <a:custGeom>
              <a:avLst/>
              <a:gdLst>
                <a:gd name="csX0" fmla="*/ 0 w 3326691"/>
                <a:gd name="csY0" fmla="*/ 0 h 489600"/>
                <a:gd name="csX1" fmla="*/ 3326691 w 3326691"/>
                <a:gd name="csY1" fmla="*/ 0 h 489600"/>
                <a:gd name="csX2" fmla="*/ 3326691 w 3326691"/>
                <a:gd name="csY2" fmla="*/ 489600 h 489600"/>
                <a:gd name="csX3" fmla="*/ 0 w 3326691"/>
                <a:gd name="csY3" fmla="*/ 489600 h 489600"/>
                <a:gd name="csX4" fmla="*/ 0 w 3326691"/>
                <a:gd name="csY4" fmla="*/ 0 h 48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26691" h="489600">
                  <a:moveTo>
                    <a:pt x="0" y="0"/>
                  </a:moveTo>
                  <a:lnTo>
                    <a:pt x="3326691" y="0"/>
                  </a:lnTo>
                  <a:lnTo>
                    <a:pt x="3326691" y="489600"/>
                  </a:lnTo>
                  <a:lnTo>
                    <a:pt x="0" y="4896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accent2">
                <a:hueOff val="6443614"/>
                <a:satOff val="-18493"/>
                <a:lumOff val="-29609"/>
                <a:alphaOff val="0"/>
              </a:schemeClr>
            </a:lnRef>
            <a:fillRef idx="1">
              <a:schemeClr val="accent2">
                <a:hueOff val="6443614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4"/>
                <a:satOff val="-18493"/>
                <a:lumOff val="-29609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20904" tIns="69088" rIns="120904" bIns="69088" numCol="1" spcCol="1270" anchor="ctr" anchorCtr="0">
              <a:noAutofit/>
            </a:bodyPr>
            <a:lstStyle/>
            <a:p>
              <a:pPr marL="0" lvl="0" indent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700" b="1" kern="1200" dirty="0">
                  <a:solidFill>
                    <a:schemeClr val="tx1"/>
                  </a:solidFill>
                </a:rPr>
                <a:t>The Solution</a:t>
              </a:r>
              <a:endParaRPr lang="en-IN" sz="1700" kern="1200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048C309-4F3A-49B4-6AA1-4E9517847378}"/>
                </a:ext>
              </a:extLst>
            </p:cNvPr>
            <p:cNvSpPr/>
            <p:nvPr/>
          </p:nvSpPr>
          <p:spPr>
            <a:xfrm>
              <a:off x="8143438" y="1835706"/>
              <a:ext cx="3326691" cy="4264014"/>
            </a:xfrm>
            <a:custGeom>
              <a:avLst/>
              <a:gdLst>
                <a:gd name="csX0" fmla="*/ 0 w 3326691"/>
                <a:gd name="csY0" fmla="*/ 0 h 4264014"/>
                <a:gd name="csX1" fmla="*/ 3326691 w 3326691"/>
                <a:gd name="csY1" fmla="*/ 0 h 4264014"/>
                <a:gd name="csX2" fmla="*/ 3326691 w 3326691"/>
                <a:gd name="csY2" fmla="*/ 4264014 h 4264014"/>
                <a:gd name="csX3" fmla="*/ 0 w 3326691"/>
                <a:gd name="csY3" fmla="*/ 4264014 h 4264014"/>
                <a:gd name="csX4" fmla="*/ 0 w 3326691"/>
                <a:gd name="csY4" fmla="*/ 0 h 426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26691" h="4264014">
                  <a:moveTo>
                    <a:pt x="0" y="0"/>
                  </a:moveTo>
                  <a:lnTo>
                    <a:pt x="3326691" y="0"/>
                  </a:lnTo>
                  <a:lnTo>
                    <a:pt x="3326691" y="4264014"/>
                  </a:lnTo>
                  <a:lnTo>
                    <a:pt x="0" y="4264014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1">
                  <a:alpha val="90000"/>
                </a:schemeClr>
              </a:solidFill>
            </a:ln>
          </p:spPr>
          <p:style>
            <a:lnRef idx="2">
              <a:schemeClr val="accent2">
                <a:tint val="40000"/>
                <a:alpha val="90000"/>
                <a:hueOff val="6734718"/>
                <a:satOff val="-62232"/>
                <a:lumOff val="-7015"/>
                <a:alphaOff val="0"/>
              </a:schemeClr>
            </a:lnRef>
            <a:fillRef idx="1">
              <a:schemeClr val="accent2">
                <a:tint val="40000"/>
                <a:alpha val="90000"/>
                <a:hueOff val="6734718"/>
                <a:satOff val="-62232"/>
                <a:lumOff val="-7015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6734718"/>
                <a:satOff val="-62232"/>
                <a:lumOff val="-7015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0678" tIns="90678" rIns="120904" bIns="136017" numCol="1" spcCol="1270" anchor="t" anchorCtr="0">
              <a:noAutofit/>
            </a:bodyPr>
            <a:lstStyle/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b="1" kern="1200" dirty="0">
                  <a:solidFill>
                    <a:schemeClr val="tx1"/>
                  </a:solidFill>
                </a:rPr>
                <a:t>Multi-Account Strategy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171450" lvl="1" indent="-171450" algn="l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b="1" kern="1200" dirty="0">
                  <a:solidFill>
                    <a:schemeClr val="tx1"/>
                  </a:solidFill>
                </a:rPr>
                <a:t>Separate AWS Accounts for: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Production Account (strict controls)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Development Account (relaxed for experimentation)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Testing/Staging Account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Team-specific accounts (Engineering, Data Science, etc.)</a:t>
              </a:r>
              <a:endParaRPr lang="en-IN" sz="1400" kern="1200" dirty="0">
                <a:solidFill>
                  <a:schemeClr val="tx1"/>
                </a:solidFill>
              </a:endParaRPr>
            </a:p>
            <a:p>
              <a:pPr marL="628650" lvl="2" indent="-171450" defTabSz="75565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Security/Audit Account (centralized logging)</a:t>
              </a:r>
              <a:endParaRPr lang="en-IN" sz="1400" kern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519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27B8-A623-EE6B-75E0-6CA7DF381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157DEC-7681-F64B-23CA-8FF196193BEF}"/>
              </a:ext>
            </a:extLst>
          </p:cNvPr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Multi-Account Strategy - </a:t>
            </a:r>
            <a:r>
              <a:rPr lang="en-IN" sz="3600" b="1" dirty="0"/>
              <a:t>Key Benefits</a:t>
            </a:r>
            <a:endParaRPr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8C40C8E-D1B7-04CB-5537-3B305EB16C5D}"/>
              </a:ext>
            </a:extLst>
          </p:cNvPr>
          <p:cNvGrpSpPr/>
          <p:nvPr/>
        </p:nvGrpSpPr>
        <p:grpSpPr>
          <a:xfrm>
            <a:off x="696685" y="3918857"/>
            <a:ext cx="5116286" cy="2724513"/>
            <a:chOff x="818131" y="1077329"/>
            <a:chExt cx="4031275" cy="2520220"/>
          </a:xfrm>
          <a:solidFill>
            <a:schemeClr val="bg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D4AC2BA-80A7-E33B-0EE8-E9F515A11307}"/>
                </a:ext>
              </a:extLst>
            </p:cNvPr>
            <p:cNvSpPr/>
            <p:nvPr/>
          </p:nvSpPr>
          <p:spPr>
            <a:xfrm>
              <a:off x="818131" y="1480457"/>
              <a:ext cx="4031275" cy="2117092"/>
            </a:xfrm>
            <a:custGeom>
              <a:avLst/>
              <a:gdLst>
                <a:gd name="csX0" fmla="*/ 0 w 4031275"/>
                <a:gd name="csY0" fmla="*/ 0 h 2418765"/>
                <a:gd name="csX1" fmla="*/ 4031275 w 4031275"/>
                <a:gd name="csY1" fmla="*/ 0 h 2418765"/>
                <a:gd name="csX2" fmla="*/ 4031275 w 4031275"/>
                <a:gd name="csY2" fmla="*/ 2418765 h 2418765"/>
                <a:gd name="csX3" fmla="*/ 0 w 4031275"/>
                <a:gd name="csY3" fmla="*/ 2418765 h 2418765"/>
                <a:gd name="csX4" fmla="*/ 0 w 4031275"/>
                <a:gd name="csY4" fmla="*/ 0 h 2418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31275" h="2418765">
                  <a:moveTo>
                    <a:pt x="0" y="0"/>
                  </a:moveTo>
                  <a:lnTo>
                    <a:pt x="4031275" y="0"/>
                  </a:lnTo>
                  <a:lnTo>
                    <a:pt x="4031275" y="2418765"/>
                  </a:lnTo>
                  <a:lnTo>
                    <a:pt x="0" y="2418765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8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6">
                <a:shade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IN" sz="1400" dirty="0">
                  <a:solidFill>
                    <a:schemeClr val="tx1"/>
                  </a:solidFill>
                </a:rPr>
                <a:t>Same compliance rules across all the services and workloads</a:t>
              </a:r>
            </a:p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IN" sz="1400" dirty="0">
                  <a:solidFill>
                    <a:schemeClr val="tx1"/>
                  </a:solidFill>
                </a:rPr>
                <a:t>After (Multi-Account)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Production Account: Strict encryption enforced, MFA required for all access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Development Account: Relaxed controls for experimentation, Data not subject to compliance</a:t>
              </a:r>
            </a:p>
            <a:p>
              <a:pPr lvl="1" defTabSz="800100">
                <a:spcBef>
                  <a:spcPts val="600"/>
                </a:spcBef>
              </a:pPr>
              <a:endParaRPr lang="en-US" sz="1400" kern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545F0F0-8353-2046-7236-CCA20E493428}"/>
                </a:ext>
              </a:extLst>
            </p:cNvPr>
            <p:cNvSpPr/>
            <p:nvPr/>
          </p:nvSpPr>
          <p:spPr>
            <a:xfrm>
              <a:off x="818131" y="1077329"/>
              <a:ext cx="4031275" cy="435785"/>
            </a:xfrm>
            <a:prstGeom prst="rect">
              <a:avLst/>
            </a:prstGeom>
            <a:grpFill/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3. Compliance &amp; Auditing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E0D7578-E0DC-D9E4-066B-64BA1226F22B}"/>
              </a:ext>
            </a:extLst>
          </p:cNvPr>
          <p:cNvGrpSpPr/>
          <p:nvPr/>
        </p:nvGrpSpPr>
        <p:grpSpPr>
          <a:xfrm>
            <a:off x="696685" y="1120872"/>
            <a:ext cx="5116286" cy="2591156"/>
            <a:chOff x="818131" y="1077329"/>
            <a:chExt cx="4031275" cy="252022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F40797-3922-E2CF-32FC-999BECD567CB}"/>
                </a:ext>
              </a:extLst>
            </p:cNvPr>
            <p:cNvSpPr/>
            <p:nvPr/>
          </p:nvSpPr>
          <p:spPr>
            <a:xfrm>
              <a:off x="818131" y="1480457"/>
              <a:ext cx="4031275" cy="2117092"/>
            </a:xfrm>
            <a:custGeom>
              <a:avLst/>
              <a:gdLst>
                <a:gd name="csX0" fmla="*/ 0 w 4031275"/>
                <a:gd name="csY0" fmla="*/ 0 h 2418765"/>
                <a:gd name="csX1" fmla="*/ 4031275 w 4031275"/>
                <a:gd name="csY1" fmla="*/ 0 h 2418765"/>
                <a:gd name="csX2" fmla="*/ 4031275 w 4031275"/>
                <a:gd name="csY2" fmla="*/ 2418765 h 2418765"/>
                <a:gd name="csX3" fmla="*/ 0 w 4031275"/>
                <a:gd name="csY3" fmla="*/ 2418765 h 2418765"/>
                <a:gd name="csX4" fmla="*/ 0 w 4031275"/>
                <a:gd name="csY4" fmla="*/ 0 h 2418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31275" h="2418765">
                  <a:moveTo>
                    <a:pt x="0" y="0"/>
                  </a:moveTo>
                  <a:lnTo>
                    <a:pt x="4031275" y="0"/>
                  </a:lnTo>
                  <a:lnTo>
                    <a:pt x="4031275" y="2418765"/>
                  </a:lnTo>
                  <a:lnTo>
                    <a:pt x="0" y="24187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8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6">
                <a:shade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IN" sz="1400" kern="1200" dirty="0">
                  <a:solidFill>
                    <a:schemeClr val="tx1"/>
                  </a:solidFill>
                </a:rPr>
                <a:t>Single Account Compromised put everything at risk</a:t>
              </a:r>
            </a:p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IN" sz="1400" kern="1200" dirty="0">
                  <a:solidFill>
                    <a:schemeClr val="tx1"/>
                  </a:solidFill>
                </a:rPr>
                <a:t>After (Multi-Account)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IN" sz="1400" dirty="0">
                  <a:solidFill>
                    <a:schemeClr val="tx1"/>
                  </a:solidFill>
                </a:rPr>
                <a:t>If 1 Account is compromised, other accounts remain </a:t>
              </a:r>
              <a:r>
                <a:rPr lang="en-IN" sz="1400" kern="1200" dirty="0">
                  <a:solidFill>
                    <a:schemeClr val="tx1"/>
                  </a:solidFill>
                </a:rPr>
                <a:t>unaffected. E.g.: dev compromised even then test and prod does not have any effect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endParaRPr lang="en-IN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38F66EE-FC00-4141-1D92-86848D27674A}"/>
                </a:ext>
              </a:extLst>
            </p:cNvPr>
            <p:cNvSpPr/>
            <p:nvPr/>
          </p:nvSpPr>
          <p:spPr>
            <a:xfrm>
              <a:off x="818131" y="1077329"/>
              <a:ext cx="4031275" cy="4357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1. Security Isolation (Blast Radius Containment)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F3BF72-F0D1-8C89-5A86-18AB865F35E1}"/>
              </a:ext>
            </a:extLst>
          </p:cNvPr>
          <p:cNvGrpSpPr/>
          <p:nvPr/>
        </p:nvGrpSpPr>
        <p:grpSpPr>
          <a:xfrm>
            <a:off x="6226628" y="1120871"/>
            <a:ext cx="5246913" cy="2591157"/>
            <a:chOff x="818131" y="1077329"/>
            <a:chExt cx="4031275" cy="2520220"/>
          </a:xfrm>
          <a:solidFill>
            <a:schemeClr val="bg1"/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D643B90-9089-19C4-7A65-529FA075A5D3}"/>
                </a:ext>
              </a:extLst>
            </p:cNvPr>
            <p:cNvSpPr/>
            <p:nvPr/>
          </p:nvSpPr>
          <p:spPr>
            <a:xfrm>
              <a:off x="818131" y="1480457"/>
              <a:ext cx="4031275" cy="2117092"/>
            </a:xfrm>
            <a:custGeom>
              <a:avLst/>
              <a:gdLst>
                <a:gd name="csX0" fmla="*/ 0 w 4031275"/>
                <a:gd name="csY0" fmla="*/ 0 h 2418765"/>
                <a:gd name="csX1" fmla="*/ 4031275 w 4031275"/>
                <a:gd name="csY1" fmla="*/ 0 h 2418765"/>
                <a:gd name="csX2" fmla="*/ 4031275 w 4031275"/>
                <a:gd name="csY2" fmla="*/ 2418765 h 2418765"/>
                <a:gd name="csX3" fmla="*/ 0 w 4031275"/>
                <a:gd name="csY3" fmla="*/ 2418765 h 2418765"/>
                <a:gd name="csX4" fmla="*/ 0 w 4031275"/>
                <a:gd name="csY4" fmla="*/ 0 h 2418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31275" h="2418765">
                  <a:moveTo>
                    <a:pt x="0" y="0"/>
                  </a:moveTo>
                  <a:lnTo>
                    <a:pt x="4031275" y="0"/>
                  </a:lnTo>
                  <a:lnTo>
                    <a:pt x="4031275" y="2418765"/>
                  </a:lnTo>
                  <a:lnTo>
                    <a:pt x="0" y="2418765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8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6">
                <a:shade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tx1"/>
                  </a:solidFill>
                </a:rPr>
                <a:t>Single Account shows consolidated billing</a:t>
              </a:r>
              <a:endParaRPr lang="en-US" sz="1400" kern="1200" dirty="0">
                <a:solidFill>
                  <a:schemeClr val="tx1"/>
                </a:solidFill>
              </a:endParaRPr>
            </a:p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After (Multi-Account):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Engineering-Prod Account: $45,000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Data-Science Account: $30,000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Engineering-Dev Account: $15,000</a:t>
              </a:r>
            </a:p>
            <a:p>
              <a:pPr marL="28575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Clear ownership -&gt; Chargeback -&gt; Budget control 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C220FEC-51CD-4DD3-9CAD-0BA230D12B1F}"/>
                </a:ext>
              </a:extLst>
            </p:cNvPr>
            <p:cNvSpPr/>
            <p:nvPr/>
          </p:nvSpPr>
          <p:spPr>
            <a:xfrm>
              <a:off x="818131" y="1077329"/>
              <a:ext cx="4031275" cy="435785"/>
            </a:xfrm>
            <a:prstGeom prst="rect">
              <a:avLst/>
            </a:prstGeom>
            <a:grpFill/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2. Cost Visibility &amp; Accountability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23E326-D4A6-167D-7E55-00A6EBFB145A}"/>
              </a:ext>
            </a:extLst>
          </p:cNvPr>
          <p:cNvGrpSpPr/>
          <p:nvPr/>
        </p:nvGrpSpPr>
        <p:grpSpPr>
          <a:xfrm>
            <a:off x="6226628" y="3918856"/>
            <a:ext cx="5246913" cy="2724513"/>
            <a:chOff x="818131" y="1077329"/>
            <a:chExt cx="4031275" cy="2520220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08989B0-62D1-AB79-40C3-EE06EAC28303}"/>
                </a:ext>
              </a:extLst>
            </p:cNvPr>
            <p:cNvSpPr/>
            <p:nvPr/>
          </p:nvSpPr>
          <p:spPr>
            <a:xfrm>
              <a:off x="818131" y="1480457"/>
              <a:ext cx="4031275" cy="2117092"/>
            </a:xfrm>
            <a:custGeom>
              <a:avLst/>
              <a:gdLst>
                <a:gd name="csX0" fmla="*/ 0 w 4031275"/>
                <a:gd name="csY0" fmla="*/ 0 h 2418765"/>
                <a:gd name="csX1" fmla="*/ 4031275 w 4031275"/>
                <a:gd name="csY1" fmla="*/ 0 h 2418765"/>
                <a:gd name="csX2" fmla="*/ 4031275 w 4031275"/>
                <a:gd name="csY2" fmla="*/ 2418765 h 2418765"/>
                <a:gd name="csX3" fmla="*/ 0 w 4031275"/>
                <a:gd name="csY3" fmla="*/ 2418765 h 2418765"/>
                <a:gd name="csX4" fmla="*/ 0 w 4031275"/>
                <a:gd name="csY4" fmla="*/ 0 h 2418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31275" h="2418765">
                  <a:moveTo>
                    <a:pt x="0" y="0"/>
                  </a:moveTo>
                  <a:lnTo>
                    <a:pt x="4031275" y="0"/>
                  </a:lnTo>
                  <a:lnTo>
                    <a:pt x="4031275" y="2418765"/>
                  </a:lnTo>
                  <a:lnTo>
                    <a:pt x="0" y="2418765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8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6">
                <a:shade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1400" kern="1200" dirty="0">
                  <a:solidFill>
                    <a:schemeClr val="tx1"/>
                  </a:solidFill>
                </a:rPr>
                <a:t>Same Policies for all the services and workloads</a:t>
              </a:r>
            </a:p>
            <a:p>
              <a:pPr marL="285750" lvl="0" indent="-285750" defTabSz="800100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tx1"/>
                  </a:solidFill>
                </a:rPr>
                <a:t>After (Multi-Account)</a:t>
              </a:r>
              <a:endParaRPr lang="en-US" sz="1400" kern="1200" dirty="0">
                <a:solidFill>
                  <a:schemeClr val="tx1"/>
                </a:solidFill>
              </a:endParaRP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Production Account: Cannot disable CloudTrail, Cannot make S3 buckets public, Require MFA for all actions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Development Account: Experimentation allowed, Try new AWS services, Cost alerts (prevent runaway spending)</a:t>
              </a:r>
            </a:p>
            <a:p>
              <a:pPr marL="742950" lvl="1" indent="-285750" defTabSz="800100">
                <a:spcBef>
                  <a:spcPts val="600"/>
                </a:spcBef>
                <a:buFont typeface="Wingdings" panose="05000000000000000000" pitchFamily="2" charset="2"/>
                <a:buChar char="Ø"/>
              </a:pPr>
              <a:r>
                <a:rPr lang="en-US" sz="1400" kern="1200" dirty="0">
                  <a:solidFill>
                    <a:schemeClr val="tx1"/>
                  </a:solidFill>
                </a:rPr>
                <a:t>Sandbox Account: Total freedom to learn, Auto-delete resources after 7 days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0CB9F78-1C15-0B06-0402-6F14F1C61594}"/>
                </a:ext>
              </a:extLst>
            </p:cNvPr>
            <p:cNvSpPr/>
            <p:nvPr/>
          </p:nvSpPr>
          <p:spPr>
            <a:xfrm>
              <a:off x="818131" y="1077329"/>
              <a:ext cx="4031275" cy="435785"/>
            </a:xfrm>
            <a:prstGeom prst="rect">
              <a:avLst/>
            </a:prstGeom>
            <a:grpFill/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4. Different Policies for Different Environments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127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44594-5EBA-0C07-6641-A9E82DB7B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EDBDE-F89E-D3C5-0BBB-C8E4B0E3B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596" y="227767"/>
            <a:ext cx="10480004" cy="705394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solidFill>
                  <a:srgbClr val="232F3E"/>
                </a:solidFill>
              </a:rPr>
              <a:t>Real-World Statistics </a:t>
            </a:r>
            <a:endParaRPr lang="en-IN" sz="3600" b="1" dirty="0">
              <a:solidFill>
                <a:srgbClr val="232F3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B99CAC3-3BA2-0987-FB6B-87D09CDCF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95" y="1120896"/>
            <a:ext cx="8716519" cy="5356104"/>
          </a:xfrm>
        </p:spPr>
        <p:txBody>
          <a:bodyPr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400" b="1" dirty="0"/>
              <a:t>Typical number of account in different size of organizations: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Small enterprise: </a:t>
            </a:r>
            <a:r>
              <a:rPr lang="en-US" sz="1400" b="1" dirty="0"/>
              <a:t>10-50 accounts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Medium level enterprise: </a:t>
            </a:r>
            <a:r>
              <a:rPr lang="en-US" sz="1400" b="1" dirty="0"/>
              <a:t>50-200 accounts</a:t>
            </a:r>
            <a:endParaRPr lang="en-US" sz="14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Large / Global enterprises: </a:t>
            </a:r>
            <a:r>
              <a:rPr lang="en-US" sz="1400" b="1" dirty="0"/>
              <a:t>500-1000+ accounts</a:t>
            </a:r>
            <a:endParaRPr lang="en-US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400" dirty="0"/>
          </a:p>
          <a:p>
            <a:pPr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400" b="1" dirty="0"/>
              <a:t>Key Principle: Accounts are free, breaches are expensive.</a:t>
            </a:r>
            <a:endParaRPr lang="en-US" sz="14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No cost to create AWS accounts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Only pay for resources used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Isolation = security + compliance + clarity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400" dirty="0"/>
              <a:t>Best practice: </a:t>
            </a:r>
            <a:r>
              <a:rPr lang="en-US" sz="1400" b="1" dirty="0"/>
              <a:t>1 account per environment per team/application</a:t>
            </a:r>
            <a:endParaRPr lang="en-US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400" b="1" dirty="0"/>
              <a:t>Benefits Reported:</a:t>
            </a:r>
            <a:endParaRPr lang="en-US" sz="14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b="1" dirty="0"/>
              <a:t>60% reduction</a:t>
            </a:r>
            <a:r>
              <a:rPr lang="en-US" sz="1400" dirty="0"/>
              <a:t> in security incidents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b="1" dirty="0"/>
              <a:t>40% improvement</a:t>
            </a:r>
            <a:r>
              <a:rPr lang="en-US" sz="1400" dirty="0"/>
              <a:t> in cost visibility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b="1" dirty="0"/>
              <a:t>70% faster</a:t>
            </a:r>
            <a:r>
              <a:rPr lang="en-US" sz="1400" dirty="0"/>
              <a:t> environment provisioning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b="1" dirty="0"/>
              <a:t>90% easier</a:t>
            </a:r>
            <a:r>
              <a:rPr lang="en-US" sz="1400" dirty="0"/>
              <a:t> compliance audits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46238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1" y="274321"/>
            <a:ext cx="105591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Multi-Account Management - </a:t>
            </a:r>
            <a:r>
              <a:rPr sz="3600" dirty="0"/>
              <a:t>AWS Organizations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1" y="1021078"/>
            <a:ext cx="10798628" cy="5709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🏢 What is AWS Organizations?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 service that lets you </a:t>
            </a:r>
            <a:r>
              <a:rPr lang="en-US" sz="1400" b="1" dirty="0"/>
              <a:t>centrally manage multiple AWS accounts</a:t>
            </a:r>
            <a:r>
              <a:rPr lang="en-US" sz="1400" dirty="0"/>
              <a:t> under one unified structure.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AWS Organizations is created and managed from a designated </a:t>
            </a:r>
            <a:r>
              <a:rPr lang="en-US" sz="1400" b="1" dirty="0"/>
              <a:t>Management Account</a:t>
            </a:r>
            <a:r>
              <a:rPr lang="en-US" sz="1400" dirty="0"/>
              <a:t>. This account should only </a:t>
            </a:r>
            <a:r>
              <a:rPr lang="en-US" sz="1400" b="1" dirty="0"/>
              <a:t>handle billing and governance </a:t>
            </a:r>
            <a:r>
              <a:rPr lang="en-US" sz="1400" dirty="0"/>
              <a:t>and never run production workloads.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en-US" sz="1400" b="1" dirty="0"/>
              <a:t>AWS Organizations = Account Management + Billing Consolidation + Basic Policies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Key Benefits: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Consolidated Billing: </a:t>
            </a:r>
            <a:r>
              <a:rPr lang="en-US" sz="1400" dirty="0"/>
              <a:t>Single bill, shared discounts (Savings Plans, RI sharing)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Hierarchical Account Structure: 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/>
              <a:t>Organize accounts by business unit, environment, or function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/>
              <a:t>Organizational Units (OUs): Logical containers to group accounts and apply policies consistently</a:t>
            </a:r>
            <a:endParaRPr lang="en-US" sz="1400" b="1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Centralized Governance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/>
              <a:t>Apply </a:t>
            </a:r>
            <a:r>
              <a:rPr lang="en-US" sz="1400" b="1" dirty="0"/>
              <a:t>SCPs (Service Control Policies)</a:t>
            </a:r>
            <a:r>
              <a:rPr lang="en-US" sz="1400" dirty="0"/>
              <a:t> across accounts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/>
              <a:t>Enforce guardrails (no unapproved services, mandatory MFA, etc.)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Environment Separation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/>
              <a:t>Isolate </a:t>
            </a:r>
            <a:r>
              <a:rPr lang="en-US" sz="1400" b="1" dirty="0"/>
              <a:t>dev / staging / prod</a:t>
            </a:r>
            <a:r>
              <a:rPr lang="en-US" sz="1400" dirty="0"/>
              <a:t> to reduce blast radius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/>
              <a:t>Easier security, compliance, &amp; auditing per environment</a:t>
            </a:r>
          </a:p>
          <a:p>
            <a:pPr>
              <a:spcBef>
                <a:spcPts val="600"/>
              </a:spcBef>
            </a:pPr>
            <a:br>
              <a:rPr lang="en-US" sz="1400" dirty="0"/>
            </a:br>
            <a:r>
              <a:rPr lang="en-US" sz="1400" b="1" dirty="0"/>
              <a:t>Best Practice:</a:t>
            </a:r>
            <a:r>
              <a:rPr lang="en-US" sz="1400" dirty="0"/>
              <a:t> 1 account per environment per team/application- then manage them centrally using Organizations + OUs + SCPs.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5E570-737F-F905-7321-C628238AE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36AF0-854B-E868-D13A-2E26259F1AC5}"/>
              </a:ext>
            </a:extLst>
          </p:cNvPr>
          <p:cNvSpPr txBox="1"/>
          <p:nvPr/>
        </p:nvSpPr>
        <p:spPr>
          <a:xfrm>
            <a:off x="762001" y="274321"/>
            <a:ext cx="5385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3600" b="1" dirty="0"/>
              <a:t>Organizational Units (OUs)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5FC40-7E43-2DD5-915C-0B2AD0E9C90B}"/>
              </a:ext>
            </a:extLst>
          </p:cNvPr>
          <p:cNvSpPr txBox="1"/>
          <p:nvPr/>
        </p:nvSpPr>
        <p:spPr>
          <a:xfrm>
            <a:off x="762001" y="1097280"/>
            <a:ext cx="6106885" cy="497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🗂️ What Are Organizational Units?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A way to </a:t>
            </a:r>
            <a:r>
              <a:rPr lang="en-US" sz="1400" b="1" dirty="0"/>
              <a:t>group multiple AWS accounts</a:t>
            </a:r>
            <a:r>
              <a:rPr lang="en-US" sz="1400" dirty="0"/>
              <a:t> inside AWS Organizations to apply governance, structure, and consistent security controls.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Why Use OUs?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Apply policies at scale: </a:t>
            </a:r>
            <a:r>
              <a:rPr lang="en-US" sz="1400" dirty="0"/>
              <a:t>Attach </a:t>
            </a:r>
            <a:r>
              <a:rPr lang="en-US" sz="1400" b="1" dirty="0"/>
              <a:t>SCPs</a:t>
            </a:r>
            <a:r>
              <a:rPr lang="en-US" sz="1400" dirty="0"/>
              <a:t> to an OU -&gt; every account under it inherits the guardrails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Logical grouping: </a:t>
            </a:r>
            <a:r>
              <a:rPr lang="en-US" sz="1400" dirty="0"/>
              <a:t>Organize accounts by </a:t>
            </a:r>
            <a:r>
              <a:rPr lang="en-US" sz="1400" b="1" dirty="0"/>
              <a:t>environment, workload, business unit, or compliance level</a:t>
            </a:r>
            <a:endParaRPr lang="en-US" sz="1400" dirty="0"/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Best Practices for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Create </a:t>
            </a:r>
            <a:r>
              <a:rPr lang="en-US" sz="1400" b="1" dirty="0"/>
              <a:t>separate OUs per environment</a:t>
            </a:r>
            <a:r>
              <a:rPr lang="en-US" sz="1400" dirty="0"/>
              <a:t> (Prod, Dev, Sandbox)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Move </a:t>
            </a:r>
            <a:r>
              <a:rPr lang="en-US" sz="1400" b="1" dirty="0"/>
              <a:t>security accounts</a:t>
            </a:r>
            <a:r>
              <a:rPr lang="en-US" sz="1400" dirty="0"/>
              <a:t> (Logging, Audit, IAM Identity) into a dedicated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Move </a:t>
            </a:r>
            <a:r>
              <a:rPr lang="en-US" sz="1400" b="1" dirty="0"/>
              <a:t>shared services accounts</a:t>
            </a:r>
            <a:r>
              <a:rPr lang="en-US" sz="1400" dirty="0"/>
              <a:t> (Network, shared service and DevOps accounts) into a dedicated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Apply </a:t>
            </a:r>
            <a:r>
              <a:rPr lang="en-US" sz="1400" b="1" dirty="0"/>
              <a:t>strong SCPs</a:t>
            </a:r>
            <a:r>
              <a:rPr lang="en-US" sz="1400" dirty="0"/>
              <a:t> at the root –&gt; loosen as needed at lower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Keep the hierarchy </a:t>
            </a:r>
            <a:r>
              <a:rPr lang="en-US" sz="1400" b="1" dirty="0"/>
              <a:t>simple and predictable</a:t>
            </a:r>
            <a:r>
              <a:rPr lang="en-US" sz="1400" dirty="0"/>
              <a:t> (avoid over-nesting)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Use </a:t>
            </a:r>
            <a:r>
              <a:rPr lang="en-US" sz="1400" b="1" dirty="0"/>
              <a:t>naming conventions</a:t>
            </a:r>
            <a:r>
              <a:rPr lang="en-US" sz="1400" dirty="0"/>
              <a:t> for OUs and accounts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4BF33-87D1-271D-91A7-DB8C8098F54B}"/>
              </a:ext>
            </a:extLst>
          </p:cNvPr>
          <p:cNvSpPr txBox="1"/>
          <p:nvPr/>
        </p:nvSpPr>
        <p:spPr>
          <a:xfrm>
            <a:off x="7478485" y="543594"/>
            <a:ext cx="4060371" cy="5770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200" b="1" dirty="0"/>
              <a:t>OU Structure Example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Root Org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│── Production OU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│ ── prod-app-account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└── prod-data-account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── Development OU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│ ── dev-app-account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└── dev-test-account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── Security OU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 │ ── logging-account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 │ ── backup-account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 └── audit-account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── Infrastructure OU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 │ ── Network-account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 │ ── Shared-Service-account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       └── DevOps-account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└── Sandbox OU</a:t>
            </a:r>
          </a:p>
          <a:p>
            <a:pPr>
              <a:spcBef>
                <a:spcPts val="600"/>
              </a:spcBef>
            </a:pPr>
            <a:r>
              <a:rPr lang="en-US" sz="1200" dirty="0"/>
              <a:t>          └── experimental accounts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1686107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175" y="1097280"/>
            <a:ext cx="10654711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🛡️ What Are SCPs?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Permission guardrails</a:t>
            </a:r>
            <a:r>
              <a:rPr lang="en-US" sz="1400" dirty="0"/>
              <a:t> that set the </a:t>
            </a:r>
            <a:r>
              <a:rPr lang="en-US" sz="1400" i="1" dirty="0"/>
              <a:t>maximum allowed permissions</a:t>
            </a:r>
            <a:r>
              <a:rPr lang="en-US" sz="1400" dirty="0"/>
              <a:t> for AWS accounts within an Organization.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Key Characteristics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Do NOT grant permissions</a:t>
            </a:r>
            <a:r>
              <a:rPr lang="en-US" sz="1400" dirty="0"/>
              <a:t> - they only </a:t>
            </a:r>
            <a:r>
              <a:rPr lang="en-US" sz="1400" b="1" dirty="0"/>
              <a:t>limit</a:t>
            </a:r>
            <a:r>
              <a:rPr lang="en-US" sz="1400" dirty="0"/>
              <a:t> what IAM users/roles </a:t>
            </a:r>
            <a:r>
              <a:rPr lang="en-US" sz="1400" i="1" dirty="0"/>
              <a:t>could</a:t>
            </a:r>
            <a:r>
              <a:rPr lang="en-US" sz="1400" dirty="0"/>
              <a:t> be granted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Applied at the </a:t>
            </a:r>
            <a:r>
              <a:rPr lang="en-US" sz="1400" b="1" dirty="0"/>
              <a:t>Organization Root</a:t>
            </a:r>
            <a:r>
              <a:rPr lang="en-US" sz="1400" dirty="0"/>
              <a:t>, </a:t>
            </a:r>
            <a:r>
              <a:rPr lang="en-US" sz="1400" b="1" dirty="0"/>
              <a:t>OU</a:t>
            </a:r>
            <a:r>
              <a:rPr lang="en-US" sz="1400" dirty="0"/>
              <a:t>, or </a:t>
            </a:r>
            <a:r>
              <a:rPr lang="en-US" sz="1400" b="1" dirty="0"/>
              <a:t>individual accounts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Root user is also restricted</a:t>
            </a:r>
            <a:r>
              <a:rPr lang="en-US" sz="1400" dirty="0"/>
              <a:t> by SCPs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Enforced across all accounts under the targeted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Works together with IAM policies (IAM decides </a:t>
            </a:r>
            <a:r>
              <a:rPr lang="en-US" sz="1400" i="1" dirty="0"/>
              <a:t>who</a:t>
            </a:r>
            <a:r>
              <a:rPr lang="en-US" sz="1400" dirty="0"/>
              <a:t>, SCPs decide </a:t>
            </a:r>
            <a:r>
              <a:rPr lang="en-US" sz="1400" i="1" dirty="0"/>
              <a:t>what’s allowed at all</a:t>
            </a:r>
            <a:r>
              <a:rPr lang="en-US" sz="1400" dirty="0"/>
              <a:t>)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Common Use Cases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Region Restrictions: </a:t>
            </a:r>
            <a:r>
              <a:rPr lang="en-US" sz="1400" dirty="0"/>
              <a:t>Block use of non-approved AWS regions (e.g., only allow eu-west-1)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Security Enforcement: </a:t>
            </a:r>
            <a:r>
              <a:rPr lang="en-US" sz="1400" dirty="0"/>
              <a:t>Prevent disabling CloudTrail, </a:t>
            </a:r>
            <a:r>
              <a:rPr lang="en-US" sz="1400" dirty="0" err="1"/>
              <a:t>GuardDuty</a:t>
            </a:r>
            <a:r>
              <a:rPr lang="en-US" sz="1400" dirty="0"/>
              <a:t>, or Config, Require encryption for S3, EBS, RDS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Cost Control: </a:t>
            </a:r>
            <a:r>
              <a:rPr lang="en-US" sz="1400" dirty="0"/>
              <a:t>Restrict specific EC2 instance types, Prevent creation of expensive GPU instances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Best Practice: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Use SCPs as </a:t>
            </a:r>
            <a:r>
              <a:rPr lang="en-US" sz="1400" b="1" dirty="0"/>
              <a:t>organization-wide guardrails</a:t>
            </a:r>
            <a:r>
              <a:rPr lang="en-US" sz="1400" dirty="0"/>
              <a:t>, and IAM policies for </a:t>
            </a:r>
            <a:r>
              <a:rPr lang="en-US" sz="1400" b="1" dirty="0"/>
              <a:t>fine-grained permissions</a:t>
            </a:r>
            <a:r>
              <a:rPr lang="en-US" sz="1400" dirty="0"/>
              <a:t> within accounts.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FD131-D1D1-5E5D-E034-2ECF27EED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0486BC-8AF6-A339-6908-3A7041B1C5FA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  <a:r>
              <a:rPr lang="en-IN" sz="3600" dirty="0"/>
              <a:t> Example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A5310C-AD81-A6CD-731C-4EB6478BECB9}"/>
              </a:ext>
            </a:extLst>
          </p:cNvPr>
          <p:cNvSpPr txBox="1"/>
          <p:nvPr/>
        </p:nvSpPr>
        <p:spPr>
          <a:xfrm>
            <a:off x="653143" y="1021078"/>
            <a:ext cx="5268686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1️⃣ Prevents accounts from operating in any region </a:t>
            </a:r>
            <a:r>
              <a:rPr lang="en-US" sz="1600" i="1" dirty="0"/>
              <a:t>except</a:t>
            </a:r>
            <a:r>
              <a:rPr lang="en-US" sz="1600" dirty="0"/>
              <a:t> the ones explicitly allowed</a:t>
            </a:r>
            <a:r>
              <a:rPr lang="en-US" sz="1400" dirty="0"/>
              <a:t>.</a:t>
            </a:r>
          </a:p>
          <a:p>
            <a:endParaRPr lang="en-US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"*",</a:t>
            </a:r>
          </a:p>
          <a:p>
            <a:r>
              <a:rPr lang="en-IN" sz="1400" dirty="0"/>
              <a:t>      "Resource": "*",</a:t>
            </a:r>
          </a:p>
          <a:p>
            <a:r>
              <a:rPr lang="en-IN" sz="1400" dirty="0"/>
              <a:t>      "Condition": {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StringNotEquals</a:t>
            </a:r>
            <a:r>
              <a:rPr lang="en-IN" sz="1400" dirty="0"/>
              <a:t>": {</a:t>
            </a:r>
          </a:p>
          <a:p>
            <a:r>
              <a:rPr lang="en-IN" sz="1400" dirty="0"/>
              <a:t>          "</a:t>
            </a:r>
            <a:r>
              <a:rPr lang="en-IN" sz="1400" dirty="0" err="1"/>
              <a:t>aws:RequestedRegion</a:t>
            </a:r>
            <a:r>
              <a:rPr lang="en-IN" sz="1400" dirty="0"/>
              <a:t>": [</a:t>
            </a:r>
          </a:p>
          <a:p>
            <a:r>
              <a:rPr lang="en-IN" sz="1400" dirty="0"/>
              <a:t>            "us-east-1",</a:t>
            </a:r>
          </a:p>
          <a:p>
            <a:r>
              <a:rPr lang="en-IN" sz="1400" dirty="0"/>
              <a:t>            "eu-west-1"</a:t>
            </a:r>
          </a:p>
          <a:p>
            <a:r>
              <a:rPr lang="en-IN" sz="1400" dirty="0"/>
              <a:t>          ]</a:t>
            </a:r>
          </a:p>
          <a:p>
            <a:r>
              <a:rPr lang="en-IN" sz="1400" dirty="0"/>
              <a:t>        }</a:t>
            </a:r>
          </a:p>
          <a:p>
            <a:r>
              <a:rPr lang="en-IN" sz="1400" dirty="0"/>
              <a:t>      }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sz="1400" dirty="0"/>
          </a:p>
          <a:p>
            <a:r>
              <a:rPr lang="en-US" sz="1400" b="1" dirty="0"/>
              <a:t>Use Case: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Enforce compliance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Avoid accidental deployments in costly or unsupported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 latency control</a:t>
            </a:r>
            <a:endParaRPr lang="en-IN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043D-54F0-A5FD-0537-B7F1493F2F1C}"/>
              </a:ext>
            </a:extLst>
          </p:cNvPr>
          <p:cNvSpPr txBox="1"/>
          <p:nvPr/>
        </p:nvSpPr>
        <p:spPr>
          <a:xfrm>
            <a:off x="6923314" y="1049102"/>
            <a:ext cx="496388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2️⃣ </a:t>
            </a:r>
            <a:r>
              <a:rPr lang="en-US" sz="1600" dirty="0"/>
              <a:t>Ensures CloudTrail logging can </a:t>
            </a:r>
            <a:r>
              <a:rPr lang="en-US" sz="1600" b="1" dirty="0"/>
              <a:t>never</a:t>
            </a:r>
            <a:r>
              <a:rPr lang="en-US" sz="1600" dirty="0"/>
              <a:t> be turned off</a:t>
            </a:r>
            <a:endParaRPr lang="en-IN" sz="1600" dirty="0"/>
          </a:p>
          <a:p>
            <a:endParaRPr lang="en-IN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[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cloudtrail:StopLogging</a:t>
            </a:r>
            <a:r>
              <a:rPr lang="en-IN" sz="1400" dirty="0"/>
              <a:t>",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cloudtrail:DeleteTrail</a:t>
            </a:r>
            <a:r>
              <a:rPr lang="en-IN" sz="1400" dirty="0"/>
              <a:t>"</a:t>
            </a:r>
          </a:p>
          <a:p>
            <a:r>
              <a:rPr lang="en-IN" sz="1400" dirty="0"/>
              <a:t>      ],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dirty="0"/>
          </a:p>
          <a:p>
            <a:r>
              <a:rPr lang="en-US" sz="1400" b="1" dirty="0"/>
              <a:t>Use Case: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Mandatory audit 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Compliance frameworks (SOC 2, ISO 27001, PCI-DSS)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 insider threats or accidental disablement</a:t>
            </a:r>
            <a:br>
              <a:rPr lang="en-IN" sz="1400" b="1" dirty="0"/>
            </a:br>
            <a:endParaRPr lang="en-IN" sz="1400" b="1" dirty="0"/>
          </a:p>
        </p:txBody>
      </p:sp>
    </p:spTree>
    <p:extLst>
      <p:ext uri="{BB962C8B-B14F-4D97-AF65-F5344CB8AC3E}">
        <p14:creationId xmlns:p14="http://schemas.microsoft.com/office/powerpoint/2010/main" val="4053956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7D348-B5EC-B4FB-2962-7EDDE265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914D60-078C-0931-5AD4-73AC0E00C595}"/>
              </a:ext>
            </a:extLst>
          </p:cNvPr>
          <p:cNvSpPr txBox="1"/>
          <p:nvPr/>
        </p:nvSpPr>
        <p:spPr>
          <a:xfrm>
            <a:off x="786175" y="274321"/>
            <a:ext cx="108397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  <a:r>
              <a:rPr lang="en-IN" sz="3600" dirty="0"/>
              <a:t> – Additional Examples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D2BAC7-5F89-4600-3812-9DD208C01730}"/>
              </a:ext>
            </a:extLst>
          </p:cNvPr>
          <p:cNvSpPr txBox="1"/>
          <p:nvPr/>
        </p:nvSpPr>
        <p:spPr>
          <a:xfrm>
            <a:off x="664028" y="920652"/>
            <a:ext cx="10526486" cy="587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400" b="1" dirty="0"/>
              <a:t>3. Require MFA for Destructive Actions</a:t>
            </a:r>
            <a:br>
              <a:rPr lang="en-IN" sz="1400" dirty="0"/>
            </a:br>
            <a:r>
              <a:rPr lang="en-IN" sz="1400" dirty="0"/>
              <a:t>-&gt; Deny ec2:TerminateInstances, </a:t>
            </a:r>
            <a:r>
              <a:rPr lang="en-IN" sz="1400" dirty="0" err="1"/>
              <a:t>rds:DeleteDBInstance</a:t>
            </a:r>
            <a:r>
              <a:rPr lang="en-IN" sz="1400" dirty="0"/>
              <a:t>, s3:DeleteBucket</a:t>
            </a:r>
            <a:br>
              <a:rPr lang="en-IN" sz="1400" dirty="0"/>
            </a:br>
            <a:r>
              <a:rPr lang="en-IN" sz="1400" dirty="0"/>
              <a:t>-&gt; unless MFA is present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4. Prevent Public S3 Buckets</a:t>
            </a:r>
            <a:br>
              <a:rPr lang="en-IN" sz="1400" dirty="0"/>
            </a:br>
            <a:r>
              <a:rPr lang="en-IN" sz="1400" dirty="0"/>
              <a:t>Deny s3:PutBucketPolicy if bucket becomes public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5. Require EBS Encryption</a:t>
            </a:r>
            <a:br>
              <a:rPr lang="en-IN" sz="1400" dirty="0"/>
            </a:br>
            <a:r>
              <a:rPr lang="en-IN" sz="1400" dirty="0"/>
              <a:t>Deny ec2:CreateVolume if encryption is false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6. Restrict EC2 Instance Types (Cost Control)</a:t>
            </a:r>
            <a:br>
              <a:rPr lang="en-IN" sz="1400" dirty="0"/>
            </a:br>
            <a:r>
              <a:rPr lang="en-IN" sz="1400" dirty="0"/>
              <a:t>Deny ec2:RunInstances except t3.*, t4.*, m5.* instance types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7. Prevent Root User Access</a:t>
            </a:r>
            <a:br>
              <a:rPr lang="en-IN" sz="1400" dirty="0"/>
            </a:br>
            <a:r>
              <a:rPr lang="en-IN" sz="1400" dirty="0"/>
              <a:t>Deny all actions when principal is root user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8. Enforce Resource Tagging</a:t>
            </a:r>
            <a:br>
              <a:rPr lang="en-IN" sz="1400" b="1" dirty="0"/>
            </a:br>
            <a:r>
              <a:rPr lang="en-IN" sz="1400" dirty="0"/>
              <a:t>Deny resource creation without required tags (Environment, </a:t>
            </a:r>
            <a:r>
              <a:rPr lang="en-IN" sz="1400" dirty="0" err="1"/>
              <a:t>CostCenter</a:t>
            </a:r>
            <a:r>
              <a:rPr lang="en-IN" sz="1400" dirty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82599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AF3D8-6179-8FBD-3C64-B48ECB57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3916DC-C840-3D62-E71F-9F7CF182A6FC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Resource</a:t>
            </a:r>
            <a:r>
              <a:rPr sz="3600" dirty="0"/>
              <a:t> Control Policies (</a:t>
            </a:r>
            <a:r>
              <a:rPr lang="en-IN" sz="3600" dirty="0"/>
              <a:t>R</a:t>
            </a:r>
            <a:r>
              <a:rPr sz="3600" dirty="0"/>
              <a:t>CPs)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760C8A-2827-681C-0F23-489C55890B89}"/>
              </a:ext>
            </a:extLst>
          </p:cNvPr>
          <p:cNvSpPr txBox="1"/>
          <p:nvPr/>
        </p:nvSpPr>
        <p:spPr>
          <a:xfrm>
            <a:off x="786175" y="1086394"/>
            <a:ext cx="10654711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🛡️ What Are RCPs?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Resource Control Policies (RCPs) </a:t>
            </a:r>
            <a:r>
              <a:rPr lang="en-US" sz="1400" dirty="0"/>
              <a:t>are a newer type of policy in AWS Organizations that control </a:t>
            </a:r>
            <a:r>
              <a:rPr lang="en-US" sz="1400" b="1" dirty="0"/>
              <a:t>what resources can be shared</a:t>
            </a:r>
            <a:r>
              <a:rPr lang="en-US" sz="1400" dirty="0"/>
              <a:t> with or accessed by principals </a:t>
            </a:r>
            <a:r>
              <a:rPr lang="en-US" sz="1400" b="1" dirty="0"/>
              <a:t>outside your organization</a:t>
            </a:r>
            <a:r>
              <a:rPr lang="en-US" sz="1400" dirty="0"/>
              <a:t>.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Key Difference from SCPs: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SCPs: </a:t>
            </a:r>
            <a:r>
              <a:rPr lang="en-US" sz="1400" dirty="0"/>
              <a:t>Control what actions identities </a:t>
            </a:r>
            <a:r>
              <a:rPr lang="en-US" sz="1400" b="1" dirty="0"/>
              <a:t>inside</a:t>
            </a:r>
            <a:r>
              <a:rPr lang="en-US" sz="1400" dirty="0"/>
              <a:t> your accounts can perform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RCPs: </a:t>
            </a:r>
            <a:r>
              <a:rPr lang="en-US" sz="1400" dirty="0"/>
              <a:t>Control what resources can be accessed by identities </a:t>
            </a:r>
            <a:r>
              <a:rPr lang="en-US" sz="1400" b="1" dirty="0"/>
              <a:t>outside</a:t>
            </a:r>
            <a:r>
              <a:rPr lang="en-US" sz="1400" dirty="0"/>
              <a:t> your organization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When to Use RCPs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Use Case 1: </a:t>
            </a:r>
            <a:r>
              <a:rPr lang="en-US" sz="1400" dirty="0"/>
              <a:t>Prevent Data Exfiltration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Block sharing of sensitive resources with external AWS accounts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Use Case 2: </a:t>
            </a:r>
            <a:r>
              <a:rPr lang="en-US" sz="1400" dirty="0"/>
              <a:t>Third-Party Access Control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Restrict which external AWS accounts can access your resources</a:t>
            </a:r>
          </a:p>
        </p:txBody>
      </p:sp>
    </p:spTree>
    <p:extLst>
      <p:ext uri="{BB962C8B-B14F-4D97-AF65-F5344CB8AC3E}">
        <p14:creationId xmlns:p14="http://schemas.microsoft.com/office/powerpoint/2010/main" val="97639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A17A1-3931-BDC5-B61A-19A3CFC9F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151E02-C94A-1DE5-9922-54476E3517C6}"/>
              </a:ext>
            </a:extLst>
          </p:cNvPr>
          <p:cNvSpPr txBox="1"/>
          <p:nvPr/>
        </p:nvSpPr>
        <p:spPr>
          <a:xfrm>
            <a:off x="786175" y="274321"/>
            <a:ext cx="107526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Resource</a:t>
            </a:r>
            <a:r>
              <a:rPr sz="3600" dirty="0"/>
              <a:t> Control Policies (</a:t>
            </a:r>
            <a:r>
              <a:rPr lang="en-IN" sz="3600" dirty="0"/>
              <a:t>R</a:t>
            </a:r>
            <a:r>
              <a:rPr sz="3600" dirty="0"/>
              <a:t>CPs)</a:t>
            </a:r>
            <a:r>
              <a:rPr lang="en-IN" sz="3600" dirty="0"/>
              <a:t> Example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F0BB18-E3A2-6B50-E259-7430C4218EE2}"/>
              </a:ext>
            </a:extLst>
          </p:cNvPr>
          <p:cNvSpPr txBox="1"/>
          <p:nvPr/>
        </p:nvSpPr>
        <p:spPr>
          <a:xfrm>
            <a:off x="653143" y="1021078"/>
            <a:ext cx="5268686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1️⃣ Prevent Sharing Resources Outside Organization</a:t>
            </a:r>
            <a:endParaRPr lang="en-US" sz="1400" dirty="0"/>
          </a:p>
          <a:p>
            <a:endParaRPr lang="en-US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"Principal": "*",</a:t>
            </a:r>
          </a:p>
          <a:p>
            <a:r>
              <a:rPr lang="en-IN" sz="1400" dirty="0"/>
              <a:t>      "Action": "*",</a:t>
            </a:r>
          </a:p>
          <a:p>
            <a:r>
              <a:rPr lang="en-IN" sz="1400" dirty="0"/>
              <a:t>      "Resource": "*",</a:t>
            </a:r>
          </a:p>
          <a:p>
            <a:r>
              <a:rPr lang="en-IN" sz="1400" dirty="0"/>
              <a:t>      "Condition": {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StringNotEquals</a:t>
            </a:r>
            <a:r>
              <a:rPr lang="en-IN" sz="1400" dirty="0"/>
              <a:t>": {</a:t>
            </a:r>
          </a:p>
          <a:p>
            <a:r>
              <a:rPr lang="en-IN" sz="1400" dirty="0"/>
              <a:t>          "</a:t>
            </a:r>
            <a:r>
              <a:rPr lang="en-IN" sz="1400" dirty="0" err="1"/>
              <a:t>aws:PrincipalOrgID</a:t>
            </a:r>
            <a:r>
              <a:rPr lang="en-IN" sz="1400" dirty="0"/>
              <a:t>": "o-</a:t>
            </a:r>
            <a:r>
              <a:rPr lang="en-IN" sz="1400" dirty="0" err="1"/>
              <a:t>xxxxxxxxxxxx</a:t>
            </a:r>
            <a:r>
              <a:rPr lang="en-IN" sz="1400" dirty="0"/>
              <a:t>"</a:t>
            </a:r>
          </a:p>
          <a:p>
            <a:r>
              <a:rPr lang="en-IN" sz="1400" dirty="0"/>
              <a:t>        }</a:t>
            </a:r>
          </a:p>
          <a:p>
            <a:r>
              <a:rPr lang="en-IN" sz="1400" dirty="0"/>
              <a:t>      }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sz="1400" dirty="0"/>
          </a:p>
          <a:p>
            <a:r>
              <a:rPr lang="en-US" sz="1400" b="1" dirty="0"/>
              <a:t>Use Case: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 accidental or malicious sharing of resources with external accounts</a:t>
            </a:r>
            <a:endParaRPr lang="en-IN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BC1061-3B28-6978-DEBA-11323C621AEA}"/>
              </a:ext>
            </a:extLst>
          </p:cNvPr>
          <p:cNvSpPr txBox="1"/>
          <p:nvPr/>
        </p:nvSpPr>
        <p:spPr>
          <a:xfrm>
            <a:off x="6542313" y="953310"/>
            <a:ext cx="5344889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2️⃣ </a:t>
            </a:r>
            <a:r>
              <a:rPr lang="en-US" sz="1600" dirty="0"/>
              <a:t>Prevent S3 Bucket Sharing</a:t>
            </a:r>
          </a:p>
          <a:p>
            <a:endParaRPr lang="en-IN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"Principal": "*",</a:t>
            </a:r>
          </a:p>
          <a:p>
            <a:r>
              <a:rPr lang="en-IN" sz="1400" dirty="0"/>
              <a:t>      "Action": [</a:t>
            </a:r>
          </a:p>
          <a:p>
            <a:r>
              <a:rPr lang="en-IN" sz="1400" dirty="0"/>
              <a:t>        "s3:PutBucketPolicy",</a:t>
            </a:r>
          </a:p>
          <a:p>
            <a:r>
              <a:rPr lang="en-IN" sz="1400" dirty="0"/>
              <a:t>        "s3:PutBucketAcl"</a:t>
            </a:r>
          </a:p>
          <a:p>
            <a:r>
              <a:rPr lang="en-IN" sz="1400" dirty="0"/>
              <a:t>      ],</a:t>
            </a:r>
          </a:p>
          <a:p>
            <a:r>
              <a:rPr lang="en-IN" sz="1400" dirty="0"/>
              <a:t>      "Resource": "arn:aws:s3:::*",</a:t>
            </a:r>
          </a:p>
          <a:p>
            <a:r>
              <a:rPr lang="en-IN" sz="1400" dirty="0"/>
              <a:t>      "Condition": {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StringNotEquals</a:t>
            </a:r>
            <a:r>
              <a:rPr lang="en-IN" sz="1400" dirty="0"/>
              <a:t>": {</a:t>
            </a:r>
          </a:p>
          <a:p>
            <a:r>
              <a:rPr lang="en-IN" sz="1400" dirty="0"/>
              <a:t>          "</a:t>
            </a:r>
            <a:r>
              <a:rPr lang="en-IN" sz="1400" dirty="0" err="1"/>
              <a:t>aws:PrincipalOrgID</a:t>
            </a:r>
            <a:r>
              <a:rPr lang="en-IN" sz="1400" dirty="0"/>
              <a:t>": "o-</a:t>
            </a:r>
            <a:r>
              <a:rPr lang="en-IN" sz="1400" dirty="0" err="1"/>
              <a:t>xxxxxxxxxxxx</a:t>
            </a:r>
            <a:r>
              <a:rPr lang="en-IN" sz="1400" dirty="0"/>
              <a:t>"</a:t>
            </a:r>
          </a:p>
          <a:p>
            <a:r>
              <a:rPr lang="en-IN" sz="1400" dirty="0"/>
              <a:t>        }</a:t>
            </a:r>
          </a:p>
          <a:p>
            <a:r>
              <a:rPr lang="en-IN" sz="1400" dirty="0"/>
              <a:t>      }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dirty="0"/>
          </a:p>
          <a:p>
            <a:r>
              <a:rPr lang="en-US" sz="1400" b="1" dirty="0"/>
              <a:t>Use Case: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 S3 buckets from being shared outside organization</a:t>
            </a:r>
            <a:br>
              <a:rPr lang="en-IN" sz="1400" b="1" dirty="0"/>
            </a:br>
            <a:endParaRPr lang="en-IN" sz="1400" b="1" dirty="0"/>
          </a:p>
        </p:txBody>
      </p:sp>
    </p:spTree>
    <p:extLst>
      <p:ext uri="{BB962C8B-B14F-4D97-AF65-F5344CB8AC3E}">
        <p14:creationId xmlns:p14="http://schemas.microsoft.com/office/powerpoint/2010/main" val="4033531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1B221-CCD5-A998-3A75-B0E202F9C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143EE1-E581-EA09-34FC-0334C673B30C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Introducing AWS Control Tower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A44239-CCC3-8C5A-FC38-DB94FEF67FA5}"/>
              </a:ext>
            </a:extLst>
          </p:cNvPr>
          <p:cNvSpPr txBox="1"/>
          <p:nvPr/>
        </p:nvSpPr>
        <p:spPr>
          <a:xfrm>
            <a:off x="786175" y="1559257"/>
            <a:ext cx="4493396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/>
              <a:t>🎯 We've learned so far:</a:t>
            </a:r>
            <a:endParaRPr lang="en-US" sz="1400" dirty="0"/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Multi-account strategy is essential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AWS Organizations manages accounts centrally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OUs group accounts logically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SCPs enforce guardrails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/>
              <a:t>But here's the problem:</a:t>
            </a:r>
            <a:r>
              <a:rPr lang="en-US" sz="1400" dirty="0"/>
              <a:t> Setting all this up manually is complex and time-consuming.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You need to: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Create accounts one by one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Configure OUs and SCPs manually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Set up logging, security, and compliance from scratch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Ensure consistency across all accounts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76A776-6440-D0D1-EDFB-16C50C17CD73}"/>
              </a:ext>
            </a:extLst>
          </p:cNvPr>
          <p:cNvSpPr txBox="1"/>
          <p:nvPr/>
        </p:nvSpPr>
        <p:spPr>
          <a:xfrm>
            <a:off x="6096000" y="1561857"/>
            <a:ext cx="5682342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b="1" dirty="0"/>
              <a:t>💡 Enter AWS Control Tower</a:t>
            </a:r>
            <a:r>
              <a:rPr lang="en-US" sz="1400" dirty="0"/>
              <a:t>: A service that simplifies setting up and governing a secure, compliant, multi-account AWS environment, also known as a “landing zone” based on best practices.</a:t>
            </a:r>
          </a:p>
          <a:p>
            <a:pPr>
              <a:spcBef>
                <a:spcPts val="600"/>
              </a:spcBef>
              <a:spcAft>
                <a:spcPts val="600"/>
              </a:spcAft>
              <a:buNone/>
            </a:pP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/>
              <a:t>AWS Control Tower = </a:t>
            </a: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AWS Organizations </a:t>
            </a:r>
            <a:r>
              <a:rPr lang="en-IN" sz="1400" dirty="0"/>
              <a:t>- Multi-account structure</a:t>
            </a:r>
            <a:endParaRPr lang="en-US" sz="1400" b="1" dirty="0"/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Automated Account Setup </a:t>
            </a:r>
            <a:r>
              <a:rPr lang="en-IN" sz="1400" dirty="0"/>
              <a:t>- Account Factory</a:t>
            </a: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Pre-built Guardrails </a:t>
            </a:r>
            <a:r>
              <a:rPr lang="en-IN" sz="1400" dirty="0"/>
              <a:t>- 1,218+ controls</a:t>
            </a:r>
            <a:endParaRPr lang="en-US" sz="1400" b="1" dirty="0"/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Compliance Dashboard </a:t>
            </a:r>
            <a:r>
              <a:rPr lang="en-IN" sz="1400" dirty="0"/>
              <a:t>- Security score &amp; reporting</a:t>
            </a:r>
            <a:endParaRPr lang="en-US" sz="1400" b="1" dirty="0"/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Centralized Logging - </a:t>
            </a:r>
            <a:r>
              <a:rPr lang="en-IN" sz="1400" dirty="0"/>
              <a:t>Automated log aggregation</a:t>
            </a: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AWS IAM Identity Center</a:t>
            </a:r>
            <a:r>
              <a:rPr lang="en-US" sz="1400" dirty="0"/>
              <a:t> - Centralized access management</a:t>
            </a:r>
            <a:endParaRPr lang="en-IN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014869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A182-D88B-AF56-5D22-BC9844310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FE2BE4-3107-B486-A283-3FE3FCD44063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How AWS Control Tower Works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DE3A1A-C50B-3FFE-2C46-A694D63AA7A4}"/>
              </a:ext>
            </a:extLst>
          </p:cNvPr>
          <p:cNvSpPr txBox="1"/>
          <p:nvPr/>
        </p:nvSpPr>
        <p:spPr>
          <a:xfrm>
            <a:off x="786176" y="1097280"/>
            <a:ext cx="5636396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What is a Landing Zone?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A landing zone is a well-architected, multi-account AWS environment based on security and compliance best practices. It’s your enterprise-wide container that holds all organizational units (OUs), accounts, and resources subject to governance.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Two Ways to Set Up Control Tower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Option 1: Launch in Existing Organization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You already have AWS Organizations set up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Control Tower adds governance to your existing structure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Uses your current Management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Creates 2 new foundational accounts (Log Archive, Audit)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Your existing OUs and accounts remain unchanged (until registered)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Option 2: Launch in New Organization (Greenfield)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Starting fresh without existing AWS Organizations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Control Tower creates everything from scratch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Sets up Management Account, foundational accounts,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Ideal for new AWS environments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75A8C1-C7E2-BC53-9609-A57A331EC7EF}"/>
              </a:ext>
            </a:extLst>
          </p:cNvPr>
          <p:cNvSpPr txBox="1"/>
          <p:nvPr/>
        </p:nvSpPr>
        <p:spPr>
          <a:xfrm>
            <a:off x="6977742" y="1001486"/>
            <a:ext cx="4898571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Critical Setup Considerations</a:t>
            </a: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Home Region Selection: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Choose your primary AWS region during setup (e.g., us-east-1, eu-west-1)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This region becomes your Control Tower “home region”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CANNOT be changed later without completely decommissioning Control Tower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Choose carefully based on compliance, latency, and organizational needs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dirty="0"/>
              <a:t>Email Requirements: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Need 2 unique email addresses for foundational accounts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Must be collaborative inboxes (shared team emails, not personal)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Pro Tip: Use email aliases (e.g., aws-team+logarchive@company.com)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dirty="0"/>
              <a:t>Time to Deploy: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30-60 minutes for full automated setup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manual intervention required during deployment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88810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EB56C-992D-9B43-2F2A-F81011B6F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D5BFD6-6C38-48A0-DE45-D74BCDAC39E7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Foundational Accounts &amp; Security OU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1441FE-911B-CB10-5A53-7A6EA36DCD39}"/>
              </a:ext>
            </a:extLst>
          </p:cNvPr>
          <p:cNvSpPr txBox="1"/>
          <p:nvPr/>
        </p:nvSpPr>
        <p:spPr>
          <a:xfrm>
            <a:off x="786175" y="1574894"/>
            <a:ext cx="6148024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1.) Log Archive Account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Purpose: </a:t>
            </a:r>
            <a:r>
              <a:rPr lang="en-US" sz="1400" dirty="0"/>
              <a:t>Centralized, read-only repository for all organizational logs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What it stores: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CloudTrail logs (all API activity across every account)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AWS Config logs (resource configuration history)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VPC Flow Logs, S3 access logs, and more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Why it matters: </a:t>
            </a:r>
            <a:r>
              <a:rPr lang="en-US" sz="1400" dirty="0"/>
              <a:t>Required for compliance audits and security analysis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2.) Audit Account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Purpose: </a:t>
            </a:r>
            <a:r>
              <a:rPr lang="en-US" sz="1400" dirty="0"/>
              <a:t>Security and compliance monitoring hub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What can run here: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AWS Config aggregator (cross-account compliance view)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AWS Security Hub (centralized security findings)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AWS </a:t>
            </a:r>
            <a:r>
              <a:rPr lang="en-US" sz="1400" dirty="0" err="1"/>
              <a:t>GuardDuty</a:t>
            </a:r>
            <a:r>
              <a:rPr lang="en-US" sz="1400" dirty="0"/>
              <a:t> (threat detection)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Who uses it: </a:t>
            </a:r>
            <a:r>
              <a:rPr lang="en-US" sz="1400" dirty="0"/>
              <a:t>Security teams, compliance officers, auditors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Important: These accounts are permanent for the life of your landing zone.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F3944-A377-4653-6701-3FAB298BB8DE}"/>
              </a:ext>
            </a:extLst>
          </p:cNvPr>
          <p:cNvSpPr txBox="1"/>
          <p:nvPr/>
        </p:nvSpPr>
        <p:spPr>
          <a:xfrm>
            <a:off x="7369629" y="1589316"/>
            <a:ext cx="4539342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3.) Security OU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Purpose: </a:t>
            </a:r>
            <a:r>
              <a:rPr lang="en-US" sz="1400" dirty="0"/>
              <a:t>Control Tower creates a dedicated Security OU to house these accounts.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Security OU Structure: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Root Organization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└── Security OU (Control Tower managed)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   |── Log Archive 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   └── Audit Account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Controls Applied: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Prevent CloudTrail from being stopped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Prevent AWS Config from being disabled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Prevent deletion of log data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Restrict modifications to security resources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DE2FBB-4904-7ABE-F48B-663EFF2991A0}"/>
              </a:ext>
            </a:extLst>
          </p:cNvPr>
          <p:cNvSpPr txBox="1"/>
          <p:nvPr/>
        </p:nvSpPr>
        <p:spPr>
          <a:xfrm>
            <a:off x="827314" y="942424"/>
            <a:ext cx="91113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When you enable Control Tower, it automatically creates two critical accounts and an OU:</a:t>
            </a:r>
          </a:p>
        </p:txBody>
      </p:sp>
    </p:spTree>
    <p:extLst>
      <p:ext uri="{BB962C8B-B14F-4D97-AF65-F5344CB8AC3E}">
        <p14:creationId xmlns:p14="http://schemas.microsoft.com/office/powerpoint/2010/main" val="3840617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205C6-E3E8-B822-343D-9B3ED26D7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D57A3E-6D70-F79D-B48F-98B743026471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Recommended OU Structure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EEE36A-46C3-A6CA-6549-5C854546F4EE}"/>
              </a:ext>
            </a:extLst>
          </p:cNvPr>
          <p:cNvSpPr txBox="1"/>
          <p:nvPr/>
        </p:nvSpPr>
        <p:spPr>
          <a:xfrm>
            <a:off x="786175" y="1097280"/>
            <a:ext cx="4765539" cy="561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What You Should Create After Control Tower Setup</a:t>
            </a:r>
          </a:p>
          <a:p>
            <a:endParaRPr lang="en-US" sz="1400" b="1" dirty="0"/>
          </a:p>
          <a:p>
            <a:r>
              <a:rPr lang="en-US" sz="1400" dirty="0"/>
              <a:t>AWS recommends creating at least one Additional OU beyond the Security OU for your workloads.</a:t>
            </a:r>
          </a:p>
          <a:p>
            <a:endParaRPr lang="en-US" sz="1400" b="1" dirty="0"/>
          </a:p>
          <a:p>
            <a:r>
              <a:rPr lang="en-US" sz="1400" b="1" dirty="0"/>
              <a:t>Recommended Landing Zone Structure:</a:t>
            </a:r>
          </a:p>
          <a:p>
            <a:endParaRPr lang="en-US" sz="1200" dirty="0"/>
          </a:p>
          <a:p>
            <a:r>
              <a:rPr lang="en-US" sz="1050" dirty="0"/>
              <a:t>Root Organization (Management Account)</a:t>
            </a:r>
          </a:p>
          <a:p>
            <a:r>
              <a:rPr lang="en-US" sz="1050" dirty="0"/>
              <a:t> │</a:t>
            </a:r>
          </a:p>
          <a:p>
            <a:r>
              <a:rPr lang="en-US" sz="1050" dirty="0"/>
              <a:t> ├── Security OU (Control Tower created)</a:t>
            </a:r>
          </a:p>
          <a:p>
            <a:r>
              <a:rPr lang="en-US" sz="1050" dirty="0"/>
              <a:t> │   ├── Log Archive Account</a:t>
            </a:r>
          </a:p>
          <a:p>
            <a:r>
              <a:rPr lang="en-US" sz="1050" dirty="0"/>
              <a:t> │   └── Audit Account</a:t>
            </a:r>
          </a:p>
          <a:p>
            <a:r>
              <a:rPr lang="en-US" sz="1050" dirty="0"/>
              <a:t> │</a:t>
            </a:r>
          </a:p>
          <a:p>
            <a:r>
              <a:rPr lang="en-US" sz="1050" dirty="0"/>
              <a:t> ├── Sandbox OU (Strongly Recommended)</a:t>
            </a:r>
          </a:p>
          <a:p>
            <a:r>
              <a:rPr lang="en-US" sz="1050" dirty="0"/>
              <a:t> │   └── Experimental/development accounts</a:t>
            </a:r>
          </a:p>
          <a:p>
            <a:r>
              <a:rPr lang="en-US" sz="1050" dirty="0"/>
              <a:t> │   └── Lenient controls for innovation</a:t>
            </a:r>
          </a:p>
          <a:p>
            <a:r>
              <a:rPr lang="en-US" sz="1050" dirty="0"/>
              <a:t> │</a:t>
            </a:r>
          </a:p>
          <a:p>
            <a:r>
              <a:rPr lang="en-US" sz="1050" dirty="0"/>
              <a:t> ├── Development OU (You create)</a:t>
            </a:r>
          </a:p>
          <a:p>
            <a:r>
              <a:rPr lang="en-US" sz="1050" dirty="0"/>
              <a:t> │   ├── dev-app-account</a:t>
            </a:r>
          </a:p>
          <a:p>
            <a:r>
              <a:rPr lang="en-US" sz="1050" dirty="0"/>
              <a:t> │   ├── dev-data-account</a:t>
            </a:r>
          </a:p>
          <a:p>
            <a:r>
              <a:rPr lang="en-US" sz="1050" dirty="0"/>
              <a:t> │   └── dev-test-account</a:t>
            </a:r>
          </a:p>
          <a:p>
            <a:r>
              <a:rPr lang="en-US" sz="1050" dirty="0"/>
              <a:t> │</a:t>
            </a:r>
          </a:p>
          <a:p>
            <a:r>
              <a:rPr lang="en-US" sz="1050" dirty="0"/>
              <a:t> ├── Staging OU (You create)</a:t>
            </a:r>
          </a:p>
          <a:p>
            <a:r>
              <a:rPr lang="en-US" sz="1050" dirty="0"/>
              <a:t> │   ├── staging-app-account</a:t>
            </a:r>
          </a:p>
          <a:p>
            <a:r>
              <a:rPr lang="en-US" sz="1050" dirty="0"/>
              <a:t> │   └── staging-integration-account</a:t>
            </a:r>
          </a:p>
          <a:p>
            <a:r>
              <a:rPr lang="en-US" sz="1050" dirty="0"/>
              <a:t> │</a:t>
            </a:r>
          </a:p>
          <a:p>
            <a:r>
              <a:rPr lang="en-US" sz="1050" dirty="0"/>
              <a:t> └── Production OU (You create)</a:t>
            </a:r>
          </a:p>
          <a:p>
            <a:r>
              <a:rPr lang="en-US" sz="1050" dirty="0"/>
              <a:t>     ├── prod-app-account</a:t>
            </a:r>
          </a:p>
          <a:p>
            <a:r>
              <a:rPr lang="en-US" sz="1050" dirty="0"/>
              <a:t>     ├── prod-data-account</a:t>
            </a:r>
          </a:p>
          <a:p>
            <a:r>
              <a:rPr lang="en-US" sz="1050" dirty="0"/>
              <a:t>     └── prod-analytics-account</a:t>
            </a:r>
          </a:p>
          <a:p>
            <a:endParaRPr 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0B3445-512D-F058-06DB-87CF72E12B57}"/>
              </a:ext>
            </a:extLst>
          </p:cNvPr>
          <p:cNvSpPr txBox="1"/>
          <p:nvPr/>
        </p:nvSpPr>
        <p:spPr>
          <a:xfrm>
            <a:off x="6509657" y="1097280"/>
            <a:ext cx="5138057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OU Strategy Guidelines </a:t>
            </a:r>
          </a:p>
          <a:p>
            <a:endParaRPr lang="en-US" sz="1400" b="1" dirty="0"/>
          </a:p>
          <a:p>
            <a:r>
              <a:rPr lang="en-US" sz="1400" b="1" dirty="0"/>
              <a:t>Sandbox OU: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For experimentation and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Developers can try new services safely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 production data ever touches this OU Workload OUs </a:t>
            </a:r>
          </a:p>
          <a:p>
            <a:endParaRPr lang="en-US" sz="1400" dirty="0"/>
          </a:p>
          <a:p>
            <a:r>
              <a:rPr lang="en-US" sz="1400" b="1" dirty="0"/>
              <a:t>Environment-based: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Development OU: Lenient controls, frequent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Staging OU: Medium controls, pre-production 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Production OU: Strict controls, change management required </a:t>
            </a:r>
          </a:p>
          <a:p>
            <a:endParaRPr lang="en-US" sz="1400" dirty="0"/>
          </a:p>
          <a:p>
            <a:r>
              <a:rPr lang="en-US" sz="1400" b="1" dirty="0"/>
              <a:t>Best Practices: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Apply controls at OU level -&gt; all accounts inherit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Start with strict controls at root -&gt; relax at lower OUs as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Keep hierarchy simple (2-3 levels maximum)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 consistent naming conventions (env-team-purpose)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19491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54DCE-4CD2-5243-7743-1EF4850E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A11D07-D6F7-ED65-81D1-8F152CB54321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CT Features: Automated Account Factory (AFT)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2CB298-2AF3-0FAE-E6E8-976881706DD0}"/>
              </a:ext>
            </a:extLst>
          </p:cNvPr>
          <p:cNvSpPr txBox="1"/>
          <p:nvPr/>
        </p:nvSpPr>
        <p:spPr>
          <a:xfrm>
            <a:off x="786175" y="1097280"/>
            <a:ext cx="102301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1" dirty="0"/>
              <a:t>A configurable account template built on AWS Service Catalog that standardizes and automates the provisioning of new AWS accounts with pre-approved configurations.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1E98C7-B18A-B91A-5F9F-F28DCA95E807}"/>
              </a:ext>
            </a:extLst>
          </p:cNvPr>
          <p:cNvSpPr txBox="1"/>
          <p:nvPr/>
        </p:nvSpPr>
        <p:spPr>
          <a:xfrm>
            <a:off x="786175" y="1880455"/>
            <a:ext cx="5040467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rPr sz="1200" b="1" dirty="0"/>
              <a:t>WITHOUT Account Factory:</a:t>
            </a:r>
          </a:p>
          <a:p>
            <a:pPr>
              <a:spcAft>
                <a:spcPts val="600"/>
              </a:spcAft>
              <a:defRPr sz="1400"/>
            </a:pPr>
            <a:endParaRPr lang="en-IN" sz="1200" dirty="0"/>
          </a:p>
          <a:p>
            <a:pPr>
              <a:spcAft>
                <a:spcPts val="600"/>
              </a:spcAft>
              <a:defRPr sz="1400"/>
            </a:pPr>
            <a:r>
              <a:rPr sz="1200" dirty="0"/>
              <a:t>Manual Process (2-4 days):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Create account via console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Enable CloudTrail manually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Create VPC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Configure IAM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Apply security policies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Setup monitoring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Test everything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Document setup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Handoff to team</a:t>
            </a:r>
          </a:p>
          <a:p>
            <a:pPr>
              <a:spcAft>
                <a:spcPts val="600"/>
              </a:spcAft>
              <a:defRPr sz="1400"/>
            </a:pPr>
            <a:endParaRPr sz="1200" dirty="0"/>
          </a:p>
          <a:p>
            <a:pPr>
              <a:spcAft>
                <a:spcPts val="600"/>
              </a:spcAft>
              <a:defRPr sz="1400"/>
            </a:pPr>
            <a:r>
              <a:rPr sz="1200" b="1" dirty="0"/>
              <a:t>Result: Inconsistent, error-prone, time-consuming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2CB7-98DF-B76F-2623-7A8DE835FEDA}"/>
              </a:ext>
            </a:extLst>
          </p:cNvPr>
          <p:cNvSpPr txBox="1"/>
          <p:nvPr/>
        </p:nvSpPr>
        <p:spPr>
          <a:xfrm>
            <a:off x="6095999" y="1763497"/>
            <a:ext cx="5309825" cy="472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rPr sz="1200" b="1" dirty="0"/>
              <a:t>WITH Account Factory:</a:t>
            </a:r>
          </a:p>
          <a:p>
            <a:pPr>
              <a:spcAft>
                <a:spcPts val="600"/>
              </a:spcAft>
              <a:defRPr sz="1400"/>
            </a:pPr>
            <a:endParaRPr lang="en-IN" sz="1200" dirty="0"/>
          </a:p>
          <a:p>
            <a:pPr>
              <a:spcAft>
                <a:spcPts val="600"/>
              </a:spcAft>
              <a:defRPr sz="1400"/>
            </a:pPr>
            <a:r>
              <a:rPr sz="1200" dirty="0"/>
              <a:t>Automated Process (15-30 min):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lang="en-IN" sz="1200" dirty="0"/>
              <a:t>U</a:t>
            </a:r>
            <a:r>
              <a:rPr sz="1200" dirty="0"/>
              <a:t>ser fills form in portal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Selects account blueprint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Specifies OU and network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pPr>
            <a:r>
              <a:rPr sz="1200" dirty="0"/>
              <a:t>Clicks </a:t>
            </a:r>
            <a:r>
              <a:rPr lang="en-IN" sz="1200" dirty="0"/>
              <a:t>'</a:t>
            </a:r>
            <a:r>
              <a:rPr sz="1200" dirty="0"/>
              <a:t>Launch</a:t>
            </a:r>
            <a:r>
              <a:rPr lang="en-IN" sz="1200" dirty="0"/>
              <a:t>’</a:t>
            </a:r>
          </a:p>
          <a:p>
            <a:pPr>
              <a:spcAft>
                <a:spcPts val="600"/>
              </a:spcAft>
              <a:defRPr sz="1400"/>
            </a:pPr>
            <a:endParaRPr sz="1200" dirty="0"/>
          </a:p>
          <a:p>
            <a:pPr>
              <a:spcAft>
                <a:spcPts val="600"/>
              </a:spcAft>
              <a:defRPr sz="1400"/>
            </a:pPr>
            <a:r>
              <a:rPr sz="1200" dirty="0"/>
              <a:t>Control Tower automatically: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Creates account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Applies security baselines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Enables logging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Creates VPC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Configures IAM/SSO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Applies guardrails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  <a:defRPr sz="1400"/>
            </a:pPr>
            <a:r>
              <a:rPr sz="1200" dirty="0"/>
              <a:t>Sends notification</a:t>
            </a:r>
          </a:p>
          <a:p>
            <a:pPr>
              <a:spcAft>
                <a:spcPts val="600"/>
              </a:spcAft>
              <a:defRPr sz="1400"/>
            </a:pPr>
            <a:endParaRPr lang="en-IN" sz="1200" b="1" dirty="0"/>
          </a:p>
          <a:p>
            <a:pPr>
              <a:spcAft>
                <a:spcPts val="600"/>
              </a:spcAft>
              <a:defRPr sz="1400"/>
            </a:pPr>
            <a:r>
              <a:rPr sz="1200" b="1" dirty="0"/>
              <a:t>Result: Fast, consistent, compliant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2F4AB6-FFAF-F2DC-F1E7-78D447851A93}"/>
              </a:ext>
            </a:extLst>
          </p:cNvPr>
          <p:cNvSpPr txBox="1"/>
          <p:nvPr/>
        </p:nvSpPr>
        <p:spPr>
          <a:xfrm>
            <a:off x="786175" y="5650718"/>
            <a:ext cx="451947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Note: You can also use </a:t>
            </a:r>
            <a:r>
              <a:rPr lang="en-US" sz="1400" b="1" dirty="0"/>
              <a:t>AWS Control Tower Account Factory for Terraform (AFT)</a:t>
            </a:r>
          </a:p>
          <a:p>
            <a:r>
              <a:rPr lang="en-IN" sz="1400" dirty="0">
                <a:hlinkClick r:id="rId2"/>
              </a:rPr>
              <a:t>https://github.com/aws-ia/terraform-aws-control_tower_account_factory</a:t>
            </a:r>
            <a:endParaRPr lang="en-IN" sz="1400" dirty="0"/>
          </a:p>
          <a:p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322356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E4F5C-3EBF-250A-0FCA-97BCDD06F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89642D-5256-5E95-7E3F-6D16E83022AD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CT Features: </a:t>
            </a:r>
            <a:r>
              <a:rPr lang="en-IN" sz="3600" b="1" dirty="0"/>
              <a:t>IAM Identity Center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459FFB-DF8D-8EF8-E7D6-263909E03D15}"/>
              </a:ext>
            </a:extLst>
          </p:cNvPr>
          <p:cNvSpPr txBox="1"/>
          <p:nvPr/>
        </p:nvSpPr>
        <p:spPr>
          <a:xfrm>
            <a:off x="731746" y="1165231"/>
            <a:ext cx="10230167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dirty="0"/>
              <a:t>AWS IAM Identity Center (formerly AWS SSO) Automatically Configured with Control Tower IAM Identity Center is integrated and configured during Control Tower setup no manual configuration needed.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The Identity Challenge: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Users need separate logins for each AWS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Password sprawl: 10 accounts = 10 passwords to remember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Access management nightmare: Manually create IAM users in each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Security risk: Hard to revoke access when someone leaves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unified audit trail across accounts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IAM Identity Center Solution: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Users log in once -&gt; access all authorized AWS accounts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One portal, one password, one MFA setup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Access AWS Console or CLI seamlessly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credential sharing or password sprawl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Integrated with Azure AD, Okta, Google Workspace</a:t>
            </a:r>
          </a:p>
        </p:txBody>
      </p:sp>
    </p:spTree>
    <p:extLst>
      <p:ext uri="{BB962C8B-B14F-4D97-AF65-F5344CB8AC3E}">
        <p14:creationId xmlns:p14="http://schemas.microsoft.com/office/powerpoint/2010/main" val="3137357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26CE3-F476-70FA-BC67-05C1B288E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BA9EC-7DA2-443F-38AF-AE864313308A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CT Features: </a:t>
            </a:r>
            <a:r>
              <a:rPr lang="en-IN" sz="3600" b="1" dirty="0"/>
              <a:t>IAM Identity Center - Key Components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7275D4-A8E4-CEA6-A13D-7B6D92EA07DD}"/>
              </a:ext>
            </a:extLst>
          </p:cNvPr>
          <p:cNvSpPr txBox="1"/>
          <p:nvPr/>
        </p:nvSpPr>
        <p:spPr>
          <a:xfrm>
            <a:off x="731746" y="1165231"/>
            <a:ext cx="10230167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b="1" dirty="0"/>
              <a:t>Identity Source: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Identity Center Directory (default)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Active Directory (AWS Managed or self-managed)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External IdP (Azure AD, Okta, Google Workspace)</a:t>
            </a:r>
          </a:p>
          <a:p>
            <a:pPr lvl="1">
              <a:spcBef>
                <a:spcPts val="600"/>
              </a:spcBef>
            </a:pPr>
            <a:endParaRPr lang="en-US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b="1" dirty="0"/>
              <a:t>Users and Groups: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Create groups for </a:t>
            </a:r>
            <a:r>
              <a:rPr lang="en-US" sz="1400" b="1" dirty="0"/>
              <a:t>roles</a:t>
            </a:r>
            <a:r>
              <a:rPr lang="en-US" sz="1400" dirty="0"/>
              <a:t> (Developers, Admins, Auditors)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Assign permissions to groups, not individuals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b="1" dirty="0"/>
              <a:t>Permission Sets: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Collections of IAM policies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Examples: </a:t>
            </a:r>
            <a:r>
              <a:rPr lang="en-US" sz="1400" dirty="0" err="1"/>
              <a:t>AdministratorAccess</a:t>
            </a:r>
            <a:r>
              <a:rPr lang="en-US" sz="1400" dirty="0"/>
              <a:t>, </a:t>
            </a:r>
            <a:r>
              <a:rPr lang="en-US" sz="1400" dirty="0" err="1"/>
              <a:t>DeveloperAccess</a:t>
            </a:r>
            <a:r>
              <a:rPr lang="en-US" sz="1400" dirty="0"/>
              <a:t>, </a:t>
            </a:r>
            <a:r>
              <a:rPr lang="en-US" sz="1400" dirty="0" err="1"/>
              <a:t>ReadOnlyAccess</a:t>
            </a:r>
            <a:endParaRPr lang="en-US" sz="1400" dirty="0"/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Reusable across multiple accounts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endParaRPr lang="en-US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b="1" dirty="0"/>
              <a:t>Account Assignments: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Map: Groups -&gt; Permission Sets -&gt; AWS Accounts</a:t>
            </a:r>
          </a:p>
        </p:txBody>
      </p:sp>
    </p:spTree>
    <p:extLst>
      <p:ext uri="{BB962C8B-B14F-4D97-AF65-F5344CB8AC3E}">
        <p14:creationId xmlns:p14="http://schemas.microsoft.com/office/powerpoint/2010/main" val="1505406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4027-93F5-EED5-3AA5-6AC0DBD35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1435BF-81D0-A5C2-A862-DD4C0A41728A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CT Features: </a:t>
            </a:r>
            <a:r>
              <a:rPr lang="en-IN" sz="3600" b="1" dirty="0"/>
              <a:t>Control </a:t>
            </a:r>
            <a:r>
              <a:rPr lang="en-IN" sz="3600" b="1" dirty="0" err="1"/>
              <a:t>Catalog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B5A058-9F6F-7CD2-1114-7E3595A176CD}"/>
              </a:ext>
            </a:extLst>
          </p:cNvPr>
          <p:cNvSpPr txBox="1"/>
          <p:nvPr/>
        </p:nvSpPr>
        <p:spPr>
          <a:xfrm>
            <a:off x="764403" y="1089031"/>
            <a:ext cx="10230167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Control Catalog</a:t>
            </a:r>
            <a:r>
              <a:rPr lang="en-US" sz="1400" dirty="0"/>
              <a:t> - 1,218+ AWS-Managed Controls.</a:t>
            </a:r>
          </a:p>
          <a:p>
            <a:endParaRPr lang="en-US" sz="1400" dirty="0"/>
          </a:p>
          <a:p>
            <a:r>
              <a:rPr lang="en-US" sz="1400" dirty="0"/>
              <a:t>A comprehensive library of pre-packaged controls that help enforce policies and detect violations across your organization. </a:t>
            </a:r>
          </a:p>
          <a:p>
            <a:endParaRPr lang="en-US" sz="1400" dirty="0"/>
          </a:p>
          <a:p>
            <a:r>
              <a:rPr lang="en-US" sz="1400" b="1" dirty="0"/>
              <a:t>Note:</a:t>
            </a:r>
            <a:r>
              <a:rPr lang="en-US" sz="1400" dirty="0"/>
              <a:t> Controls are sometimes called “guardrails” in AWS documentation. You can explore the Control Catalog before enabling Control Tower.</a:t>
            </a:r>
          </a:p>
          <a:p>
            <a:endParaRPr lang="en-US" sz="1400" b="1" dirty="0"/>
          </a:p>
          <a:p>
            <a:r>
              <a:rPr lang="en-US" sz="1400" b="1" dirty="0"/>
              <a:t>Types of Controls:</a:t>
            </a:r>
            <a:endParaRPr lang="en-US" sz="1400" dirty="0"/>
          </a:p>
          <a:p>
            <a:r>
              <a:rPr lang="en-US" sz="1400" b="1" dirty="0"/>
              <a:t>1.) Preventive Controls (69): </a:t>
            </a:r>
            <a:r>
              <a:rPr lang="en-US" sz="1400" dirty="0"/>
              <a:t>Use SCPs to block actions before they happen</a:t>
            </a:r>
          </a:p>
          <a:p>
            <a:r>
              <a:rPr lang="en-US" sz="1400" b="1" dirty="0"/>
              <a:t>Examples: </a:t>
            </a:r>
            <a:r>
              <a:rPr lang="en-US" sz="1400" dirty="0"/>
              <a:t>Prevent turning off CloudTrail, Restrict regions (e.g., only US/EU), Block unencrypted S3 buckets</a:t>
            </a:r>
          </a:p>
          <a:p>
            <a:r>
              <a:rPr lang="en-US" sz="1400" b="1" dirty="0"/>
              <a:t>Result:</a:t>
            </a:r>
            <a:r>
              <a:rPr lang="en-US" sz="1400" dirty="0"/>
              <a:t> Action is denied immediately</a:t>
            </a:r>
          </a:p>
          <a:p>
            <a:endParaRPr lang="en-US" sz="1400" dirty="0"/>
          </a:p>
          <a:p>
            <a:r>
              <a:rPr lang="en-US" sz="1400" b="1" dirty="0"/>
              <a:t>2.) Detective Controls (914): </a:t>
            </a:r>
            <a:r>
              <a:rPr lang="en-US" sz="1400" dirty="0"/>
              <a:t>Use AWS Config Rules to monitor and alert on violations</a:t>
            </a:r>
          </a:p>
          <a:p>
            <a:r>
              <a:rPr lang="en-US" sz="1400" b="1" dirty="0"/>
              <a:t>Examples:</a:t>
            </a:r>
            <a:r>
              <a:rPr lang="en-US" sz="1400" dirty="0"/>
              <a:t> Detect unencrypted EBS volumes, Flag overly permissive security groups, Identify resources without required tags</a:t>
            </a:r>
          </a:p>
          <a:p>
            <a:r>
              <a:rPr lang="en-US" sz="1400" b="1" dirty="0"/>
              <a:t>Result:</a:t>
            </a:r>
            <a:r>
              <a:rPr lang="en-US" sz="1400" dirty="0"/>
              <a:t> Violation logged; notification sent</a:t>
            </a:r>
          </a:p>
          <a:p>
            <a:endParaRPr lang="en-US" sz="1400" dirty="0"/>
          </a:p>
          <a:p>
            <a:r>
              <a:rPr lang="en-US" sz="1400" b="1" dirty="0"/>
              <a:t>3.) Proactive Controls (235)</a:t>
            </a:r>
            <a:endParaRPr lang="en-US" sz="1400" dirty="0"/>
          </a:p>
          <a:p>
            <a:r>
              <a:rPr lang="en-US" sz="1400" b="1" dirty="0"/>
              <a:t>How they work:</a:t>
            </a:r>
            <a:r>
              <a:rPr lang="en-US" sz="1400" dirty="0"/>
              <a:t> Validate resources before deployment</a:t>
            </a:r>
          </a:p>
          <a:p>
            <a:r>
              <a:rPr lang="en-US" sz="1400" b="1" dirty="0"/>
              <a:t>Examples: </a:t>
            </a:r>
            <a:r>
              <a:rPr lang="en-US" sz="1400" dirty="0"/>
              <a:t>Ensure resources meet encryption requirements at deployment time, Ensure resources meet compliance standards at deployment time</a:t>
            </a:r>
          </a:p>
          <a:p>
            <a:r>
              <a:rPr lang="en-US" sz="1400" b="1" dirty="0"/>
              <a:t>Result:</a:t>
            </a:r>
            <a:r>
              <a:rPr lang="en-US" sz="1400" dirty="0"/>
              <a:t> Non-compliant deployments blocked</a:t>
            </a:r>
          </a:p>
          <a:p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Choose from preventive, detective, or proactive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Controls apply to all accounts in that OU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036958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928A-C9FA-2D9A-E16E-71949D24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281D1-2427-BB01-ED97-1347171F3FE7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Enterprise Account Strategies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6414F7-B5BC-BCB8-E8BB-F01FB9C21D1D}"/>
              </a:ext>
            </a:extLst>
          </p:cNvPr>
          <p:cNvSpPr txBox="1"/>
          <p:nvPr/>
        </p:nvSpPr>
        <p:spPr>
          <a:xfrm>
            <a:off x="764403" y="1089031"/>
            <a:ext cx="10230167" cy="4906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Environment-Based Strategy: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Separate accounts per environment (Prod, Staging, Dev)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Clear cost separation and security boundaries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Team-Based Strategy: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Separate accounts per team or business unit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Team autonomy, clear ownership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Workload-Based Strategy: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Separate accounts per workload type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Examples: Web apps, Data processing, ML training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Hybrid Strategy (Most Common):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Combination of above - organize by multiple dimensions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Most flexible for large organizations</a:t>
            </a:r>
          </a:p>
        </p:txBody>
      </p:sp>
    </p:spTree>
    <p:extLst>
      <p:ext uri="{BB962C8B-B14F-4D97-AF65-F5344CB8AC3E}">
        <p14:creationId xmlns:p14="http://schemas.microsoft.com/office/powerpoint/2010/main" val="4009877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28938-714C-DEB7-3AC4-F998EB2A1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45ADB4-847B-8655-4342-FF7AB1B6D338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Special-Purpose Accounts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6B5CD4-91CC-E04A-7046-D7025E7CF277}"/>
              </a:ext>
            </a:extLst>
          </p:cNvPr>
          <p:cNvSpPr txBox="1"/>
          <p:nvPr/>
        </p:nvSpPr>
        <p:spPr>
          <a:xfrm>
            <a:off x="764403" y="1089031"/>
            <a:ext cx="10230167" cy="4906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Network Account: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Centralized networking hub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Contains: Transit Gateway, VPN, Direct Connect etc.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Shared Services Account: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Centralized shared resources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Contains: Active Directory, DNS, Container Registry, Internal APIs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Security Tooling Account: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Centralized security tools (separate from Audit)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Contains: Vulnerability scanners, SIEM integrations, IR automation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Backup Account: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Centralized backup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Contains: Cross-account backup vaults, DR snapshots</a:t>
            </a:r>
          </a:p>
        </p:txBody>
      </p:sp>
    </p:spTree>
    <p:extLst>
      <p:ext uri="{BB962C8B-B14F-4D97-AF65-F5344CB8AC3E}">
        <p14:creationId xmlns:p14="http://schemas.microsoft.com/office/powerpoint/2010/main" val="4251993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32F3D-6E00-39DF-1E76-A3A65D959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C42CB3-49E2-45F9-6FE7-1DCB50BDF541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dirty="0"/>
              <a:t>AWS Transit Gateway - Central Network Hub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0F8EBF-A40E-D3A2-E203-F8896E2CCEF1}"/>
              </a:ext>
            </a:extLst>
          </p:cNvPr>
          <p:cNvSpPr txBox="1"/>
          <p:nvPr/>
        </p:nvSpPr>
        <p:spPr>
          <a:xfrm>
            <a:off x="764403" y="1089031"/>
            <a:ext cx="10230167" cy="522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The Problem: VPC Mesh Peering: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10 VPCs need 45 peering connections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50 VPCs need 1,225 peering connections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Extremely complex, doesn’t scale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Transit Gateway Solution: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400" dirty="0"/>
              <a:t>Central hub connecting all VPCs, on-premises, VPNs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400" dirty="0"/>
              <a:t>Simplifies connectivity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400" dirty="0"/>
              <a:t>Centralized traffic inspection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400" dirty="0"/>
              <a:t>Scales to thousands of VPCs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Key Benefits: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Single point of routing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Network segmentation via route tables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Centralized security inspection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Multi-region connectivity via peering</a:t>
            </a:r>
          </a:p>
        </p:txBody>
      </p:sp>
    </p:spTree>
    <p:extLst>
      <p:ext uri="{BB962C8B-B14F-4D97-AF65-F5344CB8AC3E}">
        <p14:creationId xmlns:p14="http://schemas.microsoft.com/office/powerpoint/2010/main" val="16423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A71E-B75C-5713-9DD3-28E82156F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6AAFA8-1DB6-0287-F9EB-C85522948A55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Transit Gateway Architecture Patterns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FCD981-B745-2AC2-6D11-98286AE778FA}"/>
              </a:ext>
            </a:extLst>
          </p:cNvPr>
          <p:cNvSpPr txBox="1"/>
          <p:nvPr/>
        </p:nvSpPr>
        <p:spPr>
          <a:xfrm>
            <a:off x="764404" y="1249754"/>
            <a:ext cx="6625224" cy="3936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Pattern 1: Basic Hub-and-Spoke: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All VPCs connect to a single Transit Gateway in one region. Simple star topology.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All VPCs connect through TGW, no complex segmentation needed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EXAMPLE: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Company has 3 VPCs that need to talk to each other: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Production VPC (10.0.0.0/16)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Development VPC (10.1.0.0/16)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Shared Services VPC (10.2.0.0/16) - Active Directory, DNS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Without TGW: Need 3 VPC connects with each other via VPC peering connections (mesh)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With TGW: All 3 VPCs attach to TGW, can reach each other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221798-3786-9137-D3AE-229128ACF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976" y="5322536"/>
            <a:ext cx="2899844" cy="1282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238D25-1858-9D1B-02BA-8BA2B89F6523}"/>
              </a:ext>
            </a:extLst>
          </p:cNvPr>
          <p:cNvSpPr txBox="1"/>
          <p:nvPr/>
        </p:nvSpPr>
        <p:spPr>
          <a:xfrm>
            <a:off x="7176977" y="1171734"/>
            <a:ext cx="480819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Implementation Steps: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dirty="0"/>
              <a:t>Create TGW with 1 Route table</a:t>
            </a:r>
          </a:p>
          <a:p>
            <a:pPr marL="342900" indent="-342900">
              <a:buAutoNum type="arabicPeriod"/>
            </a:pPr>
            <a:r>
              <a:rPr lang="en-IN" sz="1400" dirty="0"/>
              <a:t>Attach VPCs to TGW: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Prod VPC -&gt; TGW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Dev VPC -&gt; TGW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Shared VPC -&gt; TGW</a:t>
            </a:r>
          </a:p>
          <a:p>
            <a:pPr marL="342900" indent="-342900">
              <a:buAutoNum type="arabicPeriod"/>
            </a:pPr>
            <a:r>
              <a:rPr lang="en-IN" sz="1400" dirty="0"/>
              <a:t>Associate VPCs attachment to a single Route Table: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Prod VPC -&gt; TGW-RT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Dev VPC -&gt; TGW-RT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Shared VPC -&gt; TGW-RT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400" dirty="0"/>
          </a:p>
          <a:p>
            <a:r>
              <a:rPr lang="en-IN" sz="1400" b="1" dirty="0"/>
              <a:t>TRAFFIC FLOW:</a:t>
            </a:r>
          </a:p>
          <a:p>
            <a:endParaRPr lang="en-IN" sz="1400" dirty="0"/>
          </a:p>
          <a:p>
            <a:r>
              <a:rPr lang="en-IN" sz="1400" dirty="0"/>
              <a:t>✅ Prod -&gt; Dev </a:t>
            </a:r>
          </a:p>
          <a:p>
            <a:r>
              <a:rPr lang="en-IN" sz="1400" dirty="0"/>
              <a:t>ALLOWED: Prod VPC -&gt; TGW-RT -&gt; route exists -&gt; Dev VPC</a:t>
            </a:r>
          </a:p>
          <a:p>
            <a:endParaRPr lang="en-IN" sz="1400" dirty="0"/>
          </a:p>
          <a:p>
            <a:r>
              <a:rPr lang="en-IN" sz="1400" dirty="0"/>
              <a:t>✅ Prod -&gt; Shared</a:t>
            </a:r>
          </a:p>
          <a:p>
            <a:r>
              <a:rPr lang="en-IN" sz="1400" dirty="0"/>
              <a:t>ALLOWED: Prod VPC -&gt; TGW-RT -&gt; route exists -&gt; Shared VPC</a:t>
            </a:r>
          </a:p>
          <a:p>
            <a:endParaRPr lang="en-IN" sz="1400" dirty="0"/>
          </a:p>
          <a:p>
            <a:r>
              <a:rPr lang="en-IN" sz="1400" dirty="0"/>
              <a:t>✅ Dev -&gt; Shared</a:t>
            </a:r>
          </a:p>
          <a:p>
            <a:r>
              <a:rPr lang="en-IN" sz="1400" dirty="0"/>
              <a:t>ALLOWED: Dev VPC -&gt;TGW-RT -&gt; route exists -&gt; Shared VPC</a:t>
            </a:r>
          </a:p>
          <a:p>
            <a:endParaRPr lang="en-IN" sz="1400" dirty="0"/>
          </a:p>
          <a:p>
            <a:r>
              <a:rPr lang="en-US" sz="1400" dirty="0"/>
              <a:t>✅ All VPCs can reach each other (no isolation)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299973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5F819-BCD1-ED37-EEC6-3D7067E94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36F5A6-2F49-8225-FF0F-7E83AAC4724E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Transit Gateway Architecture Patterns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0E3044-B2E8-04DC-73E9-1C4EA976FFD5}"/>
              </a:ext>
            </a:extLst>
          </p:cNvPr>
          <p:cNvSpPr txBox="1"/>
          <p:nvPr/>
        </p:nvSpPr>
        <p:spPr>
          <a:xfrm>
            <a:off x="764404" y="1100901"/>
            <a:ext cx="5604498" cy="3290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Pattern 2: Hub-and-Spoke with Segmentation (THE MOST USED ARCHITECTURE):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Same hub-and-spoke BUT with multiple route tables in TGW to isolate environments.</a:t>
            </a:r>
          </a:p>
          <a:p>
            <a:pPr>
              <a:lnSpc>
                <a:spcPct val="150000"/>
              </a:lnSpc>
            </a:pP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b="1" dirty="0"/>
              <a:t>EXAMPLE: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Same 3 VPCs, but now you want: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Prod can talk to Shared (for AD authentication)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Dev can talk to Shared (for AD authentication)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Prod CANNOT talk to Dev (security isolation)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C05EB3-F2E7-03B7-E337-DB526F73D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833" y="4068316"/>
            <a:ext cx="4039354" cy="23037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A4BC287-9688-40B5-3F63-EFDD947C8E2A}"/>
              </a:ext>
            </a:extLst>
          </p:cNvPr>
          <p:cNvSpPr txBox="1"/>
          <p:nvPr/>
        </p:nvSpPr>
        <p:spPr>
          <a:xfrm>
            <a:off x="7176977" y="1171734"/>
            <a:ext cx="480819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Implementation Steps:</a:t>
            </a:r>
          </a:p>
          <a:p>
            <a:endParaRPr lang="en-IN" sz="1400" dirty="0"/>
          </a:p>
          <a:p>
            <a:pPr marL="342900" indent="-342900">
              <a:buFont typeface="+mj-lt"/>
              <a:buAutoNum type="arabicPeriod"/>
            </a:pPr>
            <a:r>
              <a:rPr lang="en-IN" sz="1400" dirty="0"/>
              <a:t>Create TGW with 3 Route Tables: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Prod-RT: Routes to Shared VPC only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Dev-RT: Routes to Shared VPC only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Shared-RT: Routes to both Prod and Dev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400" dirty="0"/>
              <a:t>Attach VPCs to Transit Gateway: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1400" dirty="0"/>
              <a:t>Prod VPC -&gt; TGW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1400" dirty="0"/>
              <a:t>Dev VPC -&gt; TGW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1400" dirty="0"/>
              <a:t>Shared VPC -&gt; TGW</a:t>
            </a:r>
          </a:p>
          <a:p>
            <a:r>
              <a:rPr lang="en-IN" sz="1400" dirty="0"/>
              <a:t>3. Associate VPC attachments to Route Tables: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Prod VPC attachment -&gt; Prod-RT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Dev VPC attachment -&gt; Dev-RT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Shared VPC attachment -&gt; Shared-RT</a:t>
            </a:r>
          </a:p>
          <a:p>
            <a:pPr lvl="1"/>
            <a:endParaRPr lang="en-IN" sz="1400" dirty="0"/>
          </a:p>
          <a:p>
            <a:r>
              <a:rPr lang="en-IN" sz="1400" b="1" dirty="0"/>
              <a:t>TRAFFIC FLOW:</a:t>
            </a:r>
          </a:p>
          <a:p>
            <a:endParaRPr lang="en-IN" sz="1400" dirty="0"/>
          </a:p>
          <a:p>
            <a:r>
              <a:rPr lang="en-IN" sz="1400" dirty="0"/>
              <a:t>✅ Prod -&gt; Shared </a:t>
            </a:r>
          </a:p>
          <a:p>
            <a:r>
              <a:rPr lang="en-IN" sz="1400" dirty="0"/>
              <a:t>ALLOWED: Prod VPC -&gt; Prod-RT -&gt; route exists -&gt; Shared VPC</a:t>
            </a:r>
          </a:p>
          <a:p>
            <a:endParaRPr lang="en-IN" sz="1400" dirty="0"/>
          </a:p>
          <a:p>
            <a:r>
              <a:rPr lang="en-IN" sz="1400" dirty="0"/>
              <a:t>✅ Dev -&gt; Shared</a:t>
            </a:r>
          </a:p>
          <a:p>
            <a:r>
              <a:rPr lang="en-IN" sz="1400" dirty="0"/>
              <a:t>ALLOWED: Dev VPC -&gt; Dev-RT -&gt; route exists -&gt; Shared VPC</a:t>
            </a:r>
          </a:p>
          <a:p>
            <a:endParaRPr lang="en-IN" sz="1400" dirty="0"/>
          </a:p>
          <a:p>
            <a:r>
              <a:rPr lang="en-IN" sz="1400" dirty="0"/>
              <a:t>❌ Prod -&gt; Dev</a:t>
            </a:r>
          </a:p>
          <a:p>
            <a:r>
              <a:rPr lang="en-IN" sz="1400" dirty="0"/>
              <a:t>BLOCKED: Prod VPC -&gt; Prod-RT -&gt; no route to Dev -&gt; dropped</a:t>
            </a:r>
          </a:p>
        </p:txBody>
      </p:sp>
    </p:spTree>
    <p:extLst>
      <p:ext uri="{BB962C8B-B14F-4D97-AF65-F5344CB8AC3E}">
        <p14:creationId xmlns:p14="http://schemas.microsoft.com/office/powerpoint/2010/main" val="34578127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80686-2204-66E4-CA9B-3792329C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32F6DE-9C3A-7DD7-03A7-CC83A835DFFE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Transit Gateway Architecture Patterns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59F3C-9DBE-D3A1-8E03-C9EA764D98B1}"/>
              </a:ext>
            </a:extLst>
          </p:cNvPr>
          <p:cNvSpPr txBox="1"/>
          <p:nvPr/>
        </p:nvSpPr>
        <p:spPr>
          <a:xfrm>
            <a:off x="764404" y="1100902"/>
            <a:ext cx="5455643" cy="2967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Pattern 3: Inspection VPC Pattern: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All internet-bound traffic goes through a centralized firewall VPC for inspection.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EXAMPLE: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Company wants to: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Block malicious domains across all VPCs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Prevent data exfiltration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Log all internet traffic centrally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Use one set of firewall rules for all VPCs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8FD92C-AF69-C7F5-AE25-F56C7338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32" y="4068316"/>
            <a:ext cx="2142965" cy="25061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1960E9-5542-6FFF-B3AB-E7BD20698CF7}"/>
              </a:ext>
            </a:extLst>
          </p:cNvPr>
          <p:cNvSpPr txBox="1"/>
          <p:nvPr/>
        </p:nvSpPr>
        <p:spPr>
          <a:xfrm>
            <a:off x="6231883" y="1100902"/>
            <a:ext cx="545564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Implementation Steps:</a:t>
            </a:r>
          </a:p>
          <a:p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Inspection VPC contains: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/>
              <a:t>AWS Network Firewall (or Palo Alto VM)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/>
              <a:t>NAT Gateway (for outbound internet)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/>
              <a:t>Internet Gateway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All VPCs have default route (0.0.0.0/0) -&gt; TGW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TGW routes internet traffic -&gt; Inspection VPC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Inspection VPC -&gt; Firewall -&gt; NAT -&gt; Internet</a:t>
            </a:r>
          </a:p>
          <a:p>
            <a:endParaRPr lang="en-US" sz="1400" dirty="0"/>
          </a:p>
          <a:p>
            <a:r>
              <a:rPr lang="en-US" sz="1400" b="1" dirty="0"/>
              <a:t>TRAFFIC FLOW (Outbound Internet):</a:t>
            </a:r>
          </a:p>
          <a:p>
            <a:endParaRPr lang="en-US" sz="1400" dirty="0"/>
          </a:p>
          <a:p>
            <a:r>
              <a:rPr lang="en-US" sz="1400" dirty="0"/>
              <a:t>EC2 in Prod VPC wants to reach google.com (8.8.8.8)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EC2 -&gt; Default route 0.0.0.0/0 via TGW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TGW -&gt; Routes to Inspection VPC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Inspection VPC -&gt; AWS Network Firewall checks: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Domain: google.com ✅ allowed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Firewall -&gt; NAT Gateway -&gt; Internet Gateway -&gt; Google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Response: Google -&gt; IGW -&gt; NAT -&gt; Firewall -&gt; TGW -&gt; Prod VPC -&gt; EC2</a:t>
            </a:r>
          </a:p>
          <a:p>
            <a:endParaRPr lang="en-US" sz="1400" dirty="0"/>
          </a:p>
          <a:p>
            <a:r>
              <a:rPr lang="en-US" sz="1400" dirty="0"/>
              <a:t>BLOCKED EXAMPLE:</a:t>
            </a:r>
          </a:p>
          <a:p>
            <a:r>
              <a:rPr lang="en-US" sz="1400" dirty="0"/>
              <a:t>EC2 tries to reach crypto-miner.evil.com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EC2 -&gt; TGW -&gt; Inspection VPC -&gt; Firewall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Firewall checks domain list: crypto-miner.evil.com ❌ BLOCKED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Connection dropped, logged, alert sent to security team</a:t>
            </a:r>
          </a:p>
        </p:txBody>
      </p:sp>
    </p:spTree>
    <p:extLst>
      <p:ext uri="{BB962C8B-B14F-4D97-AF65-F5344CB8AC3E}">
        <p14:creationId xmlns:p14="http://schemas.microsoft.com/office/powerpoint/2010/main" val="7097496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01307-0964-6431-89BF-B184D1CAE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A762EB-7746-C7B7-5273-152185BD9BD5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Transit Gateway Architecture Patterns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A34A75-8E4E-F064-C91F-5B048B17D52E}"/>
              </a:ext>
            </a:extLst>
          </p:cNvPr>
          <p:cNvSpPr txBox="1"/>
          <p:nvPr/>
        </p:nvSpPr>
        <p:spPr>
          <a:xfrm>
            <a:off x="764404" y="1100902"/>
            <a:ext cx="5455643" cy="2644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Pattern 4: Multi-Region with Peering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Transit Gateways in different regions connected via transit gateway peering for global connectivity.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EXAMPLE: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Global company with: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US region: Customer data for US users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EU region: Customer data for EU users (GDPR)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Need: US app can query EU data for global reports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163274-A77E-3CB6-ADCE-9FE3CD1130A0}"/>
              </a:ext>
            </a:extLst>
          </p:cNvPr>
          <p:cNvSpPr txBox="1"/>
          <p:nvPr/>
        </p:nvSpPr>
        <p:spPr>
          <a:xfrm>
            <a:off x="6220047" y="1233377"/>
            <a:ext cx="576512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Implementation Steps:</a:t>
            </a:r>
          </a:p>
          <a:p>
            <a:endParaRPr lang="en-IN" sz="1400" b="1" dirty="0"/>
          </a:p>
          <a:p>
            <a:pPr marL="342900" indent="-342900">
              <a:buFont typeface="+mj-lt"/>
              <a:buAutoNum type="arabicPeriod"/>
            </a:pPr>
            <a:r>
              <a:rPr lang="en-IN" sz="1400" dirty="0"/>
              <a:t>TGW in us-east-1 with US VPCs attached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400" dirty="0"/>
              <a:t>TGW in eu-west-1 with EU VPCs attached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400" dirty="0"/>
              <a:t>Create TGW Peering Attachment: TGW-US &lt;-&gt; TGW-EU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400" dirty="0"/>
              <a:t>Add routes: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TGW-US: EU CIDR (172.16.0.0/12) -&gt; TGW Peering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TGW-EU: US CIDR (10.0.0.0/8) -&gt; TGW Peering</a:t>
            </a:r>
          </a:p>
          <a:p>
            <a:endParaRPr lang="en-IN" sz="1400" b="1" dirty="0"/>
          </a:p>
          <a:p>
            <a:r>
              <a:rPr lang="en-IN" sz="1400" b="1" dirty="0"/>
              <a:t>TRAFFIC FLOW:</a:t>
            </a:r>
          </a:p>
          <a:p>
            <a:endParaRPr lang="en-IN" sz="1400" b="1" dirty="0"/>
          </a:p>
          <a:p>
            <a:r>
              <a:rPr lang="en-IN" sz="1400" dirty="0"/>
              <a:t>Analytics server in US (10.0.1.5) queries EU database (172.16.1.10)</a:t>
            </a:r>
          </a:p>
          <a:p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 EC2 (10.0.1.5) -&gt; Route: 172.16.0.0/12 via TGW-US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TGW-US -&gt; Route to EU via peering -&gt; TGW-EU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TGW-EU -&gt; Routes to EU Prod VPC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EU Database (172.16.1.10) receives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Response follows same path back</a:t>
            </a:r>
          </a:p>
          <a:p>
            <a:endParaRPr lang="en-IN" sz="1400" dirty="0"/>
          </a:p>
          <a:p>
            <a:r>
              <a:rPr lang="en-IN" sz="1400" dirty="0"/>
              <a:t>LATENCY: ~100-150ms (US &lt;-&gt; EU)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B3C5CF-667A-6ACD-CC0E-68C5C7236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1" y="4064132"/>
            <a:ext cx="4047657" cy="199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8027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68F5D-C6AA-0013-0608-517AADEB1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B0022E-FC7B-BC08-6A7C-D54C98F57B24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dirty="0"/>
              <a:t>AWS Security Hub - Central Security Account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ADFB7E-3039-01A4-6100-7C24D582D768}"/>
              </a:ext>
            </a:extLst>
          </p:cNvPr>
          <p:cNvSpPr txBox="1"/>
          <p:nvPr/>
        </p:nvSpPr>
        <p:spPr>
          <a:xfrm>
            <a:off x="764403" y="1143432"/>
            <a:ext cx="10230167" cy="4583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Centralized security findings across all AWS accounts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What Security Hub Aggregates: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/>
              <a:t>GuardDuty</a:t>
            </a:r>
            <a:r>
              <a:rPr lang="en-US" sz="1400" dirty="0"/>
              <a:t>: Threat detection findings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Inspector: Vulnerability scan results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Macie: Sensitive data discovery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AWS Config: Compliance violations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IAM Access Analyzer: Permission issues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Security Standards: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AWS Foundational Security Best Practices (200+ checks)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CIS AWS Foundations Benchmark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PCI DSS v3.2.1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NIST 800-53</a:t>
            </a:r>
          </a:p>
        </p:txBody>
      </p:sp>
    </p:spTree>
    <p:extLst>
      <p:ext uri="{BB962C8B-B14F-4D97-AF65-F5344CB8AC3E}">
        <p14:creationId xmlns:p14="http://schemas.microsoft.com/office/powerpoint/2010/main" val="2141564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4327-51D1-DA46-D36E-B6402962C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379F46-2F4E-CB29-09B2-40FDDBAFA3BA}"/>
              </a:ext>
            </a:extLst>
          </p:cNvPr>
          <p:cNvSpPr txBox="1"/>
          <p:nvPr/>
        </p:nvSpPr>
        <p:spPr>
          <a:xfrm>
            <a:off x="655546" y="252549"/>
            <a:ext cx="11329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dirty="0"/>
              <a:t>Security Hub - Key Features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6C8ABF-BA09-CD1B-F613-38A6C57B5B87}"/>
              </a:ext>
            </a:extLst>
          </p:cNvPr>
          <p:cNvSpPr txBox="1"/>
          <p:nvPr/>
        </p:nvSpPr>
        <p:spPr>
          <a:xfrm>
            <a:off x="764403" y="1143432"/>
            <a:ext cx="10230167" cy="4583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/>
              <a:t>Finding Types: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Critical: S3 bucket public with sensitive data (immediate action)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High: Unencrypted EBS volumes (action required soon)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Medium/Low: Missing tags, old access keys (review and plan)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Automated Remediation: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/>
              <a:t>EventBridge</a:t>
            </a:r>
            <a:r>
              <a:rPr lang="en-US" sz="1400" dirty="0"/>
              <a:t> detects finding -&gt; Lambda remediates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Example: Auto-block public S3 buckets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Example: Auto-revoke overly permissive security groups</a:t>
            </a:r>
          </a:p>
          <a:p>
            <a:pPr>
              <a:lnSpc>
                <a:spcPct val="150000"/>
              </a:lnSpc>
            </a:pPr>
            <a:endParaRPr lang="en-US" sz="1400" b="1" dirty="0"/>
          </a:p>
          <a:p>
            <a:pPr>
              <a:lnSpc>
                <a:spcPct val="150000"/>
              </a:lnSpc>
            </a:pPr>
            <a:r>
              <a:rPr lang="en-US" sz="1400" b="1" dirty="0"/>
              <a:t>Compliance Reporting: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Organization security score (0-100%)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Compliance status by account, standard,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Automated monthly reports to stakeholders</a:t>
            </a:r>
          </a:p>
        </p:txBody>
      </p:sp>
    </p:spTree>
    <p:extLst>
      <p:ext uri="{BB962C8B-B14F-4D97-AF65-F5344CB8AC3E}">
        <p14:creationId xmlns:p14="http://schemas.microsoft.com/office/powerpoint/2010/main" val="1515317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4235</Words>
  <Application>Microsoft Office PowerPoint</Application>
  <PresentationFormat>Widescreen</PresentationFormat>
  <Paragraphs>685</Paragraphs>
  <Slides>28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Arial</vt:lpstr>
      <vt:lpstr>Calibri</vt:lpstr>
      <vt:lpstr>Courier New</vt:lpstr>
      <vt:lpstr>Wingdings</vt:lpstr>
      <vt:lpstr>Office Theme</vt:lpstr>
      <vt:lpstr>Multi-Account Governance &amp; AWS Control Tower</vt:lpstr>
      <vt:lpstr>PowerPoint Presentation</vt:lpstr>
      <vt:lpstr>PowerPoint Presentation</vt:lpstr>
      <vt:lpstr>Real-World Statistics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KubeCraft Technologies</dc:creator>
  <cp:lastModifiedBy>KubeCraft Technologies</cp:lastModifiedBy>
  <cp:revision>194</cp:revision>
  <dcterms:created xsi:type="dcterms:W3CDTF">2025-11-27T20:35:07Z</dcterms:created>
  <dcterms:modified xsi:type="dcterms:W3CDTF">2026-02-12T18:42:35Z</dcterms:modified>
</cp:coreProperties>
</file>