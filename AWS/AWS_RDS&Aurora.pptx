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82" r:id="rId3"/>
    <p:sldId id="324" r:id="rId4"/>
    <p:sldId id="287" r:id="rId5"/>
    <p:sldId id="332" r:id="rId6"/>
    <p:sldId id="32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AWS RDS &amp; Aurora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4594-5EBA-0C07-6641-A9E82DB7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DBDE-F89E-D3C5-0BBB-C8E4B0E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1048000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Introduction to AWS RDS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99CAC3-3BA2-0987-FB6B-87D09CDC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1120896"/>
            <a:ext cx="10926319" cy="903847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1" dirty="0"/>
              <a:t>Amazon Relational Database Service (RDS) </a:t>
            </a:r>
            <a:r>
              <a:rPr lang="en-US" sz="1400" dirty="0"/>
              <a:t>is a fully managed database service that makes it easy to set up, operate, and scale relational databases in the cloud. 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AWS RDS = Managed Database Infrastructure + Automated Operations + Built-in High Availability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1FF66-6EE8-6748-0B53-6DB2CBA3FE29}"/>
              </a:ext>
            </a:extLst>
          </p:cNvPr>
          <p:cNvSpPr txBox="1"/>
          <p:nvPr/>
        </p:nvSpPr>
        <p:spPr>
          <a:xfrm>
            <a:off x="797594" y="2209800"/>
            <a:ext cx="469969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Traditional Database Management (Self-Managed on EC2):</a:t>
            </a:r>
          </a:p>
          <a:p>
            <a:endParaRPr lang="en-IN" sz="1400" dirty="0"/>
          </a:p>
          <a:p>
            <a:r>
              <a:rPr lang="en-IN" sz="1400" dirty="0"/>
              <a:t>You handle everything manually: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Install and configure database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Patch operating system and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Set up backups manually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Configure replication for high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Monitor performance and scale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Handle failover manually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Manage security patches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Optimize storage and performance</a:t>
            </a:r>
          </a:p>
          <a:p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Time investment: 20-40% of DBA time spent on undifferentiated heavy lifting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3E320-62A6-DD29-389D-C7B38C10462C}"/>
              </a:ext>
            </a:extLst>
          </p:cNvPr>
          <p:cNvSpPr txBox="1"/>
          <p:nvPr/>
        </p:nvSpPr>
        <p:spPr>
          <a:xfrm>
            <a:off x="6487886" y="2231572"/>
            <a:ext cx="52360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With Amazon RDS (Fully Managed) AWS handles the heavy lifting: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Automated provisioning (database ready in minutes)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 patching (OS and database updates)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Automated backups (point-in-time recovery)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 availability with Multi-AZ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 failover (no manual intervention)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Monitoring and metrics (CloudWatch integration)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Scalability (resize compute/storage with downtime window)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Security (encryption at rest and in transit)</a:t>
            </a:r>
          </a:p>
          <a:p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You focus on database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9BDFA-CF2E-E7FA-DB25-04A464131989}"/>
              </a:ext>
            </a:extLst>
          </p:cNvPr>
          <p:cNvSpPr txBox="1"/>
          <p:nvPr/>
        </p:nvSpPr>
        <p:spPr>
          <a:xfrm>
            <a:off x="797594" y="5525172"/>
            <a:ext cx="1102429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RDS supports following  popular database engines: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Commercial Engines:  Oracle Database, Microsoft SQL Server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Open Source Engines: MySQL, PostgreSQL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AWS-Optimized Engine: Amazon Aurora - AWS-built, MySQL and PostgreSQL compatible (covered in detail later)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6238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E570-737F-F905-7321-C628238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36AF0-854B-E868-D13A-2E26259F1AC5}"/>
              </a:ext>
            </a:extLst>
          </p:cNvPr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3600" b="1" dirty="0"/>
              <a:t>RDS Core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5FC40-7E43-2DD5-915C-0B2AD0E9C90B}"/>
              </a:ext>
            </a:extLst>
          </p:cNvPr>
          <p:cNvSpPr txBox="1"/>
          <p:nvPr/>
        </p:nvSpPr>
        <p:spPr>
          <a:xfrm>
            <a:off x="566059" y="920652"/>
            <a:ext cx="4321627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1.) Automated Backups &amp; Point-in-Time Recovery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Automated Backups: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Daily full backup of database during backup window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Transaction logs backed up every 5 minutes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Retention: 0-35 days (configurable, default 7 days)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performance impact during backup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Point-in-Time Recovery (PITR):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Restore database to any second within retention period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Example: Restore to 2:47:32 PM yesterday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Creates new database instance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 case: Accidental data deletion, corruption recovery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Manual Snapshots: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User-initiated backups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Retained indefinitely (until manually deleted)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Can copy snapshots across regions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8F7FE-8058-0059-8F63-AFF6135FD964}"/>
              </a:ext>
            </a:extLst>
          </p:cNvPr>
          <p:cNvSpPr txBox="1"/>
          <p:nvPr/>
        </p:nvSpPr>
        <p:spPr>
          <a:xfrm>
            <a:off x="4887686" y="790023"/>
            <a:ext cx="34507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2. High Availability - Multi-AZ Deployment</a:t>
            </a:r>
          </a:p>
          <a:p>
            <a:endParaRPr lang="en-IN" sz="1400" dirty="0"/>
          </a:p>
          <a:p>
            <a:r>
              <a:rPr lang="en-IN" sz="1400" b="1" dirty="0"/>
              <a:t>What is Multi-AZ in RDS?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RDS maintains synchronous standby replica in different Availability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 failover to standby in case of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US" sz="1400" b="1" dirty="0"/>
              <a:t>Automatic Failover: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Detection: 60-120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DNS update: Connection string remains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Application reconnects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Zero data loss (synchronous replication)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643633-9143-7D0E-B28E-FB47E2EA5832}"/>
              </a:ext>
            </a:extLst>
          </p:cNvPr>
          <p:cNvSpPr txBox="1"/>
          <p:nvPr/>
        </p:nvSpPr>
        <p:spPr>
          <a:xfrm>
            <a:off x="4887686" y="4240795"/>
            <a:ext cx="35814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3. Read Replicas - Horizontal Scaling</a:t>
            </a:r>
          </a:p>
          <a:p>
            <a:endParaRPr lang="en-IN" sz="1400" dirty="0"/>
          </a:p>
          <a:p>
            <a:r>
              <a:rPr lang="en-IN" sz="1400" b="1" dirty="0"/>
              <a:t>What are Read Replicas?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Asynchronous copies of primary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Can create up to 15 read replicas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Offload read traffic from primary instance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58119D-D355-56E5-CCBA-44B3E3D97D2F}"/>
              </a:ext>
            </a:extLst>
          </p:cNvPr>
          <p:cNvSpPr txBox="1"/>
          <p:nvPr/>
        </p:nvSpPr>
        <p:spPr>
          <a:xfrm>
            <a:off x="8338458" y="728054"/>
            <a:ext cx="3363685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4. Scalability Options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Vertical Scaling (Scale Up):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Modify instance class (e.g., db.t3.medium -&gt; db.r5.xlarge)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Requires brief downtime (minutes)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Can schedule during maintenance window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Storage Scaling: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Increase storage size (cannot decrease)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Can enable Storage Auto Scaling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 Scaling: RDS automatically increases storage when threshold reached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Example: 100GB -&gt; auto-scales to 200GB when 90% full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Horizontal Scaling: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Add read replicas for read workload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Distribute read traffic across replicas</a:t>
            </a:r>
          </a:p>
        </p:txBody>
      </p:sp>
    </p:spTree>
    <p:extLst>
      <p:ext uri="{BB962C8B-B14F-4D97-AF65-F5344CB8AC3E}">
        <p14:creationId xmlns:p14="http://schemas.microsoft.com/office/powerpoint/2010/main" val="168610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Introducing Amazon Aurora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86175" y="1097280"/>
            <a:ext cx="10654711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Amazon Aurora is a MySQL and PostgreSQL-compatible </a:t>
            </a:r>
            <a:r>
              <a:rPr lang="en-US" sz="1400" dirty="0"/>
              <a:t>relational database built for the cloud, combining the performance and availability of high-end commercial databases with the simplicity and cost-effectiveness of open-source databases.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Aurora = Cloud-Native Architecture + MySQL/PostgreSQL Compatibility + Enterprise Performance + High Availability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9F1CE-9C6D-0753-D858-C398333B69A1}"/>
              </a:ext>
            </a:extLst>
          </p:cNvPr>
          <p:cNvSpPr txBox="1"/>
          <p:nvPr/>
        </p:nvSpPr>
        <p:spPr>
          <a:xfrm>
            <a:off x="866616" y="2177143"/>
            <a:ext cx="104587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Cloud-Native Applications Need: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Distributed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Resilient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Automatic replication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Horizontal and vertical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availability by default</a:t>
            </a:r>
          </a:p>
          <a:p>
            <a:endParaRPr lang="en-US" sz="1400" dirty="0"/>
          </a:p>
          <a:p>
            <a:r>
              <a:rPr lang="en-US" sz="1400" b="1" dirty="0"/>
              <a:t>Aurora Solution:</a:t>
            </a:r>
          </a:p>
          <a:p>
            <a:r>
              <a:rPr lang="en-US" sz="1400" dirty="0"/>
              <a:t>Built from the ground up for the cloud, leveraging AWS infrastructure for storage, networking, and compute.</a:t>
            </a: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625B0-FD5C-1626-2AC2-32643F0B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F0DD5-0459-3B42-A373-1B6E9166E8C5}"/>
              </a:ext>
            </a:extLst>
          </p:cNvPr>
          <p:cNvSpPr txBox="1"/>
          <p:nvPr/>
        </p:nvSpPr>
        <p:spPr>
          <a:xfrm>
            <a:off x="786175" y="274321"/>
            <a:ext cx="1013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Aurora vs Standard RDS - Key Differences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5307F-CF56-2337-FF44-9C0A803BE5D5}"/>
              </a:ext>
            </a:extLst>
          </p:cNvPr>
          <p:cNvSpPr txBox="1"/>
          <p:nvPr/>
        </p:nvSpPr>
        <p:spPr>
          <a:xfrm>
            <a:off x="768645" y="1097280"/>
            <a:ext cx="3215526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Performance: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Standard RDS (MySQL/PostgreSQL):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Standard database engine performance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Single storage volume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I/O limited by instance and storage type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Aurora: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5x faster than standard MySQL on 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3x faster than standard PostgreSQL on 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Distributed storage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Purpose-built query engine optimizations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F88D4-29F7-3F95-DE6E-F1D35EB67861}"/>
              </a:ext>
            </a:extLst>
          </p:cNvPr>
          <p:cNvSpPr txBox="1"/>
          <p:nvPr/>
        </p:nvSpPr>
        <p:spPr>
          <a:xfrm>
            <a:off x="4615544" y="999308"/>
            <a:ext cx="329837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Availability &amp; Durability:</a:t>
            </a:r>
          </a:p>
          <a:p>
            <a:r>
              <a:rPr lang="en-IN" sz="1400" b="1" dirty="0"/>
              <a:t>Standard 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Multi-AZ: 1 standby replica in different AZ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Manual failover promotion of read replicas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Backup to S3</a:t>
            </a:r>
          </a:p>
          <a:p>
            <a:endParaRPr lang="en-IN" sz="1400" dirty="0"/>
          </a:p>
          <a:p>
            <a:r>
              <a:rPr lang="en-IN" sz="1400" b="1" dirty="0"/>
              <a:t>Aurora: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6 copies of data across 3 Availability Zones (built-in)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Up to 15 read replicas with sub-10ms replication 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 failover (typically &lt; 30 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Self-healing storage (automatically detects and repairs errors)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IN" sz="1400" b="1" dirty="0"/>
              <a:t>IMPORTANT For AURORA:</a:t>
            </a:r>
            <a:r>
              <a:rPr lang="en-IN" sz="1400" dirty="0"/>
              <a:t> </a:t>
            </a:r>
          </a:p>
          <a:p>
            <a:r>
              <a:rPr lang="en-IN" sz="1400" dirty="0"/>
              <a:t>High Availability in compute requires explicit configuration: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Single instance deployment = No automatic failover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Multi-AZ deployment = Add Aurora Replicas in different AZs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15A6F-4675-3207-37ED-42DD95B066A5}"/>
              </a:ext>
            </a:extLst>
          </p:cNvPr>
          <p:cNvSpPr txBox="1"/>
          <p:nvPr/>
        </p:nvSpPr>
        <p:spPr>
          <a:xfrm>
            <a:off x="8545288" y="1097280"/>
            <a:ext cx="299357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Storage:</a:t>
            </a:r>
          </a:p>
          <a:p>
            <a:r>
              <a:rPr lang="en-IN" sz="1400" b="1" dirty="0"/>
              <a:t>Standard 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 size: Define upfront (20GB - 64TB)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Manual scaling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Coupled with compute instance</a:t>
            </a:r>
          </a:p>
          <a:p>
            <a:endParaRPr lang="en-IN" sz="1400" dirty="0"/>
          </a:p>
          <a:p>
            <a:r>
              <a:rPr lang="en-IN" sz="1400" b="1" dirty="0"/>
              <a:t>Aurora: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Storage: Auto-scales in 10GB increments (up to 128TB)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 separated from compute (independent scaling)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Only pay for used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Shared storage across all replicas (no duplicate copies)</a:t>
            </a:r>
          </a:p>
        </p:txBody>
      </p:sp>
    </p:spTree>
    <p:extLst>
      <p:ext uri="{BB962C8B-B14F-4D97-AF65-F5344CB8AC3E}">
        <p14:creationId xmlns:p14="http://schemas.microsoft.com/office/powerpoint/2010/main" val="156609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B221-CCD5-A998-3A75-B0E202F9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43EE1-E581-EA09-34FC-0334C673B30C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Decision Framework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44239-CCC3-8C5A-FC38-DB94FEF67FA5}"/>
              </a:ext>
            </a:extLst>
          </p:cNvPr>
          <p:cNvSpPr txBox="1"/>
          <p:nvPr/>
        </p:nvSpPr>
        <p:spPr>
          <a:xfrm>
            <a:off x="568462" y="1345194"/>
            <a:ext cx="483085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Choose Standard RDS When: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Small databases (&lt; 100GB)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Low to moderate traffic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Specific engine version required (not available in Aurora)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Budget-constrained workloads (small-scale applications)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Using MariaDB, Oracle, or SQL Server (no Aurora equivalent)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Simple use case (single instance sufficient)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A2004-271A-E226-F328-24AA36B4CAC5}"/>
              </a:ext>
            </a:extLst>
          </p:cNvPr>
          <p:cNvSpPr txBox="1"/>
          <p:nvPr/>
        </p:nvSpPr>
        <p:spPr>
          <a:xfrm>
            <a:off x="6346371" y="920652"/>
            <a:ext cx="5429568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Choose Aurora When: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Performance matters (need 5x MySQL, 3x PostgreSQL speed)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Critical data (6 copies across 3 AZs)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Scaling needs (storage auto-scales to 128TB)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Read-heavy workloads (up to 15 read replicas)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Growing databases (unpredictable growth)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Global applications (Aurora Global Database)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Need advanced features (Backtrack, Serverless, Parallel Query)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Want faster failover (30 seconds vs 60-120 seconds)</a:t>
            </a:r>
          </a:p>
        </p:txBody>
      </p:sp>
    </p:spTree>
    <p:extLst>
      <p:ext uri="{BB962C8B-B14F-4D97-AF65-F5344CB8AC3E}">
        <p14:creationId xmlns:p14="http://schemas.microsoft.com/office/powerpoint/2010/main" val="301486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923</Words>
  <Application>Microsoft Office PowerPoint</Application>
  <PresentationFormat>Widescreen</PresentationFormat>
  <Paragraphs>154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Wingdings</vt:lpstr>
      <vt:lpstr>Office Theme</vt:lpstr>
      <vt:lpstr>AWS RDS &amp; Aurora</vt:lpstr>
      <vt:lpstr>Introduction to AWS RDS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185</cp:revision>
  <dcterms:created xsi:type="dcterms:W3CDTF">2025-11-27T20:35:07Z</dcterms:created>
  <dcterms:modified xsi:type="dcterms:W3CDTF">2026-02-12T18:58:29Z</dcterms:modified>
</cp:coreProperties>
</file>