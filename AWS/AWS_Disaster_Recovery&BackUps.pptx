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63" r:id="rId3"/>
    <p:sldId id="282" r:id="rId4"/>
    <p:sldId id="265" r:id="rId5"/>
    <p:sldId id="266" r:id="rId6"/>
    <p:sldId id="274" r:id="rId7"/>
    <p:sldId id="279" r:id="rId8"/>
    <p:sldId id="280" r:id="rId9"/>
    <p:sldId id="281" r:id="rId10"/>
    <p:sldId id="283" r:id="rId11"/>
    <p:sldId id="291" r:id="rId12"/>
    <p:sldId id="284" r:id="rId13"/>
    <p:sldId id="285" r:id="rId14"/>
    <p:sldId id="287" r:id="rId15"/>
    <p:sldId id="288" r:id="rId16"/>
    <p:sldId id="286" r:id="rId17"/>
    <p:sldId id="289" r:id="rId18"/>
    <p:sldId id="2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82802C-EC51-440F-BB63-A4A21723D877}" type="doc">
      <dgm:prSet loTypeId="urn:microsoft.com/office/officeart/2005/8/layout/cycle6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3D685E0-C9D4-4D37-9C53-DDA78E81E50E}">
      <dgm:prSet custT="1"/>
      <dgm:spPr/>
      <dgm:t>
        <a:bodyPr/>
        <a:lstStyle/>
        <a:p>
          <a:r>
            <a:rPr lang="en-IN" sz="1000" dirty="0"/>
            <a:t>1. Normal Operations</a:t>
          </a:r>
        </a:p>
      </dgm:t>
    </dgm:pt>
    <dgm:pt modelId="{917A9412-EA49-43AB-9F43-D8EB3D859ADE}" type="parTrans" cxnId="{72938B1F-D5C5-4E9E-B1AF-0155B35B2F8C}">
      <dgm:prSet/>
      <dgm:spPr/>
      <dgm:t>
        <a:bodyPr/>
        <a:lstStyle/>
        <a:p>
          <a:endParaRPr lang="en-IN"/>
        </a:p>
      </dgm:t>
    </dgm:pt>
    <dgm:pt modelId="{E6BB76C4-ACD0-42A3-B4D0-9261548E8344}" type="sibTrans" cxnId="{72938B1F-D5C5-4E9E-B1AF-0155B35B2F8C}">
      <dgm:prSet/>
      <dgm:spPr/>
      <dgm:t>
        <a:bodyPr/>
        <a:lstStyle/>
        <a:p>
          <a:endParaRPr lang="en-IN"/>
        </a:p>
      </dgm:t>
    </dgm:pt>
    <dgm:pt modelId="{CDA89DAA-B26F-459A-B759-588940BB2CC3}">
      <dgm:prSet custT="1"/>
      <dgm:spPr/>
      <dgm:t>
        <a:bodyPr/>
        <a:lstStyle/>
        <a:p>
          <a:r>
            <a:rPr lang="en-IN" sz="1000" dirty="0"/>
            <a:t>2. Disaster Occurs (fire, earthquake, cyberattack, hardware failure)</a:t>
          </a:r>
        </a:p>
      </dgm:t>
    </dgm:pt>
    <dgm:pt modelId="{C7E49F2B-1147-46D1-9143-3B8602F613B8}" type="parTrans" cxnId="{48A52ED9-016D-4CB8-A7FC-41D4FFD99FB3}">
      <dgm:prSet/>
      <dgm:spPr/>
      <dgm:t>
        <a:bodyPr/>
        <a:lstStyle/>
        <a:p>
          <a:endParaRPr lang="en-IN"/>
        </a:p>
      </dgm:t>
    </dgm:pt>
    <dgm:pt modelId="{DDCA9CF3-60D1-4F06-BA1E-A82187C7085D}" type="sibTrans" cxnId="{48A52ED9-016D-4CB8-A7FC-41D4FFD99FB3}">
      <dgm:prSet/>
      <dgm:spPr/>
      <dgm:t>
        <a:bodyPr/>
        <a:lstStyle/>
        <a:p>
          <a:endParaRPr lang="en-IN"/>
        </a:p>
      </dgm:t>
    </dgm:pt>
    <dgm:pt modelId="{4FE26F4A-7A4F-4C01-AA92-B632B57C0FD3}">
      <dgm:prSet custT="1"/>
      <dgm:spPr/>
      <dgm:t>
        <a:bodyPr/>
        <a:lstStyle/>
        <a:p>
          <a:r>
            <a:rPr lang="en-IN" sz="1000" dirty="0"/>
            <a:t>3. Detection &amp; Assessment (monitoring alerts trigger)</a:t>
          </a:r>
        </a:p>
      </dgm:t>
    </dgm:pt>
    <dgm:pt modelId="{55CDB386-1F56-4756-871D-6BD7A7EE5FD2}" type="parTrans" cxnId="{D21BC3E8-BAB5-44AC-8E55-220738671B01}">
      <dgm:prSet/>
      <dgm:spPr/>
      <dgm:t>
        <a:bodyPr/>
        <a:lstStyle/>
        <a:p>
          <a:endParaRPr lang="en-IN"/>
        </a:p>
      </dgm:t>
    </dgm:pt>
    <dgm:pt modelId="{13568E52-1518-42C9-93FB-8E4E6DADA5DF}" type="sibTrans" cxnId="{D21BC3E8-BAB5-44AC-8E55-220738671B01}">
      <dgm:prSet/>
      <dgm:spPr/>
      <dgm:t>
        <a:bodyPr/>
        <a:lstStyle/>
        <a:p>
          <a:endParaRPr lang="en-IN"/>
        </a:p>
      </dgm:t>
    </dgm:pt>
    <dgm:pt modelId="{149C0C93-68AE-42A3-B9DB-05CD02C7424F}">
      <dgm:prSet custT="1"/>
      <dgm:spPr/>
      <dgm:t>
        <a:bodyPr/>
        <a:lstStyle/>
        <a:p>
          <a:r>
            <a:rPr lang="en-IN" sz="1000" dirty="0"/>
            <a:t>4. Failover Activation (switch to backup site/region)</a:t>
          </a:r>
        </a:p>
      </dgm:t>
    </dgm:pt>
    <dgm:pt modelId="{A9D5D870-197C-4BC2-B126-90B75660205E}" type="parTrans" cxnId="{8393717B-DDCA-4CBD-85DE-4DB8DD78D548}">
      <dgm:prSet/>
      <dgm:spPr/>
      <dgm:t>
        <a:bodyPr/>
        <a:lstStyle/>
        <a:p>
          <a:endParaRPr lang="en-IN"/>
        </a:p>
      </dgm:t>
    </dgm:pt>
    <dgm:pt modelId="{662254CB-AB42-424B-87B1-72350540FE1A}" type="sibTrans" cxnId="{8393717B-DDCA-4CBD-85DE-4DB8DD78D548}">
      <dgm:prSet/>
      <dgm:spPr/>
      <dgm:t>
        <a:bodyPr/>
        <a:lstStyle/>
        <a:p>
          <a:endParaRPr lang="en-IN"/>
        </a:p>
      </dgm:t>
    </dgm:pt>
    <dgm:pt modelId="{2B55EC24-364E-4848-9F72-8D32F8B78EDE}">
      <dgm:prSet custT="1"/>
      <dgm:spPr/>
      <dgm:t>
        <a:bodyPr/>
        <a:lstStyle/>
        <a:p>
          <a:r>
            <a:rPr lang="en-IN" sz="1000" dirty="0"/>
            <a:t>5. Recovery Operations (restore data, restart services)</a:t>
          </a:r>
        </a:p>
      </dgm:t>
    </dgm:pt>
    <dgm:pt modelId="{64DA019E-2ACC-415B-AE69-DBDB2F7890DA}" type="parTrans" cxnId="{E45A4E51-20FD-4086-B7A7-A3B8EB35CD9B}">
      <dgm:prSet/>
      <dgm:spPr/>
      <dgm:t>
        <a:bodyPr/>
        <a:lstStyle/>
        <a:p>
          <a:endParaRPr lang="en-IN"/>
        </a:p>
      </dgm:t>
    </dgm:pt>
    <dgm:pt modelId="{68B0798F-96A9-423F-AD01-2C95C8B46546}" type="sibTrans" cxnId="{E45A4E51-20FD-4086-B7A7-A3B8EB35CD9B}">
      <dgm:prSet/>
      <dgm:spPr/>
      <dgm:t>
        <a:bodyPr/>
        <a:lstStyle/>
        <a:p>
          <a:endParaRPr lang="en-IN"/>
        </a:p>
      </dgm:t>
    </dgm:pt>
    <dgm:pt modelId="{8BFB4CA7-AF9A-442D-9D91-E274B7897626}">
      <dgm:prSet custT="1"/>
      <dgm:spPr/>
      <dgm:t>
        <a:bodyPr/>
        <a:lstStyle/>
        <a:p>
          <a:r>
            <a:rPr lang="en-IN" sz="1000" dirty="0"/>
            <a:t>6. Verification (test that everything works)</a:t>
          </a:r>
        </a:p>
      </dgm:t>
    </dgm:pt>
    <dgm:pt modelId="{29ED803C-EBC5-4167-B2D7-F390D4E9F2A9}" type="parTrans" cxnId="{70B9BA48-CD28-43C0-8BBE-AE68BEA67F4A}">
      <dgm:prSet/>
      <dgm:spPr/>
      <dgm:t>
        <a:bodyPr/>
        <a:lstStyle/>
        <a:p>
          <a:endParaRPr lang="en-IN"/>
        </a:p>
      </dgm:t>
    </dgm:pt>
    <dgm:pt modelId="{797013A7-5B69-49E3-8D42-3F41A4AC380C}" type="sibTrans" cxnId="{70B9BA48-CD28-43C0-8BBE-AE68BEA67F4A}">
      <dgm:prSet/>
      <dgm:spPr/>
      <dgm:t>
        <a:bodyPr/>
        <a:lstStyle/>
        <a:p>
          <a:endParaRPr lang="en-IN"/>
        </a:p>
      </dgm:t>
    </dgm:pt>
    <dgm:pt modelId="{F7840069-3009-4AB7-8767-35CE748B2097}">
      <dgm:prSet custT="1"/>
      <dgm:spPr/>
      <dgm:t>
        <a:bodyPr/>
        <a:lstStyle/>
        <a:p>
          <a:r>
            <a:rPr lang="en-IN" sz="1000" dirty="0"/>
            <a:t>7. Return to Normal (failback to primary site when ready)</a:t>
          </a:r>
        </a:p>
      </dgm:t>
    </dgm:pt>
    <dgm:pt modelId="{CE86EA04-55DE-4043-8160-FFF0FA15D15F}" type="parTrans" cxnId="{E251C4D1-1346-4A8C-BE87-8B8D37627020}">
      <dgm:prSet/>
      <dgm:spPr/>
      <dgm:t>
        <a:bodyPr/>
        <a:lstStyle/>
        <a:p>
          <a:endParaRPr lang="en-IN"/>
        </a:p>
      </dgm:t>
    </dgm:pt>
    <dgm:pt modelId="{1D9F32E0-8DA6-4177-9BBE-45CD10236299}" type="sibTrans" cxnId="{E251C4D1-1346-4A8C-BE87-8B8D37627020}">
      <dgm:prSet/>
      <dgm:spPr/>
      <dgm:t>
        <a:bodyPr/>
        <a:lstStyle/>
        <a:p>
          <a:endParaRPr lang="en-IN"/>
        </a:p>
      </dgm:t>
    </dgm:pt>
    <dgm:pt modelId="{98D398A8-89FC-4A21-BA8B-30063B3C85C6}" type="pres">
      <dgm:prSet presAssocID="{A882802C-EC51-440F-BB63-A4A21723D877}" presName="cycle" presStyleCnt="0">
        <dgm:presLayoutVars>
          <dgm:dir/>
          <dgm:resizeHandles val="exact"/>
        </dgm:presLayoutVars>
      </dgm:prSet>
      <dgm:spPr/>
    </dgm:pt>
    <dgm:pt modelId="{86FBB8A5-3D0B-405C-BB1D-BD8FE189EF81}" type="pres">
      <dgm:prSet presAssocID="{F3D685E0-C9D4-4D37-9C53-DDA78E81E50E}" presName="node" presStyleLbl="node1" presStyleIdx="0" presStyleCnt="7">
        <dgm:presLayoutVars>
          <dgm:bulletEnabled val="1"/>
        </dgm:presLayoutVars>
      </dgm:prSet>
      <dgm:spPr/>
    </dgm:pt>
    <dgm:pt modelId="{09126586-CFD9-4915-983D-EF419D8E8568}" type="pres">
      <dgm:prSet presAssocID="{F3D685E0-C9D4-4D37-9C53-DDA78E81E50E}" presName="spNode" presStyleCnt="0"/>
      <dgm:spPr/>
    </dgm:pt>
    <dgm:pt modelId="{7CBF61D7-5C2E-4259-B711-D523B14CD2DA}" type="pres">
      <dgm:prSet presAssocID="{E6BB76C4-ACD0-42A3-B4D0-9261548E8344}" presName="sibTrans" presStyleLbl="sibTrans1D1" presStyleIdx="0" presStyleCnt="7"/>
      <dgm:spPr/>
    </dgm:pt>
    <dgm:pt modelId="{70415337-D267-44D7-BFF3-9CBE8856B3EF}" type="pres">
      <dgm:prSet presAssocID="{CDA89DAA-B26F-459A-B759-588940BB2CC3}" presName="node" presStyleLbl="node1" presStyleIdx="1" presStyleCnt="7">
        <dgm:presLayoutVars>
          <dgm:bulletEnabled val="1"/>
        </dgm:presLayoutVars>
      </dgm:prSet>
      <dgm:spPr/>
    </dgm:pt>
    <dgm:pt modelId="{ED025E48-DD13-4155-961B-F07D98387DBA}" type="pres">
      <dgm:prSet presAssocID="{CDA89DAA-B26F-459A-B759-588940BB2CC3}" presName="spNode" presStyleCnt="0"/>
      <dgm:spPr/>
    </dgm:pt>
    <dgm:pt modelId="{B3E5D318-6BCA-4FCC-BB78-0ECE3ED92B71}" type="pres">
      <dgm:prSet presAssocID="{DDCA9CF3-60D1-4F06-BA1E-A82187C7085D}" presName="sibTrans" presStyleLbl="sibTrans1D1" presStyleIdx="1" presStyleCnt="7"/>
      <dgm:spPr/>
    </dgm:pt>
    <dgm:pt modelId="{0C919DBD-8AF2-41CC-AC83-88D5C920C0DB}" type="pres">
      <dgm:prSet presAssocID="{4FE26F4A-7A4F-4C01-AA92-B632B57C0FD3}" presName="node" presStyleLbl="node1" presStyleIdx="2" presStyleCnt="7">
        <dgm:presLayoutVars>
          <dgm:bulletEnabled val="1"/>
        </dgm:presLayoutVars>
      </dgm:prSet>
      <dgm:spPr/>
    </dgm:pt>
    <dgm:pt modelId="{84BD8F7F-C699-4A3A-9592-27725B11B6B7}" type="pres">
      <dgm:prSet presAssocID="{4FE26F4A-7A4F-4C01-AA92-B632B57C0FD3}" presName="spNode" presStyleCnt="0"/>
      <dgm:spPr/>
    </dgm:pt>
    <dgm:pt modelId="{0614B242-906C-4DC6-92AD-097AB44EB16E}" type="pres">
      <dgm:prSet presAssocID="{13568E52-1518-42C9-93FB-8E4E6DADA5DF}" presName="sibTrans" presStyleLbl="sibTrans1D1" presStyleIdx="2" presStyleCnt="7"/>
      <dgm:spPr/>
    </dgm:pt>
    <dgm:pt modelId="{DEEB0BCF-630D-45F4-98DC-BB43AA8B71F3}" type="pres">
      <dgm:prSet presAssocID="{149C0C93-68AE-42A3-B9DB-05CD02C7424F}" presName="node" presStyleLbl="node1" presStyleIdx="3" presStyleCnt="7">
        <dgm:presLayoutVars>
          <dgm:bulletEnabled val="1"/>
        </dgm:presLayoutVars>
      </dgm:prSet>
      <dgm:spPr/>
    </dgm:pt>
    <dgm:pt modelId="{3FF5A2E7-2E76-4AD5-BE68-CD5D11C871FB}" type="pres">
      <dgm:prSet presAssocID="{149C0C93-68AE-42A3-B9DB-05CD02C7424F}" presName="spNode" presStyleCnt="0"/>
      <dgm:spPr/>
    </dgm:pt>
    <dgm:pt modelId="{3361CD5D-1B4D-4C12-A915-A0B979AD0589}" type="pres">
      <dgm:prSet presAssocID="{662254CB-AB42-424B-87B1-72350540FE1A}" presName="sibTrans" presStyleLbl="sibTrans1D1" presStyleIdx="3" presStyleCnt="7"/>
      <dgm:spPr/>
    </dgm:pt>
    <dgm:pt modelId="{7426668D-1BBC-46AC-80D1-8E2EA0843256}" type="pres">
      <dgm:prSet presAssocID="{2B55EC24-364E-4848-9F72-8D32F8B78EDE}" presName="node" presStyleLbl="node1" presStyleIdx="4" presStyleCnt="7">
        <dgm:presLayoutVars>
          <dgm:bulletEnabled val="1"/>
        </dgm:presLayoutVars>
      </dgm:prSet>
      <dgm:spPr/>
    </dgm:pt>
    <dgm:pt modelId="{A67E5345-0679-4A20-BF25-3E65A6920A54}" type="pres">
      <dgm:prSet presAssocID="{2B55EC24-364E-4848-9F72-8D32F8B78EDE}" presName="spNode" presStyleCnt="0"/>
      <dgm:spPr/>
    </dgm:pt>
    <dgm:pt modelId="{1775FE7C-E616-4E45-A301-4DE250A6A751}" type="pres">
      <dgm:prSet presAssocID="{68B0798F-96A9-423F-AD01-2C95C8B46546}" presName="sibTrans" presStyleLbl="sibTrans1D1" presStyleIdx="4" presStyleCnt="7"/>
      <dgm:spPr/>
    </dgm:pt>
    <dgm:pt modelId="{E8642D44-EF45-4A6D-A887-F518FB537453}" type="pres">
      <dgm:prSet presAssocID="{8BFB4CA7-AF9A-442D-9D91-E274B7897626}" presName="node" presStyleLbl="node1" presStyleIdx="5" presStyleCnt="7">
        <dgm:presLayoutVars>
          <dgm:bulletEnabled val="1"/>
        </dgm:presLayoutVars>
      </dgm:prSet>
      <dgm:spPr/>
    </dgm:pt>
    <dgm:pt modelId="{0692371C-971F-4CEB-A0E9-4F26CB1C06B1}" type="pres">
      <dgm:prSet presAssocID="{8BFB4CA7-AF9A-442D-9D91-E274B7897626}" presName="spNode" presStyleCnt="0"/>
      <dgm:spPr/>
    </dgm:pt>
    <dgm:pt modelId="{0C15C13D-3411-45C9-9D95-3B2AF3E26AA7}" type="pres">
      <dgm:prSet presAssocID="{797013A7-5B69-49E3-8D42-3F41A4AC380C}" presName="sibTrans" presStyleLbl="sibTrans1D1" presStyleIdx="5" presStyleCnt="7"/>
      <dgm:spPr/>
    </dgm:pt>
    <dgm:pt modelId="{26C006EA-93BD-49D2-8950-7102449EC5AF}" type="pres">
      <dgm:prSet presAssocID="{F7840069-3009-4AB7-8767-35CE748B2097}" presName="node" presStyleLbl="node1" presStyleIdx="6" presStyleCnt="7">
        <dgm:presLayoutVars>
          <dgm:bulletEnabled val="1"/>
        </dgm:presLayoutVars>
      </dgm:prSet>
      <dgm:spPr/>
    </dgm:pt>
    <dgm:pt modelId="{E47FC699-2639-4124-A782-BFC9FC609613}" type="pres">
      <dgm:prSet presAssocID="{F7840069-3009-4AB7-8767-35CE748B2097}" presName="spNode" presStyleCnt="0"/>
      <dgm:spPr/>
    </dgm:pt>
    <dgm:pt modelId="{11DE8996-6ECC-4038-9EBC-1B2A1407654D}" type="pres">
      <dgm:prSet presAssocID="{1D9F32E0-8DA6-4177-9BBE-45CD10236299}" presName="sibTrans" presStyleLbl="sibTrans1D1" presStyleIdx="6" presStyleCnt="7"/>
      <dgm:spPr/>
    </dgm:pt>
  </dgm:ptLst>
  <dgm:cxnLst>
    <dgm:cxn modelId="{3ADCE601-336C-4CF9-AF8E-F6A2F402B305}" type="presOf" srcId="{E6BB76C4-ACD0-42A3-B4D0-9261548E8344}" destId="{7CBF61D7-5C2E-4259-B711-D523B14CD2DA}" srcOrd="0" destOrd="0" presId="urn:microsoft.com/office/officeart/2005/8/layout/cycle6"/>
    <dgm:cxn modelId="{72938B1F-D5C5-4E9E-B1AF-0155B35B2F8C}" srcId="{A882802C-EC51-440F-BB63-A4A21723D877}" destId="{F3D685E0-C9D4-4D37-9C53-DDA78E81E50E}" srcOrd="0" destOrd="0" parTransId="{917A9412-EA49-43AB-9F43-D8EB3D859ADE}" sibTransId="{E6BB76C4-ACD0-42A3-B4D0-9261548E8344}"/>
    <dgm:cxn modelId="{5D246224-8478-4584-8CB5-1171DE045580}" type="presOf" srcId="{CDA89DAA-B26F-459A-B759-588940BB2CC3}" destId="{70415337-D267-44D7-BFF3-9CBE8856B3EF}" srcOrd="0" destOrd="0" presId="urn:microsoft.com/office/officeart/2005/8/layout/cycle6"/>
    <dgm:cxn modelId="{7B27EF5B-0550-4747-A910-21AA946AF190}" type="presOf" srcId="{4FE26F4A-7A4F-4C01-AA92-B632B57C0FD3}" destId="{0C919DBD-8AF2-41CC-AC83-88D5C920C0DB}" srcOrd="0" destOrd="0" presId="urn:microsoft.com/office/officeart/2005/8/layout/cycle6"/>
    <dgm:cxn modelId="{3753235F-9537-47E2-8BA9-3C556B3BA1AA}" type="presOf" srcId="{1D9F32E0-8DA6-4177-9BBE-45CD10236299}" destId="{11DE8996-6ECC-4038-9EBC-1B2A1407654D}" srcOrd="0" destOrd="0" presId="urn:microsoft.com/office/officeart/2005/8/layout/cycle6"/>
    <dgm:cxn modelId="{DBFF2068-971E-43CC-9820-7A3C9AAB683E}" type="presOf" srcId="{68B0798F-96A9-423F-AD01-2C95C8B46546}" destId="{1775FE7C-E616-4E45-A301-4DE250A6A751}" srcOrd="0" destOrd="0" presId="urn:microsoft.com/office/officeart/2005/8/layout/cycle6"/>
    <dgm:cxn modelId="{70B9BA48-CD28-43C0-8BBE-AE68BEA67F4A}" srcId="{A882802C-EC51-440F-BB63-A4A21723D877}" destId="{8BFB4CA7-AF9A-442D-9D91-E274B7897626}" srcOrd="5" destOrd="0" parTransId="{29ED803C-EBC5-4167-B2D7-F390D4E9F2A9}" sibTransId="{797013A7-5B69-49E3-8D42-3F41A4AC380C}"/>
    <dgm:cxn modelId="{4719F050-937E-4BF0-9838-7B06D24F6D0A}" type="presOf" srcId="{8BFB4CA7-AF9A-442D-9D91-E274B7897626}" destId="{E8642D44-EF45-4A6D-A887-F518FB537453}" srcOrd="0" destOrd="0" presId="urn:microsoft.com/office/officeart/2005/8/layout/cycle6"/>
    <dgm:cxn modelId="{E45A4E51-20FD-4086-B7A7-A3B8EB35CD9B}" srcId="{A882802C-EC51-440F-BB63-A4A21723D877}" destId="{2B55EC24-364E-4848-9F72-8D32F8B78EDE}" srcOrd="4" destOrd="0" parTransId="{64DA019E-2ACC-415B-AE69-DBDB2F7890DA}" sibTransId="{68B0798F-96A9-423F-AD01-2C95C8B46546}"/>
    <dgm:cxn modelId="{5F5C3F52-AF50-4CEC-893B-2954CCB1DB70}" type="presOf" srcId="{797013A7-5B69-49E3-8D42-3F41A4AC380C}" destId="{0C15C13D-3411-45C9-9D95-3B2AF3E26AA7}" srcOrd="0" destOrd="0" presId="urn:microsoft.com/office/officeart/2005/8/layout/cycle6"/>
    <dgm:cxn modelId="{8393717B-DDCA-4CBD-85DE-4DB8DD78D548}" srcId="{A882802C-EC51-440F-BB63-A4A21723D877}" destId="{149C0C93-68AE-42A3-B9DB-05CD02C7424F}" srcOrd="3" destOrd="0" parTransId="{A9D5D870-197C-4BC2-B126-90B75660205E}" sibTransId="{662254CB-AB42-424B-87B1-72350540FE1A}"/>
    <dgm:cxn modelId="{3DA8D59B-B2C8-47CA-812C-E2EFACDD8725}" type="presOf" srcId="{2B55EC24-364E-4848-9F72-8D32F8B78EDE}" destId="{7426668D-1BBC-46AC-80D1-8E2EA0843256}" srcOrd="0" destOrd="0" presId="urn:microsoft.com/office/officeart/2005/8/layout/cycle6"/>
    <dgm:cxn modelId="{FE7CC39C-AE11-484C-9603-E1468565EBA4}" type="presOf" srcId="{149C0C93-68AE-42A3-B9DB-05CD02C7424F}" destId="{DEEB0BCF-630D-45F4-98DC-BB43AA8B71F3}" srcOrd="0" destOrd="0" presId="urn:microsoft.com/office/officeart/2005/8/layout/cycle6"/>
    <dgm:cxn modelId="{BF87E9B6-FA23-4287-9FA0-9B6338419A2A}" type="presOf" srcId="{F7840069-3009-4AB7-8767-35CE748B2097}" destId="{26C006EA-93BD-49D2-8950-7102449EC5AF}" srcOrd="0" destOrd="0" presId="urn:microsoft.com/office/officeart/2005/8/layout/cycle6"/>
    <dgm:cxn modelId="{2106F2CB-82B1-4F4B-89B5-BDED36A5149D}" type="presOf" srcId="{A882802C-EC51-440F-BB63-A4A21723D877}" destId="{98D398A8-89FC-4A21-BA8B-30063B3C85C6}" srcOrd="0" destOrd="0" presId="urn:microsoft.com/office/officeart/2005/8/layout/cycle6"/>
    <dgm:cxn modelId="{E251C4D1-1346-4A8C-BE87-8B8D37627020}" srcId="{A882802C-EC51-440F-BB63-A4A21723D877}" destId="{F7840069-3009-4AB7-8767-35CE748B2097}" srcOrd="6" destOrd="0" parTransId="{CE86EA04-55DE-4043-8160-FFF0FA15D15F}" sibTransId="{1D9F32E0-8DA6-4177-9BBE-45CD10236299}"/>
    <dgm:cxn modelId="{48A52ED9-016D-4CB8-A7FC-41D4FFD99FB3}" srcId="{A882802C-EC51-440F-BB63-A4A21723D877}" destId="{CDA89DAA-B26F-459A-B759-588940BB2CC3}" srcOrd="1" destOrd="0" parTransId="{C7E49F2B-1147-46D1-9143-3B8602F613B8}" sibTransId="{DDCA9CF3-60D1-4F06-BA1E-A82187C7085D}"/>
    <dgm:cxn modelId="{FE53DDE5-AD9A-494D-85B4-1A5FFE8D5CF2}" type="presOf" srcId="{13568E52-1518-42C9-93FB-8E4E6DADA5DF}" destId="{0614B242-906C-4DC6-92AD-097AB44EB16E}" srcOrd="0" destOrd="0" presId="urn:microsoft.com/office/officeart/2005/8/layout/cycle6"/>
    <dgm:cxn modelId="{D21BC3E8-BAB5-44AC-8E55-220738671B01}" srcId="{A882802C-EC51-440F-BB63-A4A21723D877}" destId="{4FE26F4A-7A4F-4C01-AA92-B632B57C0FD3}" srcOrd="2" destOrd="0" parTransId="{55CDB386-1F56-4756-871D-6BD7A7EE5FD2}" sibTransId="{13568E52-1518-42C9-93FB-8E4E6DADA5DF}"/>
    <dgm:cxn modelId="{82AF43EC-37A4-401D-A1AE-5BFB21332014}" type="presOf" srcId="{F3D685E0-C9D4-4D37-9C53-DDA78E81E50E}" destId="{86FBB8A5-3D0B-405C-BB1D-BD8FE189EF81}" srcOrd="0" destOrd="0" presId="urn:microsoft.com/office/officeart/2005/8/layout/cycle6"/>
    <dgm:cxn modelId="{56CC57F5-B7AA-4B7A-A875-E0A4D587EE2E}" type="presOf" srcId="{662254CB-AB42-424B-87B1-72350540FE1A}" destId="{3361CD5D-1B4D-4C12-A915-A0B979AD0589}" srcOrd="0" destOrd="0" presId="urn:microsoft.com/office/officeart/2005/8/layout/cycle6"/>
    <dgm:cxn modelId="{705C85F6-A80A-43A9-8A9E-58BC2C9823A1}" type="presOf" srcId="{DDCA9CF3-60D1-4F06-BA1E-A82187C7085D}" destId="{B3E5D318-6BCA-4FCC-BB78-0ECE3ED92B71}" srcOrd="0" destOrd="0" presId="urn:microsoft.com/office/officeart/2005/8/layout/cycle6"/>
    <dgm:cxn modelId="{7FCEE74E-AF68-4399-AAF0-EEF5AC203D0E}" type="presParOf" srcId="{98D398A8-89FC-4A21-BA8B-30063B3C85C6}" destId="{86FBB8A5-3D0B-405C-BB1D-BD8FE189EF81}" srcOrd="0" destOrd="0" presId="urn:microsoft.com/office/officeart/2005/8/layout/cycle6"/>
    <dgm:cxn modelId="{01BE5596-487D-4424-9144-744D488427F6}" type="presParOf" srcId="{98D398A8-89FC-4A21-BA8B-30063B3C85C6}" destId="{09126586-CFD9-4915-983D-EF419D8E8568}" srcOrd="1" destOrd="0" presId="urn:microsoft.com/office/officeart/2005/8/layout/cycle6"/>
    <dgm:cxn modelId="{A7EEB5BB-BDA0-42A4-A05B-E20C88A01D94}" type="presParOf" srcId="{98D398A8-89FC-4A21-BA8B-30063B3C85C6}" destId="{7CBF61D7-5C2E-4259-B711-D523B14CD2DA}" srcOrd="2" destOrd="0" presId="urn:microsoft.com/office/officeart/2005/8/layout/cycle6"/>
    <dgm:cxn modelId="{D05787B4-5125-4A03-B287-D11512A46096}" type="presParOf" srcId="{98D398A8-89FC-4A21-BA8B-30063B3C85C6}" destId="{70415337-D267-44D7-BFF3-9CBE8856B3EF}" srcOrd="3" destOrd="0" presId="urn:microsoft.com/office/officeart/2005/8/layout/cycle6"/>
    <dgm:cxn modelId="{0213A6B9-B523-4911-ADE4-E2BDD155B697}" type="presParOf" srcId="{98D398A8-89FC-4A21-BA8B-30063B3C85C6}" destId="{ED025E48-DD13-4155-961B-F07D98387DBA}" srcOrd="4" destOrd="0" presId="urn:microsoft.com/office/officeart/2005/8/layout/cycle6"/>
    <dgm:cxn modelId="{96938F37-6EFC-4DFF-9D1F-E20FF6919794}" type="presParOf" srcId="{98D398A8-89FC-4A21-BA8B-30063B3C85C6}" destId="{B3E5D318-6BCA-4FCC-BB78-0ECE3ED92B71}" srcOrd="5" destOrd="0" presId="urn:microsoft.com/office/officeart/2005/8/layout/cycle6"/>
    <dgm:cxn modelId="{903C263C-A898-4658-A8A0-79C65AD5EFF8}" type="presParOf" srcId="{98D398A8-89FC-4A21-BA8B-30063B3C85C6}" destId="{0C919DBD-8AF2-41CC-AC83-88D5C920C0DB}" srcOrd="6" destOrd="0" presId="urn:microsoft.com/office/officeart/2005/8/layout/cycle6"/>
    <dgm:cxn modelId="{DF80536B-AA72-4206-A005-CD13435C8F08}" type="presParOf" srcId="{98D398A8-89FC-4A21-BA8B-30063B3C85C6}" destId="{84BD8F7F-C699-4A3A-9592-27725B11B6B7}" srcOrd="7" destOrd="0" presId="urn:microsoft.com/office/officeart/2005/8/layout/cycle6"/>
    <dgm:cxn modelId="{6A3F3D84-2A9E-48B9-9FAA-F91137893D6A}" type="presParOf" srcId="{98D398A8-89FC-4A21-BA8B-30063B3C85C6}" destId="{0614B242-906C-4DC6-92AD-097AB44EB16E}" srcOrd="8" destOrd="0" presId="urn:microsoft.com/office/officeart/2005/8/layout/cycle6"/>
    <dgm:cxn modelId="{E0500ABA-A305-4529-A941-735AA7C0150A}" type="presParOf" srcId="{98D398A8-89FC-4A21-BA8B-30063B3C85C6}" destId="{DEEB0BCF-630D-45F4-98DC-BB43AA8B71F3}" srcOrd="9" destOrd="0" presId="urn:microsoft.com/office/officeart/2005/8/layout/cycle6"/>
    <dgm:cxn modelId="{A74D08E2-9E07-4AE9-A473-551B56AFE017}" type="presParOf" srcId="{98D398A8-89FC-4A21-BA8B-30063B3C85C6}" destId="{3FF5A2E7-2E76-4AD5-BE68-CD5D11C871FB}" srcOrd="10" destOrd="0" presId="urn:microsoft.com/office/officeart/2005/8/layout/cycle6"/>
    <dgm:cxn modelId="{181396FB-06E6-4111-B570-EADD46F9AB2A}" type="presParOf" srcId="{98D398A8-89FC-4A21-BA8B-30063B3C85C6}" destId="{3361CD5D-1B4D-4C12-A915-A0B979AD0589}" srcOrd="11" destOrd="0" presId="urn:microsoft.com/office/officeart/2005/8/layout/cycle6"/>
    <dgm:cxn modelId="{A8983F36-951F-430F-9CE0-7428072050FB}" type="presParOf" srcId="{98D398A8-89FC-4A21-BA8B-30063B3C85C6}" destId="{7426668D-1BBC-46AC-80D1-8E2EA0843256}" srcOrd="12" destOrd="0" presId="urn:microsoft.com/office/officeart/2005/8/layout/cycle6"/>
    <dgm:cxn modelId="{ED40FC41-C067-47CE-A1B8-FFDCB48321E1}" type="presParOf" srcId="{98D398A8-89FC-4A21-BA8B-30063B3C85C6}" destId="{A67E5345-0679-4A20-BF25-3E65A6920A54}" srcOrd="13" destOrd="0" presId="urn:microsoft.com/office/officeart/2005/8/layout/cycle6"/>
    <dgm:cxn modelId="{BEB1ADC4-640E-4053-AEB8-7438EF3E0DF3}" type="presParOf" srcId="{98D398A8-89FC-4A21-BA8B-30063B3C85C6}" destId="{1775FE7C-E616-4E45-A301-4DE250A6A751}" srcOrd="14" destOrd="0" presId="urn:microsoft.com/office/officeart/2005/8/layout/cycle6"/>
    <dgm:cxn modelId="{C40AE542-3EA9-47E9-9717-BA81846697CE}" type="presParOf" srcId="{98D398A8-89FC-4A21-BA8B-30063B3C85C6}" destId="{E8642D44-EF45-4A6D-A887-F518FB537453}" srcOrd="15" destOrd="0" presId="urn:microsoft.com/office/officeart/2005/8/layout/cycle6"/>
    <dgm:cxn modelId="{0DA7FA63-4AFE-4130-9C0D-080DDD4EAD53}" type="presParOf" srcId="{98D398A8-89FC-4A21-BA8B-30063B3C85C6}" destId="{0692371C-971F-4CEB-A0E9-4F26CB1C06B1}" srcOrd="16" destOrd="0" presId="urn:microsoft.com/office/officeart/2005/8/layout/cycle6"/>
    <dgm:cxn modelId="{69A4412D-E98C-4F24-872A-330A91C87343}" type="presParOf" srcId="{98D398A8-89FC-4A21-BA8B-30063B3C85C6}" destId="{0C15C13D-3411-45C9-9D95-3B2AF3E26AA7}" srcOrd="17" destOrd="0" presId="urn:microsoft.com/office/officeart/2005/8/layout/cycle6"/>
    <dgm:cxn modelId="{6A283149-C83A-4C7B-88C7-FD427A0780E1}" type="presParOf" srcId="{98D398A8-89FC-4A21-BA8B-30063B3C85C6}" destId="{26C006EA-93BD-49D2-8950-7102449EC5AF}" srcOrd="18" destOrd="0" presId="urn:microsoft.com/office/officeart/2005/8/layout/cycle6"/>
    <dgm:cxn modelId="{5B12ED53-2475-4DF3-8799-74236536CA0F}" type="presParOf" srcId="{98D398A8-89FC-4A21-BA8B-30063B3C85C6}" destId="{E47FC699-2639-4124-A782-BFC9FC609613}" srcOrd="19" destOrd="0" presId="urn:microsoft.com/office/officeart/2005/8/layout/cycle6"/>
    <dgm:cxn modelId="{22B0D49F-8CA3-4630-9251-C931963A6F2B}" type="presParOf" srcId="{98D398A8-89FC-4A21-BA8B-30063B3C85C6}" destId="{11DE8996-6ECC-4038-9EBC-1B2A1407654D}" srcOrd="2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BB8A5-3D0B-405C-BB1D-BD8FE189EF81}">
      <dsp:nvSpPr>
        <dsp:cNvPr id="0" name=""/>
        <dsp:cNvSpPr/>
      </dsp:nvSpPr>
      <dsp:spPr>
        <a:xfrm>
          <a:off x="2328639" y="2755"/>
          <a:ext cx="1133921" cy="73704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1. Normal Operations</a:t>
          </a:r>
        </a:p>
      </dsp:txBody>
      <dsp:txXfrm>
        <a:off x="2364619" y="38735"/>
        <a:ext cx="1061961" cy="665088"/>
      </dsp:txXfrm>
    </dsp:sp>
    <dsp:sp modelId="{7CBF61D7-5C2E-4259-B711-D523B14CD2DA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2678998" y="79925"/>
              </a:moveTo>
              <a:arcTo wR="2104524" hR="2104524" stAng="17150468" swAng="1256982"/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415337-D267-44D7-BFF3-9CBE8856B3EF}">
      <dsp:nvSpPr>
        <dsp:cNvPr id="0" name=""/>
        <dsp:cNvSpPr/>
      </dsp:nvSpPr>
      <dsp:spPr>
        <a:xfrm>
          <a:off x="3974022" y="795130"/>
          <a:ext cx="1133921" cy="737048"/>
        </a:xfrm>
        <a:prstGeom prst="roundRect">
          <a:avLst/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2. Disaster Occurs (fire, earthquake, cyberattack, hardware failure)</a:t>
          </a:r>
        </a:p>
      </dsp:txBody>
      <dsp:txXfrm>
        <a:off x="4010002" y="831110"/>
        <a:ext cx="1061961" cy="665088"/>
      </dsp:txXfrm>
    </dsp:sp>
    <dsp:sp modelId="{B3E5D318-6BCA-4FCC-BB78-0ECE3ED92B71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3990397" y="1170444"/>
              </a:moveTo>
              <a:arcTo wR="2104524" hR="2104524" stAng="20019038" swAng="1726586"/>
            </a:path>
          </a:pathLst>
        </a:custGeom>
        <a:noFill/>
        <a:ln w="12700" cap="flat" cmpd="sng" algn="ctr">
          <a:solidFill>
            <a:schemeClr val="accent5">
              <a:hueOff val="-2025358"/>
              <a:satOff val="-138"/>
              <a:lumOff val="32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919DBD-8AF2-41CC-AC83-88D5C920C0DB}">
      <dsp:nvSpPr>
        <dsp:cNvPr id="0" name=""/>
        <dsp:cNvSpPr/>
      </dsp:nvSpPr>
      <dsp:spPr>
        <a:xfrm>
          <a:off x="4380398" y="2575580"/>
          <a:ext cx="1133921" cy="737048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3. Detection &amp; Assessment (monitoring alerts trigger)</a:t>
          </a:r>
        </a:p>
      </dsp:txBody>
      <dsp:txXfrm>
        <a:off x="4416378" y="2611560"/>
        <a:ext cx="1061961" cy="665088"/>
      </dsp:txXfrm>
    </dsp:sp>
    <dsp:sp modelId="{0614B242-906C-4DC6-92AD-097AB44EB16E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4032152" y="2949078"/>
              </a:moveTo>
              <a:arcTo wR="2104524" hR="2104524" stAng="1419584" swAng="1359061"/>
            </a:path>
          </a:pathLst>
        </a:custGeom>
        <a:noFill/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EB0BCF-630D-45F4-98DC-BB43AA8B71F3}">
      <dsp:nvSpPr>
        <dsp:cNvPr id="0" name=""/>
        <dsp:cNvSpPr/>
      </dsp:nvSpPr>
      <dsp:spPr>
        <a:xfrm>
          <a:off x="3241758" y="4003390"/>
          <a:ext cx="1133921" cy="737048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4. Failover Activation (switch to backup site/region)</a:t>
          </a:r>
        </a:p>
      </dsp:txBody>
      <dsp:txXfrm>
        <a:off x="3277738" y="4039370"/>
        <a:ext cx="1061961" cy="665088"/>
      </dsp:txXfrm>
    </dsp:sp>
    <dsp:sp modelId="{3361CD5D-1B4D-4C12-A915-A0B979AD0589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2443851" y="4181512"/>
              </a:moveTo>
              <a:arcTo wR="2104524" hR="2104524" stAng="4843277" swAng="1113445"/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26668D-1BBC-46AC-80D1-8E2EA0843256}">
      <dsp:nvSpPr>
        <dsp:cNvPr id="0" name=""/>
        <dsp:cNvSpPr/>
      </dsp:nvSpPr>
      <dsp:spPr>
        <a:xfrm>
          <a:off x="1415520" y="4003390"/>
          <a:ext cx="1133921" cy="737048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5. Recovery Operations (restore data, restart services)</a:t>
          </a:r>
        </a:p>
      </dsp:txBody>
      <dsp:txXfrm>
        <a:off x="1451500" y="4039370"/>
        <a:ext cx="1061961" cy="665088"/>
      </dsp:txXfrm>
    </dsp:sp>
    <dsp:sp modelId="{1775FE7C-E616-4E45-A301-4DE250A6A751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650831" y="3626299"/>
              </a:moveTo>
              <a:arcTo wR="2104524" hR="2104524" stAng="8021355" swAng="1359061"/>
            </a:path>
          </a:pathLst>
        </a:custGeom>
        <a:noFill/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642D44-EF45-4A6D-A887-F518FB537453}">
      <dsp:nvSpPr>
        <dsp:cNvPr id="0" name=""/>
        <dsp:cNvSpPr/>
      </dsp:nvSpPr>
      <dsp:spPr>
        <a:xfrm>
          <a:off x="276879" y="2575580"/>
          <a:ext cx="1133921" cy="737048"/>
        </a:xfrm>
        <a:prstGeom prst="roundRect">
          <a:avLst/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6. Verification (test that everything works)</a:t>
          </a:r>
        </a:p>
      </dsp:txBody>
      <dsp:txXfrm>
        <a:off x="312859" y="2611560"/>
        <a:ext cx="1061961" cy="665088"/>
      </dsp:txXfrm>
    </dsp:sp>
    <dsp:sp modelId="{0C15C13D-3411-45C9-9D95-3B2AF3E26AA7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1887" y="2193645"/>
              </a:moveTo>
              <a:arcTo wR="2104524" hR="2104524" stAng="10654376" swAng="1726586"/>
            </a:path>
          </a:pathLst>
        </a:custGeom>
        <a:noFill/>
        <a:ln w="12700" cap="flat" cmpd="sng" algn="ctr">
          <a:solidFill>
            <a:schemeClr val="accent5">
              <a:hueOff val="-10126791"/>
              <a:satOff val="-688"/>
              <a:lumOff val="16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006EA-93BD-49D2-8950-7102449EC5AF}">
      <dsp:nvSpPr>
        <dsp:cNvPr id="0" name=""/>
        <dsp:cNvSpPr/>
      </dsp:nvSpPr>
      <dsp:spPr>
        <a:xfrm>
          <a:off x="683255" y="795130"/>
          <a:ext cx="1133921" cy="73704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7. Return to Normal (failback to primary site when ready)</a:t>
          </a:r>
        </a:p>
      </dsp:txBody>
      <dsp:txXfrm>
        <a:off x="719235" y="831110"/>
        <a:ext cx="1061961" cy="665088"/>
      </dsp:txXfrm>
    </dsp:sp>
    <dsp:sp modelId="{11DE8996-6ECC-4038-9EBC-1B2A1407654D}">
      <dsp:nvSpPr>
        <dsp:cNvPr id="0" name=""/>
        <dsp:cNvSpPr/>
      </dsp:nvSpPr>
      <dsp:spPr>
        <a:xfrm>
          <a:off x="791075" y="371279"/>
          <a:ext cx="4209048" cy="4209048"/>
        </a:xfrm>
        <a:custGeom>
          <a:avLst/>
          <a:gdLst/>
          <a:ahLst/>
          <a:cxnLst/>
          <a:rect l="0" t="0" r="0" b="0"/>
          <a:pathLst>
            <a:path>
              <a:moveTo>
                <a:pt x="844134" y="419164"/>
              </a:moveTo>
              <a:arcTo wR="2104524" hR="2104524" stAng="13992550" swAng="1256982"/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8AD19-BCF0-C094-4CDD-E794F225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9C8C8-31B0-EF9C-2D3E-BFFFD0F92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3AC4A-64DE-7991-386D-D4C007FED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4249B-FD95-22A5-65C2-DADA1147A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417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1E1D-F73B-4F16-4B53-B6D9A2BE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D80F7-BDC1-8E47-23AC-305882403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D522B-A269-241C-BF35-3B2413FB6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97B3E-E8E0-9864-D2CE-7A0DDD3F0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11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D615-B891-E4E5-5437-8164DD0E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597A9-7CEA-8D10-0998-74318F997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DECEA-5273-8E55-C3E6-D2BC79AEA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FCAFF-73C4-8007-BD8B-CF550BBEB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816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9" y="2068973"/>
            <a:ext cx="8893628" cy="3134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Disaster Recovery &amp; Backups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2559-4030-008D-445A-366C8662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ABD87-BF18-5F16-450F-ECC297BEF4F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Disaster Recovery (DR)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B0F1B-EB26-64E4-8788-9E4D1F96BE32}"/>
              </a:ext>
            </a:extLst>
          </p:cNvPr>
          <p:cNvSpPr txBox="1"/>
          <p:nvPr/>
        </p:nvSpPr>
        <p:spPr>
          <a:xfrm>
            <a:off x="696685" y="1177409"/>
            <a:ext cx="100148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b="1" i="1" dirty="0"/>
              <a:t>Plan to get your applications running again after following a natural or human-induced disaster.</a:t>
            </a:r>
            <a:endParaRPr lang="en-US" sz="16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A3D17-CD40-AFFC-1049-CA074F9EC55E}"/>
              </a:ext>
            </a:extLst>
          </p:cNvPr>
          <p:cNvSpPr txBox="1"/>
          <p:nvPr/>
        </p:nvSpPr>
        <p:spPr>
          <a:xfrm>
            <a:off x="696685" y="1752600"/>
            <a:ext cx="4659086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Types of Disasters: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r>
              <a:rPr lang="en-IN" sz="1400" b="1" dirty="0"/>
              <a:t>1. Natural Disasters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Earthquakes, floods, hurricanes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Power outages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Fires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r>
              <a:rPr lang="en-IN" sz="1400" b="1" dirty="0"/>
              <a:t>2. Technical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Hardware failures (server, disk, network)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Entire AWS region goes 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Internet backbone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DNS provider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Data center cooling/power system failures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r>
              <a:rPr lang="en-IN" sz="1400" b="1" dirty="0"/>
              <a:t>3. Human-Caused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Cyberattacks (ransomware, DDoS)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Human error (accidental deletion, misconfigurations)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Malicious insiders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Software bugs causing outages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FCD58-D32B-6E0B-FB56-067E4568B633}"/>
              </a:ext>
            </a:extLst>
          </p:cNvPr>
          <p:cNvSpPr txBox="1"/>
          <p:nvPr/>
        </p:nvSpPr>
        <p:spPr>
          <a:xfrm>
            <a:off x="5780314" y="1654629"/>
            <a:ext cx="579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DR Process Flow: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059CD20-2BD1-2E66-C1FA-F2E3F44C8D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8694264"/>
              </p:ext>
            </p:extLst>
          </p:nvPr>
        </p:nvGraphicFramePr>
        <p:xfrm>
          <a:off x="5900056" y="1875320"/>
          <a:ext cx="5791200" cy="4743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519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4594-5EBA-0C07-6641-A9E82DB7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DBDE-F89E-D3C5-0BBB-C8E4B0E3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1048000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Always Remember - Multi-AZ is not Multi-Region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99CAC3-3BA2-0987-FB6B-87D09CDC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1120896"/>
            <a:ext cx="4939175" cy="444170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Multi-AZ is for achieving </a:t>
            </a:r>
            <a:r>
              <a:rPr lang="en-US" sz="2000" b="1" dirty="0"/>
              <a:t>High Availability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What:</a:t>
            </a:r>
            <a:r>
              <a:rPr lang="en-US" sz="1600" dirty="0"/>
              <a:t> Deploy across multiple data centers within same region</a:t>
            </a:r>
          </a:p>
          <a:p>
            <a:pPr marL="0" indent="0">
              <a:buNone/>
            </a:pPr>
            <a:r>
              <a:rPr lang="en-US" sz="1600" b="1" dirty="0"/>
              <a:t>Use case:</a:t>
            </a:r>
            <a:r>
              <a:rPr lang="en-US" sz="1600" dirty="0"/>
              <a:t> High availability, protect against data center failures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Characteristics:</a:t>
            </a:r>
            <a:endParaRPr lang="en-US" sz="1600" dirty="0"/>
          </a:p>
          <a:p>
            <a:r>
              <a:rPr lang="en-US" sz="1600" dirty="0"/>
              <a:t>Same region (e.g., all in us-east-1)</a:t>
            </a:r>
          </a:p>
          <a:p>
            <a:r>
              <a:rPr lang="en-US" sz="1600" dirty="0"/>
              <a:t>Low latency between AZs (&lt;2ms)</a:t>
            </a:r>
          </a:p>
          <a:p>
            <a:r>
              <a:rPr lang="en-US" sz="1600" dirty="0"/>
              <a:t>Synchronous replication possible</a:t>
            </a:r>
          </a:p>
          <a:p>
            <a:r>
              <a:rPr lang="en-US" sz="1600" dirty="0"/>
              <a:t>Helps in achieving high availability in case of zonal failures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C5D367A-7155-6BC1-FC43-9EBC8FB48C8C}"/>
              </a:ext>
            </a:extLst>
          </p:cNvPr>
          <p:cNvSpPr txBox="1">
            <a:spLocks/>
          </p:cNvSpPr>
          <p:nvPr/>
        </p:nvSpPr>
        <p:spPr>
          <a:xfrm>
            <a:off x="6338425" y="1120895"/>
            <a:ext cx="5407261" cy="44417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/>
              <a:t>Multi-Region is for achieving </a:t>
            </a:r>
            <a:r>
              <a:rPr lang="en-IN" sz="2000" b="1" dirty="0"/>
              <a:t>Disaster Recovery</a:t>
            </a: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What:</a:t>
            </a:r>
            <a:r>
              <a:rPr lang="en-IN" sz="1600" dirty="0"/>
              <a:t> Deploy across multiple geographic regions</a:t>
            </a:r>
          </a:p>
          <a:p>
            <a:pPr marL="0" indent="0">
              <a:buNone/>
            </a:pPr>
            <a:r>
              <a:rPr lang="en-IN" sz="1600" b="1" dirty="0"/>
              <a:t>Use case:</a:t>
            </a:r>
            <a:r>
              <a:rPr lang="en-IN" sz="1600" dirty="0"/>
              <a:t> Disaster recovery, compliance, performance (geo-proximity)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Characteristics:</a:t>
            </a:r>
            <a:endParaRPr lang="en-IN" sz="1600" dirty="0"/>
          </a:p>
          <a:p>
            <a:r>
              <a:rPr lang="en-IN" sz="1600" dirty="0"/>
              <a:t>Different regions (e.g., us-east-1 and eu-west-1)</a:t>
            </a:r>
          </a:p>
          <a:p>
            <a:r>
              <a:rPr lang="en-IN" sz="1600" dirty="0"/>
              <a:t>Higher latency between regions (50-200ms)</a:t>
            </a:r>
          </a:p>
          <a:p>
            <a:r>
              <a:rPr lang="en-IN" sz="1600" dirty="0"/>
              <a:t>True geographic isolation</a:t>
            </a:r>
          </a:p>
          <a:p>
            <a:r>
              <a:rPr lang="en-IN" sz="1600" dirty="0"/>
              <a:t>Helps in continuous serving of traffic in case of regional failures</a:t>
            </a:r>
          </a:p>
        </p:txBody>
      </p:sp>
    </p:spTree>
    <p:extLst>
      <p:ext uri="{BB962C8B-B14F-4D97-AF65-F5344CB8AC3E}">
        <p14:creationId xmlns:p14="http://schemas.microsoft.com/office/powerpoint/2010/main" val="364623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06A37-A06C-3A79-B713-34D1E06EF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611C5-F603-3FE5-94B4-FE816E735F90}"/>
              </a:ext>
            </a:extLst>
          </p:cNvPr>
          <p:cNvSpPr txBox="1"/>
          <p:nvPr/>
        </p:nvSpPr>
        <p:spPr>
          <a:xfrm>
            <a:off x="696685" y="274321"/>
            <a:ext cx="1077685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DR Strategies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56BE9A-D6C2-BEEB-4968-A2D7052CF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708085"/>
              </p:ext>
            </p:extLst>
          </p:nvPr>
        </p:nvGraphicFramePr>
        <p:xfrm>
          <a:off x="888239" y="1560306"/>
          <a:ext cx="9518504" cy="3686606"/>
        </p:xfrm>
        <a:graphic>
          <a:graphicData uri="http://schemas.openxmlformats.org/drawingml/2006/table">
            <a:tbl>
              <a:tblPr firstRow="1" firstCol="1">
                <a:tableStyleId>{B301B821-A1FF-4177-AEE7-76D212191A09}</a:tableStyleId>
              </a:tblPr>
              <a:tblGrid>
                <a:gridCol w="2470809">
                  <a:extLst>
                    <a:ext uri="{9D8B030D-6E8A-4147-A177-3AD203B41FA5}">
                      <a16:colId xmlns:a16="http://schemas.microsoft.com/office/drawing/2014/main" val="4126334496"/>
                    </a:ext>
                  </a:extLst>
                </a:gridCol>
                <a:gridCol w="1784791">
                  <a:extLst>
                    <a:ext uri="{9D8B030D-6E8A-4147-A177-3AD203B41FA5}">
                      <a16:colId xmlns:a16="http://schemas.microsoft.com/office/drawing/2014/main" val="2003233225"/>
                    </a:ext>
                  </a:extLst>
                </a:gridCol>
                <a:gridCol w="1959154">
                  <a:extLst>
                    <a:ext uri="{9D8B030D-6E8A-4147-A177-3AD203B41FA5}">
                      <a16:colId xmlns:a16="http://schemas.microsoft.com/office/drawing/2014/main" val="3690886680"/>
                    </a:ext>
                  </a:extLst>
                </a:gridCol>
                <a:gridCol w="1250269">
                  <a:extLst>
                    <a:ext uri="{9D8B030D-6E8A-4147-A177-3AD203B41FA5}">
                      <a16:colId xmlns:a16="http://schemas.microsoft.com/office/drawing/2014/main" val="3099217406"/>
                    </a:ext>
                  </a:extLst>
                </a:gridCol>
                <a:gridCol w="2053481">
                  <a:extLst>
                    <a:ext uri="{9D8B030D-6E8A-4147-A177-3AD203B41FA5}">
                      <a16:colId xmlns:a16="http://schemas.microsoft.com/office/drawing/2014/main" val="2073517596"/>
                    </a:ext>
                  </a:extLst>
                </a:gridCol>
              </a:tblGrid>
              <a:tr h="507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Strategy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</a:rPr>
                        <a:t>RTO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</a:rPr>
                        <a:t>RPO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bg1"/>
                          </a:solidFill>
                        </a:rPr>
                        <a:t>Cost</a:t>
                      </a:r>
                    </a:p>
                  </a:txBody>
                  <a:tcPr marL="82636" marR="82636" marT="57845" marB="578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bg1"/>
                          </a:solidFill>
                        </a:rPr>
                        <a:t>Availability</a:t>
                      </a:r>
                    </a:p>
                  </a:txBody>
                  <a:tcPr marL="82636" marR="82636" marT="57845" marB="57845" anchor="ctr"/>
                </a:tc>
                <a:extLst>
                  <a:ext uri="{0D108BD9-81ED-4DB2-BD59-A6C34878D82A}">
                    <a16:rowId xmlns:a16="http://schemas.microsoft.com/office/drawing/2014/main" val="2991092965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Backup &amp; Restore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~2-10+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Non-critical apps, dev/test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747167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Pilot Light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~15-45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5-15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Important business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025742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Warm Standby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5-10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$$$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Revenue-generating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329547"/>
                  </a:ext>
                </a:extLst>
              </a:tr>
              <a:tr h="794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Active-Active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Near-zero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Near-zero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$$$$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Mission-critical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54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90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82D7-482C-C5F3-D8A5-4003B8CA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702894-9FA8-6831-F98C-FBF177EA7391}"/>
              </a:ext>
            </a:extLst>
          </p:cNvPr>
          <p:cNvSpPr txBox="1"/>
          <p:nvPr/>
        </p:nvSpPr>
        <p:spPr>
          <a:xfrm>
            <a:off x="696685" y="274321"/>
            <a:ext cx="1077685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Selecting Your DR Strategy - </a:t>
            </a:r>
            <a:r>
              <a:rPr lang="en-US" sz="3600" b="1" dirty="0"/>
              <a:t>RPO &amp; RTO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798DC-2086-1B07-F400-01072A209D25}"/>
              </a:ext>
            </a:extLst>
          </p:cNvPr>
          <p:cNvSpPr txBox="1"/>
          <p:nvPr/>
        </p:nvSpPr>
        <p:spPr>
          <a:xfrm>
            <a:off x="881742" y="1208314"/>
            <a:ext cx="1059179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RPO (Recovery Point Objective):</a:t>
            </a:r>
            <a:r>
              <a:rPr lang="en-US" sz="1400" dirty="0"/>
              <a:t> Maximum acceptable data loss (time)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How much data can we afford to lose?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Measured in time (e.g., 1 hour)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Measures: </a:t>
            </a:r>
            <a:r>
              <a:rPr lang="en-IN" sz="1400" b="1" dirty="0"/>
              <a:t>Data loss tolerance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RTO (Recovery Time Objective):</a:t>
            </a:r>
            <a:r>
              <a:rPr lang="en-US" sz="1400" dirty="0"/>
              <a:t> Maximum acceptable downtime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How quickly must we recover?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dirty="0"/>
              <a:t>Measured in time (e.g., 4 hours)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Measures: </a:t>
            </a:r>
            <a:r>
              <a:rPr lang="en-IN" sz="1400" b="1" dirty="0"/>
              <a:t>Downtime tolerance</a:t>
            </a:r>
            <a:endParaRPr lang="en-US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6DD676-4D7A-E9F6-365A-2AA7F10DD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81539"/>
              </p:ext>
            </p:extLst>
          </p:nvPr>
        </p:nvGraphicFramePr>
        <p:xfrm>
          <a:off x="696685" y="4404066"/>
          <a:ext cx="10515600" cy="1524000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575193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20415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Ask These Questions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Impact on DR Strategy</a:t>
                      </a:r>
                      <a:endParaRPr lang="en-IN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355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Revenue loss per hour of downtime?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Higher loss -&gt; Lower RTO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653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Can you recreate lost data?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No -&gt; Lower RPO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435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Compliance requirements?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Strict -&gt; Lower RTO/RPO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415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Available budget?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Higher budget -&gt; Better RTO/RPO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218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054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4070-9486-3071-3C77-14362CE9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74488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Backup &amp; Restore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D10EC1-131A-FD8C-1E6D-9D228CAA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2" y="1112854"/>
            <a:ext cx="5116285" cy="5603631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Concept:</a:t>
            </a:r>
            <a:r>
              <a:rPr lang="en-US" sz="1200" dirty="0"/>
              <a:t> Regular backups to secondary region, restore infrastructure when disaster strikes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RPO:</a:t>
            </a:r>
            <a:r>
              <a:rPr lang="en-US" sz="1200" dirty="0"/>
              <a:t> 5 minutes to 24 hours (depending on restore method)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RTO:</a:t>
            </a:r>
            <a:r>
              <a:rPr lang="en-US" sz="1200" dirty="0"/>
              <a:t> 2-10 hours (time to restore infrastructure + data + reconfigure)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Cost:</a:t>
            </a:r>
            <a:r>
              <a:rPr lang="en-US" sz="1200" dirty="0"/>
              <a:t> Lowest (storage + data transfer only, no running infrastructure in DR region)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Example: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Primary Region (us-east-1):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RDS database with automated daily snapshot created and copied to DR Region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EC2 servers with automated daily AMI created and copied to DR Region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DR Region (us-west-2):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Cross-region snapshot and AMI copies exist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Retain last 7 days of snapshots and AMIs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No running infrastructure (cost savings)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On Disaster: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Detect and assess disaster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Restore RDS from latest snapshot in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Launch EC2 instances from pre-synced AMI in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Configure application to connect to restored database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Update Route 53 DNS to point to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Verify and test application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200" b="1" dirty="0"/>
              <a:t>Total RTO:</a:t>
            </a:r>
            <a:r>
              <a:rPr lang="en-US" sz="1200" dirty="0"/>
              <a:t> </a:t>
            </a:r>
            <a:r>
              <a:rPr lang="en-US" sz="1200" b="1" dirty="0"/>
              <a:t>~6 hours</a:t>
            </a:r>
          </a:p>
        </p:txBody>
      </p:sp>
      <p:pic>
        <p:nvPicPr>
          <p:cNvPr id="3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D22D5068-3ED8-B720-B8C2-AB53677E5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27" y="1827711"/>
            <a:ext cx="6341734" cy="320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0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FC18-0C31-11EE-6B21-E25EC884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E40B-3FB3-29BF-785D-C36891F6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Pilot Light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9CEB452-0B84-79EB-DE25-04EBABA67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967" y="1270618"/>
            <a:ext cx="5429033" cy="4977782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Concept:</a:t>
            </a:r>
            <a:r>
              <a:rPr lang="en-IN" sz="1200" dirty="0"/>
              <a:t> Minimal version running in DR region, scale up on disaster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RPO</a:t>
            </a:r>
            <a:r>
              <a:rPr lang="en-IN" sz="1200" b="1"/>
              <a:t>:</a:t>
            </a:r>
            <a:r>
              <a:rPr lang="en-IN" sz="1200"/>
              <a:t> 5-15 </a:t>
            </a:r>
            <a:r>
              <a:rPr lang="en-IN" sz="1200" dirty="0"/>
              <a:t>minutes (continuous database replication)</a:t>
            </a:r>
            <a:br>
              <a:rPr lang="en-IN" sz="1200" dirty="0"/>
            </a:br>
            <a:r>
              <a:rPr lang="en-IN" sz="1200" b="1" dirty="0"/>
              <a:t>RTO:</a:t>
            </a:r>
            <a:r>
              <a:rPr lang="en-IN" sz="1200" dirty="0"/>
              <a:t> 15-45 minutes (time to promote, launch, and route traffic)</a:t>
            </a:r>
            <a:br>
              <a:rPr lang="en-IN" sz="1200" dirty="0"/>
            </a:br>
            <a:r>
              <a:rPr lang="en-IN" sz="1200" b="1" dirty="0"/>
              <a:t>Cost:</a:t>
            </a:r>
            <a:r>
              <a:rPr lang="en-IN" sz="1200" dirty="0"/>
              <a:t> Medium (minimal infrastructure + replication costs)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IN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Example: 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Primary Region (us-east-1):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ALB -&gt; 10 Application servers (full production load)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RDS MySQL primary (production database)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DR Region (us-west-2):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RDS Read Replica (continuously syncing data)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AMIs stored and ready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Auto Scaling Group configured (target count = 0, no servers running)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ALB pre-configured (ready, no targets registered)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On Disaster: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Promote Read Replica to primary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Update Auto Scaling Group target count from 0 -&gt; 10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Application servers start and auto-register with ALB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Update Route 53 DNS to point to us-west-2 ALB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Verify application health via ALB health checks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IN" sz="12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Total RTO: ~30 minutes</a:t>
            </a:r>
            <a:endParaRPr lang="en-IN" sz="1200" dirty="0"/>
          </a:p>
        </p:txBody>
      </p:sp>
      <p:pic>
        <p:nvPicPr>
          <p:cNvPr id="12" name="Content Placeholder 4" descr="A screenshot of a computer">
            <a:extLst>
              <a:ext uri="{FF2B5EF4-FFF2-40B4-BE49-F238E27FC236}">
                <a16:creationId xmlns:a16="http://schemas.microsoft.com/office/drawing/2014/main" id="{91241771-7F46-964F-E3C6-AF3CD4F03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020" y="1956017"/>
            <a:ext cx="6102496" cy="320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3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CD41A-BD95-543E-94AE-A6CB21C1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81EA-C6E2-79F8-7F77-DE165E1F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Warm Standby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F2FD37F-0A1B-D952-5616-D47E346E2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510" y="1083383"/>
            <a:ext cx="5030269" cy="55656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Concept:</a:t>
            </a:r>
            <a:r>
              <a:rPr lang="en-IN" sz="1200" dirty="0"/>
              <a:t> Scaled-down but fully functional version running in DR region, scale up on disaster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RPO:</a:t>
            </a:r>
            <a:r>
              <a:rPr lang="en-IN" sz="1200" dirty="0"/>
              <a:t> &lt;1 minute (continuous replication with minimal lag)</a:t>
            </a:r>
            <a:br>
              <a:rPr lang="en-IN" sz="1200" dirty="0"/>
            </a:br>
            <a:r>
              <a:rPr lang="en-IN" sz="1200" b="1" dirty="0"/>
              <a:t>RTO:</a:t>
            </a:r>
            <a:r>
              <a:rPr lang="en-IN" sz="1200" dirty="0"/>
              <a:t> ~5 minutes (scale existing infrastructure to full capacity)</a:t>
            </a:r>
            <a:br>
              <a:rPr lang="en-IN" sz="1200" dirty="0"/>
            </a:br>
            <a:r>
              <a:rPr lang="en-IN" sz="1200" b="1" dirty="0"/>
              <a:t>Cost:</a:t>
            </a:r>
            <a:r>
              <a:rPr lang="en-IN" sz="1200" dirty="0"/>
              <a:t> Medium-High (~30% of production infrastructure always running)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IN" sz="12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Example: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Primary Region (us-east-1):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ALB  -&gt; 10 × m5.large EC2 instances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Aurora Global Database (primary/writer)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Handling 1000 </a:t>
            </a:r>
            <a:r>
              <a:rPr lang="en-IN" sz="1200" dirty="0" err="1"/>
              <a:t>req</a:t>
            </a:r>
            <a:r>
              <a:rPr lang="en-IN" sz="1200" dirty="0"/>
              <a:t>/sec (100% production traffic)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DR Region (us-west-2):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ALB -&gt; 2 × m5.large EC2 instances (20% capacity, running, warm)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Aurora Global Database (secondary region, live replication)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Processing health checks, pre-warmed and tested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On Disaster:</a:t>
            </a:r>
            <a:endParaRPr lang="en-IN" sz="1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Promote Aurora secondary region to primary (~1 min)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Route 53 failover to us-west-2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The application is running and gradually increase the capacity: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Auto Scaling increases capacity 2 -&gt; 10 instances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sz="1200" dirty="0"/>
              <a:t>New instances join pre-warmed cluster and register with ALB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IN" sz="1200" dirty="0"/>
              <a:t>Verify application at full capacity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IN" sz="12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200" b="1" dirty="0"/>
              <a:t>Total RTO: ~5-10 minutes</a:t>
            </a:r>
            <a:endParaRPr lang="en-IN" sz="1200" dirty="0"/>
          </a:p>
        </p:txBody>
      </p:sp>
      <p:pic>
        <p:nvPicPr>
          <p:cNvPr id="4" name="Content Placeholder 6" descr="A diagram of a diagram">
            <a:extLst>
              <a:ext uri="{FF2B5EF4-FFF2-40B4-BE49-F238E27FC236}">
                <a16:creationId xmlns:a16="http://schemas.microsoft.com/office/drawing/2014/main" id="{E3088BCD-36DF-5475-F890-3601FE28F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494" y="2029914"/>
            <a:ext cx="6453789" cy="337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2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B677-E77D-B9E1-C335-E53FBDD8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B6D6-7872-AD2C-4CF1-3453850EB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Multi-site active/active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4FA207-A562-9E6D-D88C-55051996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6" y="933161"/>
            <a:ext cx="5385490" cy="55093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Concept: </a:t>
            </a:r>
            <a:r>
              <a:rPr lang="en-US" sz="1100" dirty="0"/>
              <a:t>Full production capacity in multiple regions, both actively serving traffic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RPO:</a:t>
            </a:r>
            <a:r>
              <a:rPr lang="en-US" sz="1100" dirty="0"/>
              <a:t> &lt;1 second</a:t>
            </a:r>
            <a:br>
              <a:rPr lang="en-US" sz="1100" dirty="0"/>
            </a:br>
            <a:r>
              <a:rPr lang="en-US" sz="1100" b="1" dirty="0"/>
              <a:t>RTO:</a:t>
            </a:r>
            <a:r>
              <a:rPr lang="en-US" sz="1100" dirty="0"/>
              <a:t> &lt;1 minutes (automatic failover with Route 53 health check)</a:t>
            </a:r>
            <a:br>
              <a:rPr lang="en-US" sz="1100" dirty="0"/>
            </a:br>
            <a:r>
              <a:rPr lang="en-US" sz="1100" b="1" dirty="0"/>
              <a:t>Cost:</a:t>
            </a:r>
            <a:r>
              <a:rPr lang="en-US" sz="1100" dirty="0"/>
              <a:t> Highest (double infrastructure running at full capacity in both regions)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br>
              <a:rPr lang="en-US" sz="1100" dirty="0"/>
            </a:br>
            <a:r>
              <a:rPr lang="en-US" sz="1100" b="1" dirty="0"/>
              <a:t>Example: </a:t>
            </a:r>
            <a:r>
              <a:rPr lang="en-US" sz="1100" dirty="0"/>
              <a:t>Active-Active Architecture with DynamoDB Global Tables</a:t>
            </a:r>
            <a:endParaRPr lang="en-US" sz="11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Region 1 (us-east-1) - 50% traffic: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ALB -&gt; 10 × m5.large EC2 instances (actively serving)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DynamoDB Global Tables (accepts reads and writes locally)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Serving US users via Route 53 geolocation routing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Region 2 (eu-west-1) - 50% traffic: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ALB -&gt; 10 × m5.large EC2 instances (actively serving)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DynamoDB Global Tables (accepts reads and writes locally)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Serving EU users via Route 53 geolocation routing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How it works: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Both regions serve production traffic simultaneously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DynamoDB Global Tables replicate data across regions in &lt;1 second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Each region handles read-local/write-local pattern (writes accepted in both regions)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1100" dirty="0"/>
              <a:t>Route 53 uses geolocation routing to direct users to nearest region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On Disaster: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Route 53 health check detects primary region failure (~30 sec)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Route 53 automatically reroutes US traffic to secondary region (~seconds)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Secondary region begins handling 100% traffic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DynamoDB Global Tables continue replicating (unaffected)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dirty="0"/>
              <a:t>Verify application handling increased load (~30 sec)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100" b="1" dirty="0"/>
              <a:t>Total RTO: 1-2 minutes</a:t>
            </a:r>
          </a:p>
        </p:txBody>
      </p:sp>
      <p:pic>
        <p:nvPicPr>
          <p:cNvPr id="5" name="Content Placeholder 4" descr="A diagram of a computer">
            <a:extLst>
              <a:ext uri="{FF2B5EF4-FFF2-40B4-BE49-F238E27FC236}">
                <a16:creationId xmlns:a16="http://schemas.microsoft.com/office/drawing/2014/main" id="{2130CFE1-9825-3BE5-2F11-B461D6369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328" y="1820051"/>
            <a:ext cx="5912630" cy="319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26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4FE3-CB73-880B-BB06-E5042F40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0FC0-E7AF-61C0-3F55-8DDB8F10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AWS Backup Services – Overview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9800906-7288-E5F5-874D-F58CFB84A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752148" cy="56970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b="1" dirty="0"/>
              <a:t>1. Centralized Backup Management</a:t>
            </a:r>
          </a:p>
          <a:p>
            <a:r>
              <a:rPr lang="en-IN" sz="1400" dirty="0"/>
              <a:t>Unified backup across multiple services</a:t>
            </a:r>
          </a:p>
          <a:p>
            <a:r>
              <a:rPr lang="en-IN" sz="1400" b="1" dirty="0"/>
              <a:t>AWS Backup:</a:t>
            </a:r>
            <a:r>
              <a:rPr lang="en-IN" sz="1400" dirty="0"/>
              <a:t> Multi-service backup from one console</a:t>
            </a:r>
          </a:p>
          <a:p>
            <a:r>
              <a:rPr lang="en-IN" sz="1400" b="1" dirty="0"/>
              <a:t>DLM:</a:t>
            </a:r>
            <a:r>
              <a:rPr lang="en-IN" sz="1400" dirty="0"/>
              <a:t> Automated EBS snapshot lifecycle management and AMI Management</a:t>
            </a:r>
          </a:p>
          <a:p>
            <a:pPr marL="0" indent="0">
              <a:buNone/>
            </a:pPr>
            <a:r>
              <a:rPr lang="en-IN" sz="1400" b="1" dirty="0"/>
              <a:t>Pros:</a:t>
            </a:r>
            <a:r>
              <a:rPr lang="en-IN" sz="1400" dirty="0"/>
              <a:t> Centralized control, consistent policies, compliance reporting, </a:t>
            </a:r>
            <a:r>
              <a:rPr lang="en-IN" sz="1400" b="1" dirty="0"/>
              <a:t>Cons:</a:t>
            </a:r>
            <a:r>
              <a:rPr lang="en-IN" sz="1400" dirty="0"/>
              <a:t> Additional cost, requires planning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2. Automated Service Backups: </a:t>
            </a:r>
            <a:r>
              <a:rPr lang="en-IN" sz="1400" dirty="0"/>
              <a:t>Built-in backup features of individual AWS services</a:t>
            </a:r>
          </a:p>
          <a:p>
            <a:r>
              <a:rPr lang="en-IN" sz="1400" b="1" dirty="0"/>
              <a:t>RDS:</a:t>
            </a:r>
            <a:r>
              <a:rPr lang="en-IN" sz="1400" dirty="0"/>
              <a:t> Automated daily snapshots + transaction logs</a:t>
            </a:r>
          </a:p>
          <a:p>
            <a:r>
              <a:rPr lang="en-IN" sz="1400" b="1" dirty="0"/>
              <a:t>S3:</a:t>
            </a:r>
            <a:r>
              <a:rPr lang="en-IN" sz="1400" dirty="0"/>
              <a:t> Versioning and replication etc.</a:t>
            </a:r>
          </a:p>
          <a:p>
            <a:pPr marL="0" indent="0">
              <a:buNone/>
            </a:pPr>
            <a:r>
              <a:rPr lang="en-IN" sz="1400" b="1" dirty="0"/>
              <a:t>Pros:</a:t>
            </a:r>
            <a:r>
              <a:rPr lang="en-IN" sz="1400" dirty="0"/>
              <a:t> Easy, service-specific, often included in cost, </a:t>
            </a:r>
            <a:r>
              <a:rPr lang="en-IN" sz="1400" b="1" dirty="0"/>
              <a:t>Cons:</a:t>
            </a:r>
            <a:r>
              <a:rPr lang="en-IN" sz="1400" dirty="0"/>
              <a:t> Fragmented management, limited cross-service policies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3. Manual Backups</a:t>
            </a:r>
          </a:p>
          <a:p>
            <a:r>
              <a:rPr lang="en-IN" sz="1400" dirty="0"/>
              <a:t>On-demand and user-initiated backups</a:t>
            </a:r>
          </a:p>
          <a:p>
            <a:r>
              <a:rPr lang="en-IN" sz="1400" b="1" dirty="0"/>
              <a:t>Manual snapshots:</a:t>
            </a:r>
            <a:r>
              <a:rPr lang="en-IN" sz="1400" dirty="0"/>
              <a:t> EBS, RDS, AMIs</a:t>
            </a:r>
          </a:p>
          <a:p>
            <a:pPr marL="0" indent="0">
              <a:buNone/>
            </a:pPr>
            <a:r>
              <a:rPr lang="en-IN" sz="1400" b="1" dirty="0"/>
              <a:t>Pros:</a:t>
            </a:r>
            <a:r>
              <a:rPr lang="en-IN" sz="1400" dirty="0"/>
              <a:t> Full control, flexibility, specific use cases, </a:t>
            </a:r>
            <a:r>
              <a:rPr lang="en-IN" sz="1400" b="1" dirty="0"/>
              <a:t>Cons:</a:t>
            </a:r>
            <a:r>
              <a:rPr lang="en-IN" sz="1400" dirty="0"/>
              <a:t> Manual effort, human error risk</a:t>
            </a:r>
          </a:p>
        </p:txBody>
      </p:sp>
    </p:spTree>
    <p:extLst>
      <p:ext uri="{BB962C8B-B14F-4D97-AF65-F5344CB8AC3E}">
        <p14:creationId xmlns:p14="http://schemas.microsoft.com/office/powerpoint/2010/main" val="3378558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99B4-05F7-E5EC-8903-AB6768DBD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3C8F-F57A-19A6-306C-4582CF31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1.) AWS Backup Service (Centralized)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FE9132-24AB-3144-AF78-C5A90FB6F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164319" cy="497778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Unified backup service across multiple AWS services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Supports: </a:t>
            </a:r>
            <a:r>
              <a:rPr lang="en-US" sz="1400" dirty="0"/>
              <a:t>EC2 instances, EBS volumes, RDS databases, EFS, S3 bucket, DynamoDB tables etc.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Configuration Methods: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Backup Plans:</a:t>
            </a:r>
            <a:r>
              <a:rPr lang="en-US" sz="1400" dirty="0"/>
              <a:t> Define schedule, retention, lifecycle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Tag-based: </a:t>
            </a:r>
            <a:r>
              <a:rPr lang="en-US" sz="1400" dirty="0"/>
              <a:t>Automatically backup resources with specific tags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Cross-region copy:</a:t>
            </a:r>
            <a:r>
              <a:rPr lang="en-US" sz="1400" dirty="0"/>
              <a:t> Replicate backups to other regions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Cross-account copy:</a:t>
            </a:r>
            <a:r>
              <a:rPr lang="en-US" sz="1400" dirty="0"/>
              <a:t> Copy backups to different AWS accounts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Example: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Backup Plan: “Backup entire Production landscape Daily”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Schedule: Daily at 2 AM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Retention: 7 daily, 4 weekly, 12 monthly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Lifecycle: Move to cold storage after 30 days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Tags: Env=Prod (will backup all the EC2, RDS, EFS, EBS, DynamoDB, S3 with tag Env-Prod daily)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/>
              <a:t>Copy to: us-west-2 (DR region)</a:t>
            </a:r>
          </a:p>
        </p:txBody>
      </p:sp>
    </p:spTree>
    <p:extLst>
      <p:ext uri="{BB962C8B-B14F-4D97-AF65-F5344CB8AC3E}">
        <p14:creationId xmlns:p14="http://schemas.microsoft.com/office/powerpoint/2010/main" val="3226729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5451D-147D-9CFB-B685-3775DA57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9021-9C5E-4306-97AE-64847762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5" y="227767"/>
            <a:ext cx="10120775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2.) DLM - Data Lifecycle Manager (Centralized)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1CB355-D4A5-E8F0-7C7B-064097239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1220234" cy="30401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EC2 AMI and EBS Snapshot management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b="1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Supports:</a:t>
            </a:r>
            <a:r>
              <a:rPr lang="en-US" sz="1400" dirty="0"/>
              <a:t> EC2 instances (snapshots all attached volumes), EBS Volumes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Configuration: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Target: </a:t>
            </a:r>
            <a:r>
              <a:rPr lang="en-US" sz="1400" dirty="0"/>
              <a:t>Tag-based resource selection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Schedule:</a:t>
            </a:r>
            <a:r>
              <a:rPr lang="en-US" sz="1400" dirty="0"/>
              <a:t> Hourly, daily, weekly, monthly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Retention:</a:t>
            </a:r>
            <a:r>
              <a:rPr lang="en-US" sz="1400" dirty="0"/>
              <a:t> Count-based (keep X snapshots) or age-based (keep Y days)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Cross-region copy:</a:t>
            </a:r>
            <a:r>
              <a:rPr lang="en-US" sz="1400" dirty="0"/>
              <a:t> Yes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b="1" dirty="0"/>
              <a:t>Fast snapshot restore:</a:t>
            </a:r>
            <a:r>
              <a:rPr lang="en-US" sz="1400" dirty="0"/>
              <a:t> Pre-warm snapshots for faster recovery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F2913-A2EF-B522-08DC-600A47F7FB3D}"/>
              </a:ext>
            </a:extLst>
          </p:cNvPr>
          <p:cNvSpPr txBox="1"/>
          <p:nvPr/>
        </p:nvSpPr>
        <p:spPr>
          <a:xfrm>
            <a:off x="6407712" y="4506167"/>
            <a:ext cx="4419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2.) AMI Creation</a:t>
            </a:r>
          </a:p>
          <a:p>
            <a:r>
              <a:rPr lang="en-US" sz="1400" b="1" dirty="0"/>
              <a:t>DLM Policy:</a:t>
            </a:r>
            <a:r>
              <a:rPr lang="en-US" sz="1400" dirty="0"/>
              <a:t> “Golden AMI”</a:t>
            </a:r>
          </a:p>
          <a:p>
            <a:r>
              <a:rPr lang="en-US" sz="1400" b="1" dirty="0"/>
              <a:t>Target:</a:t>
            </a:r>
            <a:r>
              <a:rPr lang="en-US" sz="1400" dirty="0"/>
              <a:t> Instance tagged "AMI-Source=True“</a:t>
            </a:r>
          </a:p>
          <a:p>
            <a:r>
              <a:rPr lang="en-US" sz="1400" b="1" dirty="0"/>
              <a:t>Schedule:</a:t>
            </a:r>
            <a:r>
              <a:rPr lang="en-US" sz="1400" dirty="0"/>
              <a:t> Weekly on Sunday</a:t>
            </a:r>
          </a:p>
          <a:p>
            <a:r>
              <a:rPr lang="en-US" sz="1400" b="1" dirty="0"/>
              <a:t>Retention:</a:t>
            </a:r>
            <a:r>
              <a:rPr lang="en-US" sz="1400" dirty="0"/>
              <a:t> Keep 4 AMIs (1 month)</a:t>
            </a:r>
          </a:p>
          <a:p>
            <a:r>
              <a:rPr lang="en-US" sz="1400" b="1" dirty="0"/>
              <a:t>Action:</a:t>
            </a:r>
            <a:r>
              <a:rPr lang="en-US" sz="1400" dirty="0"/>
              <a:t> Create AMI + reboot instance</a:t>
            </a: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05D35-6810-39AD-8669-9C896B5AD474}"/>
              </a:ext>
            </a:extLst>
          </p:cNvPr>
          <p:cNvSpPr txBox="1"/>
          <p:nvPr/>
        </p:nvSpPr>
        <p:spPr>
          <a:xfrm>
            <a:off x="797594" y="3973286"/>
            <a:ext cx="4775891" cy="2300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400" dirty="0"/>
              <a:t>Examples:</a:t>
            </a:r>
          </a:p>
          <a:p>
            <a:pPr>
              <a:spcBef>
                <a:spcPts val="300"/>
              </a:spcBef>
            </a:pPr>
            <a:endParaRPr lang="en-US" sz="1400" dirty="0"/>
          </a:p>
          <a:p>
            <a:pPr>
              <a:spcBef>
                <a:spcPts val="300"/>
              </a:spcBef>
            </a:pPr>
            <a:r>
              <a:rPr lang="en-US" sz="1400" b="1" dirty="0"/>
              <a:t>1.) Volume Snapshots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DLM Policy:</a:t>
            </a:r>
            <a:r>
              <a:rPr lang="en-US" sz="1400" dirty="0"/>
              <a:t> "Volume Backup“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Target:</a:t>
            </a:r>
            <a:r>
              <a:rPr lang="en-US" sz="1400" dirty="0"/>
              <a:t> Volumes tagged “Backup=True”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Schedule:</a:t>
            </a:r>
            <a:r>
              <a:rPr lang="en-US" sz="1400" dirty="0"/>
              <a:t> Every 12 hours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Retention:</a:t>
            </a:r>
            <a:r>
              <a:rPr lang="en-US" sz="1400" dirty="0"/>
              <a:t> Keep 14 snapshots (7 days worth)</a:t>
            </a:r>
          </a:p>
          <a:p>
            <a:pPr>
              <a:spcBef>
                <a:spcPts val="300"/>
              </a:spcBef>
            </a:pPr>
            <a:r>
              <a:rPr lang="en-US" sz="1400" b="1" dirty="0"/>
              <a:t>Cross-region:</a:t>
            </a:r>
            <a:r>
              <a:rPr lang="en-US" sz="1400" dirty="0"/>
              <a:t> Copy to us-west-2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5249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D151-5788-5013-25D6-1981D21C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BA00-067F-3D4F-A73D-8F2FFB15A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9326118" cy="705394"/>
          </a:xfrm>
        </p:spPr>
        <p:txBody>
          <a:bodyPr anchor="ctr">
            <a:normAutofit/>
          </a:bodyPr>
          <a:lstStyle/>
          <a:p>
            <a:r>
              <a:rPr lang="en-IN" sz="3600" b="1" dirty="0"/>
              <a:t>3.) RDS Automated Backups (Service Level)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ABA1C10-7C61-A242-5675-205CE3C2E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0"/>
            <a:ext cx="9130175" cy="562003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dirty="0"/>
              <a:t>Built-in RDS backup feature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Supports: </a:t>
            </a:r>
            <a:r>
              <a:rPr lang="en-IN" sz="1400" dirty="0"/>
              <a:t>RDS (all engines: MySQL, PostgreSQL, MariaDB, Oracle, SQL Server), Aurora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Features:</a:t>
            </a:r>
            <a:endParaRPr lang="en-IN" sz="1400" dirty="0"/>
          </a:p>
          <a:p>
            <a:r>
              <a:rPr lang="en-IN" sz="1400" b="1" dirty="0"/>
              <a:t>Daily snapshots:</a:t>
            </a:r>
            <a:r>
              <a:rPr lang="en-IN" sz="1400" dirty="0"/>
              <a:t> Full backup at specified time</a:t>
            </a:r>
          </a:p>
          <a:p>
            <a:r>
              <a:rPr lang="en-IN" sz="1400" b="1" dirty="0"/>
              <a:t>Transaction logs:</a:t>
            </a:r>
            <a:r>
              <a:rPr lang="en-IN" sz="1400" dirty="0"/>
              <a:t> Continuous backup (every 5 minutes)</a:t>
            </a:r>
          </a:p>
          <a:p>
            <a:r>
              <a:rPr lang="en-IN" sz="1400" b="1" dirty="0"/>
              <a:t>Point-in-time recovery (PITR):</a:t>
            </a:r>
            <a:r>
              <a:rPr lang="en-IN" sz="1400" dirty="0"/>
              <a:t> Restore to any second within retention window</a:t>
            </a:r>
          </a:p>
          <a:p>
            <a:r>
              <a:rPr lang="en-IN" sz="1400" b="1" dirty="0"/>
              <a:t>Retention:</a:t>
            </a:r>
            <a:r>
              <a:rPr lang="en-IN" sz="1400" dirty="0"/>
              <a:t> 0-35 days (7 days default)</a:t>
            </a:r>
          </a:p>
          <a:p>
            <a:r>
              <a:rPr lang="en-IN" sz="1400" b="1" dirty="0"/>
              <a:t>Cross-region copy:</a:t>
            </a:r>
            <a:r>
              <a:rPr lang="en-IN" sz="1400" dirty="0"/>
              <a:t> Manual or automated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Configuration:</a:t>
            </a:r>
          </a:p>
          <a:p>
            <a:pPr marL="0" indent="0">
              <a:buNone/>
            </a:pPr>
            <a:r>
              <a:rPr lang="en-US" sz="1400" dirty="0"/>
              <a:t>RDS Instance Settings:</a:t>
            </a:r>
          </a:p>
          <a:p>
            <a:pPr marL="0" indent="0">
              <a:buNone/>
            </a:pPr>
            <a:r>
              <a:rPr lang="en-US" sz="1400" dirty="0"/>
              <a:t>Backup retention period: 7 days</a:t>
            </a:r>
          </a:p>
          <a:p>
            <a:pPr marL="0" indent="0">
              <a:buNone/>
            </a:pPr>
            <a:r>
              <a:rPr lang="en-US" sz="1400" dirty="0"/>
              <a:t>Backup window: 02:00-04:00 UTC (preferred time)</a:t>
            </a:r>
          </a:p>
          <a:p>
            <a:pPr marL="0" indent="0">
              <a:buNone/>
            </a:pPr>
            <a:r>
              <a:rPr lang="en-US" sz="1400" dirty="0"/>
              <a:t>Copy tags to snapshots: Yes</a:t>
            </a:r>
          </a:p>
          <a:p>
            <a:pPr marL="0" indent="0">
              <a:buNone/>
            </a:pPr>
            <a:r>
              <a:rPr lang="en-US" sz="1400" dirty="0"/>
              <a:t>Enable deletion protection: Yes (prevents accidental deletion)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812363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33E6A-B004-168E-42CC-36A51B89D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AC1B-E6D8-8155-C087-FD4706282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4.) S3 Versioning (Service Level)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133239-6C55-3D9A-4458-9B2D61596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218748" cy="53043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Keep multiple versions of objects stored in S3 to track changes and revert to older changes when required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Configuration:</a:t>
            </a:r>
          </a:p>
          <a:p>
            <a:pPr marL="0" indent="0">
              <a:buNone/>
            </a:pPr>
            <a:r>
              <a:rPr lang="en-US" sz="1400" dirty="0"/>
              <a:t>S3 Bucket Settings:</a:t>
            </a:r>
          </a:p>
          <a:p>
            <a:r>
              <a:rPr lang="en-US" sz="1400" dirty="0"/>
              <a:t>Versioning: Enabled</a:t>
            </a:r>
          </a:p>
          <a:p>
            <a:r>
              <a:rPr lang="en-US" sz="1400" dirty="0"/>
              <a:t>MFA Delete: Optional (require MFA to delete versions)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Result:</a:t>
            </a:r>
          </a:p>
          <a:p>
            <a:r>
              <a:rPr lang="en-US" sz="1400" dirty="0"/>
              <a:t>Every PUT creates new version</a:t>
            </a:r>
          </a:p>
          <a:p>
            <a:r>
              <a:rPr lang="en-US" sz="1400" dirty="0"/>
              <a:t>DELETE adds delete marker (versions preserved)</a:t>
            </a:r>
          </a:p>
          <a:p>
            <a:r>
              <a:rPr lang="en-US" sz="1400" dirty="0"/>
              <a:t>Can restore any previous version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IN" sz="1400" b="1" dirty="0"/>
              <a:t>Lifecycle Policy (should be applied to save cost):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S3 Lifecycle Rule:</a:t>
            </a:r>
          </a:p>
          <a:p>
            <a:r>
              <a:rPr lang="en-US" sz="1400" dirty="0"/>
              <a:t>Non-current versions after 30 days: S3 Glacier</a:t>
            </a:r>
          </a:p>
          <a:p>
            <a:r>
              <a:rPr lang="en-US" sz="1400" dirty="0"/>
              <a:t>Non-current versions after 90 days: Delete</a:t>
            </a:r>
          </a:p>
        </p:txBody>
      </p:sp>
    </p:spTree>
    <p:extLst>
      <p:ext uri="{BB962C8B-B14F-4D97-AF65-F5344CB8AC3E}">
        <p14:creationId xmlns:p14="http://schemas.microsoft.com/office/powerpoint/2010/main" val="1396823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8C0D-B64B-72B8-066F-F0A233A8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A1EA-FF82-A601-E87C-1125F32B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5" y="227767"/>
            <a:ext cx="9522061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5.) S3 Replication (Service Level)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D584F5-6376-0180-44B3-44CF067B0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596809" cy="56970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Automatic replication of objects to bucket in same region or different region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Types: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CRR (Cross-Region Replication):</a:t>
            </a:r>
            <a:r>
              <a:rPr lang="en-US" sz="1400" dirty="0"/>
              <a:t> us-east-1 -&gt; us-west-2</a:t>
            </a:r>
          </a:p>
          <a:p>
            <a:pPr marL="0" indent="0">
              <a:buNone/>
            </a:pPr>
            <a:r>
              <a:rPr lang="en-US" sz="1400" b="1" dirty="0"/>
              <a:t>SRR (Same-Region Replication):</a:t>
            </a:r>
            <a:r>
              <a:rPr lang="en-US" sz="1400" dirty="0"/>
              <a:t> Different bucket in same region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Configuration:</a:t>
            </a:r>
          </a:p>
          <a:p>
            <a:pPr marL="0" indent="0">
              <a:buNone/>
            </a:pPr>
            <a:r>
              <a:rPr lang="en-US" sz="1400" b="1" dirty="0"/>
              <a:t>Replication Rule:</a:t>
            </a:r>
          </a:p>
          <a:p>
            <a:r>
              <a:rPr lang="en-US" sz="1400" dirty="0"/>
              <a:t>Source: s3://prod-data-us-east-1</a:t>
            </a:r>
          </a:p>
          <a:p>
            <a:r>
              <a:rPr lang="en-US" sz="1400" dirty="0"/>
              <a:t>Destination: s3://prod-data-backup-us-west-2</a:t>
            </a:r>
          </a:p>
          <a:p>
            <a:r>
              <a:rPr lang="en-US" sz="1400" dirty="0"/>
              <a:t>Replicate: All objects (or prefix/tag filtered)</a:t>
            </a:r>
          </a:p>
          <a:p>
            <a:r>
              <a:rPr lang="en-US" sz="1400" dirty="0"/>
              <a:t>Storage class: S3 Glacier (for cost savings)</a:t>
            </a:r>
          </a:p>
          <a:p>
            <a:r>
              <a:rPr lang="en-US" sz="1400" dirty="0"/>
              <a:t>Replication time: Real-time (seconds to minutes)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Use Case:</a:t>
            </a:r>
            <a:endParaRPr lang="en-US" sz="1400" dirty="0"/>
          </a:p>
          <a:p>
            <a:r>
              <a:rPr lang="en-US" sz="1400" dirty="0"/>
              <a:t>Disaster recovery (cross-region backup)</a:t>
            </a:r>
          </a:p>
          <a:p>
            <a:r>
              <a:rPr lang="en-US" sz="1400" dirty="0"/>
              <a:t>Compliance (data redundancy)</a:t>
            </a:r>
          </a:p>
        </p:txBody>
      </p:sp>
    </p:spTree>
    <p:extLst>
      <p:ext uri="{BB962C8B-B14F-4D97-AF65-F5344CB8AC3E}">
        <p14:creationId xmlns:p14="http://schemas.microsoft.com/office/powerpoint/2010/main" val="3114427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E573-D9CF-06FC-E4D5-68D25DA8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918C-A824-5529-5015-21513A34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6.) RDS Manual Snapshots (Manual)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7169FF4-81FF-5AC8-59B6-C753FD74C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9130175" cy="54785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User-initiated snapshots (on-demand)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Differences from Automated:</a:t>
            </a:r>
            <a:endParaRPr lang="en-US" sz="1400" dirty="0"/>
          </a:p>
          <a:p>
            <a:r>
              <a:rPr lang="en-US" sz="1400" dirty="0"/>
              <a:t>Manual trigger (not scheduled)</a:t>
            </a:r>
          </a:p>
          <a:p>
            <a:r>
              <a:rPr lang="en-US" sz="1400" dirty="0"/>
              <a:t>Never expire (retained indefinitely until manually deleted)</a:t>
            </a:r>
          </a:p>
          <a:p>
            <a:r>
              <a:rPr lang="en-US" sz="1400" dirty="0"/>
              <a:t>Survive DB instance deletion</a:t>
            </a:r>
          </a:p>
          <a:p>
            <a:r>
              <a:rPr lang="en-US" sz="1400" dirty="0"/>
              <a:t>Can share across accounts</a:t>
            </a:r>
          </a:p>
          <a:p>
            <a:r>
              <a:rPr lang="en-US" sz="1400" dirty="0"/>
              <a:t>Can copy to other regions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Use Cases: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Before major changes (schema updates, version upgrades)</a:t>
            </a:r>
          </a:p>
          <a:p>
            <a:pPr marL="0" indent="0">
              <a:buNone/>
            </a:pPr>
            <a:r>
              <a:rPr lang="en-US" sz="1400" dirty="0"/>
              <a:t>Long-term archival (beyond 35-day automated retention)</a:t>
            </a:r>
          </a:p>
          <a:p>
            <a:pPr marL="0" indent="0">
              <a:buNone/>
            </a:pPr>
            <a:r>
              <a:rPr lang="en-US" sz="1400" dirty="0"/>
              <a:t>Compliance requirements (keep snapshot for years)</a:t>
            </a:r>
          </a:p>
        </p:txBody>
      </p:sp>
    </p:spTree>
    <p:extLst>
      <p:ext uri="{BB962C8B-B14F-4D97-AF65-F5344CB8AC3E}">
        <p14:creationId xmlns:p14="http://schemas.microsoft.com/office/powerpoint/2010/main" val="377495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C23F-B1E4-D068-4A1F-914270FD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2A5F-CD21-DF66-D831-2D0E9D73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7446264" cy="705394"/>
          </a:xfrm>
        </p:spPr>
        <p:txBody>
          <a:bodyPr anchor="ctr">
            <a:normAutofit/>
          </a:bodyPr>
          <a:lstStyle/>
          <a:p>
            <a:r>
              <a:rPr lang="en-IN" sz="3600" b="1" dirty="0"/>
              <a:t>7.) EBS Snapshots (Manual)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1961C2-4471-3476-65BB-6C30D9731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9130175" cy="49995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dirty="0"/>
              <a:t>On-demand EBS volume snapshots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Methods:</a:t>
            </a: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Console:</a:t>
            </a:r>
            <a:r>
              <a:rPr lang="en-IN" sz="1400" dirty="0"/>
              <a:t> EC2 -&gt; Volumes -&gt; Create Snapshot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Features:</a:t>
            </a:r>
            <a:endParaRPr lang="en-IN" sz="1400" dirty="0"/>
          </a:p>
          <a:p>
            <a:r>
              <a:rPr lang="en-IN" sz="1400" dirty="0"/>
              <a:t>Incremental (only changed blocks stored)</a:t>
            </a:r>
          </a:p>
          <a:p>
            <a:r>
              <a:rPr lang="en-IN" sz="1400" dirty="0"/>
              <a:t>Stored in S3 (managed by AWS)</a:t>
            </a:r>
          </a:p>
          <a:p>
            <a:r>
              <a:rPr lang="en-IN" sz="1400" dirty="0"/>
              <a:t>Can copy to other regions</a:t>
            </a:r>
          </a:p>
          <a:p>
            <a:r>
              <a:rPr lang="en-IN" sz="1400" dirty="0"/>
              <a:t>Can share with other accounts</a:t>
            </a:r>
          </a:p>
          <a:p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Use Case:</a:t>
            </a:r>
          </a:p>
          <a:p>
            <a:r>
              <a:rPr lang="en-US" sz="1400" dirty="0"/>
              <a:t>Only need data backup (single volume)</a:t>
            </a:r>
          </a:p>
          <a:p>
            <a:r>
              <a:rPr lang="en-US" sz="1400" dirty="0"/>
              <a:t>Backup data volumes (not root)</a:t>
            </a:r>
          </a:p>
          <a:p>
            <a:r>
              <a:rPr lang="en-US" sz="1400" dirty="0"/>
              <a:t>Granular restore (specific volume only)</a:t>
            </a:r>
          </a:p>
          <a:p>
            <a:r>
              <a:rPr lang="en-US" sz="1400" dirty="0"/>
              <a:t>Don't need instance configuration</a:t>
            </a: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35009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5F871-D69D-7CE8-E0C7-9B4B608C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42FD-711E-58F0-A07A-41D1233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5" y="227767"/>
            <a:ext cx="10991633" cy="705394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8.) EC2 AMI - Amazon Machine Image (Manual)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987CC1-5833-5DB9-FCDD-D266EAD27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933161"/>
            <a:ext cx="10596809" cy="56091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On-demand full instance image (snapshot of entire EC2 instance)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Methods: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Console:</a:t>
            </a:r>
            <a:r>
              <a:rPr lang="en-US" sz="1400" dirty="0"/>
              <a:t> EC2 -&gt; Instances -&gt;  Select instance -&gt; Actions -&gt; Image and templates -&gt; Create image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Features:</a:t>
            </a:r>
            <a:endParaRPr lang="en-US" sz="1400" dirty="0"/>
          </a:p>
          <a:p>
            <a:r>
              <a:rPr lang="en-US" sz="1400" b="1" dirty="0"/>
              <a:t>Incremental storage:</a:t>
            </a:r>
            <a:r>
              <a:rPr lang="en-US" sz="1400" dirty="0"/>
              <a:t> Only changed blocks stored (like EBS snapshots)</a:t>
            </a:r>
          </a:p>
          <a:p>
            <a:r>
              <a:rPr lang="en-US" sz="1400" b="1" dirty="0"/>
              <a:t>Stored in S3:</a:t>
            </a:r>
            <a:r>
              <a:rPr lang="en-US" sz="1400" dirty="0"/>
              <a:t> Managed by AWS (invisible to you)</a:t>
            </a:r>
          </a:p>
          <a:p>
            <a:r>
              <a:rPr lang="en-US" sz="1400" b="1" dirty="0"/>
              <a:t>Cross-region copy:</a:t>
            </a:r>
            <a:r>
              <a:rPr lang="en-US" sz="1400" dirty="0"/>
              <a:t> Can copy AMI to other regions for DR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Use Cases:</a:t>
            </a:r>
            <a:endParaRPr lang="en-US" sz="1400" dirty="0"/>
          </a:p>
          <a:p>
            <a:r>
              <a:rPr lang="en-US" sz="1400" b="1" dirty="0"/>
              <a:t>Golden images:</a:t>
            </a:r>
            <a:r>
              <a:rPr lang="en-US" sz="1400" dirty="0"/>
              <a:t> Pre-configured application servers</a:t>
            </a:r>
          </a:p>
          <a:p>
            <a:r>
              <a:rPr lang="en-US" sz="1400" b="1" dirty="0"/>
              <a:t>Disaster recovery:</a:t>
            </a:r>
            <a:r>
              <a:rPr lang="en-US" sz="1400" dirty="0"/>
              <a:t> Launch replacement instances quickly</a:t>
            </a:r>
          </a:p>
          <a:p>
            <a:r>
              <a:rPr lang="en-US" sz="1400" b="1" dirty="0"/>
              <a:t>Scaling:</a:t>
            </a:r>
            <a:r>
              <a:rPr lang="en-US" sz="1400" dirty="0"/>
              <a:t> Auto Scaling Groups use AMIs to launch instances</a:t>
            </a:r>
          </a:p>
          <a:p>
            <a:r>
              <a:rPr lang="en-US" sz="1400" b="1" dirty="0"/>
              <a:t>Environment cloning:</a:t>
            </a:r>
            <a:r>
              <a:rPr lang="en-US" sz="1400" dirty="0"/>
              <a:t> Copy prod to staging</a:t>
            </a:r>
          </a:p>
          <a:p>
            <a:r>
              <a:rPr lang="en-US" sz="1400" b="1" dirty="0"/>
              <a:t>Version control:</a:t>
            </a:r>
            <a:r>
              <a:rPr lang="en-US" sz="1400" dirty="0"/>
              <a:t> Snapshot application state at specific points</a:t>
            </a:r>
          </a:p>
        </p:txBody>
      </p:sp>
    </p:spTree>
    <p:extLst>
      <p:ext uri="{BB962C8B-B14F-4D97-AF65-F5344CB8AC3E}">
        <p14:creationId xmlns:p14="http://schemas.microsoft.com/office/powerpoint/2010/main" val="3786738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2247</Words>
  <Application>Microsoft Office PowerPoint</Application>
  <PresentationFormat>Widescreen</PresentationFormat>
  <Paragraphs>351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Wingdings</vt:lpstr>
      <vt:lpstr>Office Theme</vt:lpstr>
      <vt:lpstr>Disaster Recovery &amp; Backups</vt:lpstr>
      <vt:lpstr>PowerPoint Presentation</vt:lpstr>
      <vt:lpstr>Always Remember - Multi-AZ is not Multi-Region</vt:lpstr>
      <vt:lpstr>PowerPoint Presentation</vt:lpstr>
      <vt:lpstr>PowerPoint Presentation</vt:lpstr>
      <vt:lpstr>Backup &amp; Restore</vt:lpstr>
      <vt:lpstr>Pilot Light</vt:lpstr>
      <vt:lpstr>Warm Standby</vt:lpstr>
      <vt:lpstr>Multi-site active/active</vt:lpstr>
      <vt:lpstr>AWS Backup Services – Overview</vt:lpstr>
      <vt:lpstr>1.) AWS Backup Service (Centralized)</vt:lpstr>
      <vt:lpstr>2.) DLM - Data Lifecycle Manager (Centralized)</vt:lpstr>
      <vt:lpstr>3.) RDS Automated Backups (Service Level)</vt:lpstr>
      <vt:lpstr>4.) S3 Versioning (Service Level)</vt:lpstr>
      <vt:lpstr>5.) S3 Replication (Service Level)</vt:lpstr>
      <vt:lpstr>6.) RDS Manual Snapshots (Manual)</vt:lpstr>
      <vt:lpstr>7.) EBS Snapshots (Manual)</vt:lpstr>
      <vt:lpstr>8.) EC2 AMI - Amazon Machine Image (Manual)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153</cp:revision>
  <dcterms:created xsi:type="dcterms:W3CDTF">2025-11-27T20:35:07Z</dcterms:created>
  <dcterms:modified xsi:type="dcterms:W3CDTF">2026-02-08T14:28:43Z</dcterms:modified>
</cp:coreProperties>
</file>